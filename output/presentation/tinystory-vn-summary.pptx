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eac38991594978" /><Relationship Type="http://schemas.openxmlformats.org/officeDocument/2006/relationships/extended-properties" Target="/docProps/app.xml" Id="Rf20a5cd28aa345d6" /><Relationship Type="http://schemas.openxmlformats.org/officeDocument/2006/relationships/officeDocument" Target="/ppt/presentation.xml" Id="R6c4476882572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50518c8554727"/>
  </p:sldMasterIdLst>
  <p:notesMasterIdLst>
    <p:notesMasterId xmlns:r="http://schemas.openxmlformats.org/officeDocument/2006/relationships" r:id="Raf743053f92c42b8"/>
  </p:notesMasterIdLst>
  <p:sldIdLst>
    <p:sldId xmlns:r="http://schemas.openxmlformats.org/officeDocument/2006/relationships" id="256" r:id="Rd5d1a0b8f8e140e5"/>
    <p:sldId xmlns:r="http://schemas.openxmlformats.org/officeDocument/2006/relationships" id="257" r:id="R67ca315a89744f63"/>
    <p:sldId xmlns:r="http://schemas.openxmlformats.org/officeDocument/2006/relationships" id="258" r:id="R7a3c2bb301114270"/>
    <p:sldId xmlns:r="http://schemas.openxmlformats.org/officeDocument/2006/relationships" id="259" r:id="R615abbee08144148"/>
    <p:sldId xmlns:r="http://schemas.openxmlformats.org/officeDocument/2006/relationships" id="260" r:id="Rda31256afe73454d"/>
    <p:sldId xmlns:r="http://schemas.openxmlformats.org/officeDocument/2006/relationships" id="261" r:id="R2a74865c610140a5"/>
    <p:sldId xmlns:r="http://schemas.openxmlformats.org/officeDocument/2006/relationships" id="262" r:id="R8f3673be3c584c83"/>
    <p:sldId xmlns:r="http://schemas.openxmlformats.org/officeDocument/2006/relationships" id="263" r:id="R1e1d3919064b4ee8"/>
    <p:sldId xmlns:r="http://schemas.openxmlformats.org/officeDocument/2006/relationships" id="264" r:id="R83d44641db1046b7"/>
    <p:sldId xmlns:r="http://schemas.openxmlformats.org/officeDocument/2006/relationships" id="265" r:id="Re741f3b7e1ca424c"/>
    <p:sldId xmlns:r="http://schemas.openxmlformats.org/officeDocument/2006/relationships" id="266" r:id="R7f88e44e71f84cd9"/>
    <p:sldId xmlns:r="http://schemas.openxmlformats.org/officeDocument/2006/relationships" id="267" r:id="R64889215d17247a7"/>
    <p:sldId xmlns:r="http://schemas.openxmlformats.org/officeDocument/2006/relationships" id="268" r:id="Ra00f487934b943ca"/>
    <p:sldId xmlns:r="http://schemas.openxmlformats.org/officeDocument/2006/relationships" id="269" r:id="Rd166622b806043f5"/>
    <p:sldId xmlns:r="http://schemas.openxmlformats.org/officeDocument/2006/relationships" id="270" r:id="R87ce94cb04d54693"/>
    <p:sldId xmlns:r="http://schemas.openxmlformats.org/officeDocument/2006/relationships" id="271" r:id="Ra4bf1642863349d5"/>
    <p:sldId xmlns:r="http://schemas.openxmlformats.org/officeDocument/2006/relationships" id="272" r:id="Rc1de983d19014903"/>
    <p:sldId xmlns:r="http://schemas.openxmlformats.org/officeDocument/2006/relationships" id="273" r:id="R08e503a8d0f8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4d831efb74461" /><Relationship Type="http://schemas.openxmlformats.org/officeDocument/2006/relationships/slideMaster" Target="/ppt/slideMasters/slideMaster1.xml" Id="R20a50518c8554727" /><Relationship Type="http://schemas.openxmlformats.org/officeDocument/2006/relationships/notesMaster" Target="/ppt/notesMasters/notesMaster1.xml" Id="Raf743053f92c42b8" /><Relationship Type="http://schemas.openxmlformats.org/officeDocument/2006/relationships/presProps" Target="/ppt/presProps.xml" Id="R6d5621aed90c4158" /><Relationship Type="http://schemas.openxmlformats.org/officeDocument/2006/relationships/tableStyles" Target="/ppt/tableStyles.xml" Id="R4272d6c58640480e" /><Relationship Type="http://schemas.openxmlformats.org/officeDocument/2006/relationships/slide" Target="/ppt/slides/slide1.xml" Id="Rd5d1a0b8f8e140e5" /><Relationship Type="http://schemas.openxmlformats.org/officeDocument/2006/relationships/slide" Target="/ppt/slides/slide2.xml" Id="R67ca315a89744f63" /><Relationship Type="http://schemas.openxmlformats.org/officeDocument/2006/relationships/slide" Target="/ppt/slides/slide3.xml" Id="R7a3c2bb301114270" /><Relationship Type="http://schemas.openxmlformats.org/officeDocument/2006/relationships/slide" Target="/ppt/slides/slide4.xml" Id="R615abbee08144148" /><Relationship Type="http://schemas.openxmlformats.org/officeDocument/2006/relationships/slide" Target="/ppt/slides/slide5.xml" Id="Rda31256afe73454d" /><Relationship Type="http://schemas.openxmlformats.org/officeDocument/2006/relationships/slide" Target="/ppt/slides/slide6.xml" Id="R2a74865c610140a5" /><Relationship Type="http://schemas.openxmlformats.org/officeDocument/2006/relationships/slide" Target="/ppt/slides/slide7.xml" Id="R8f3673be3c584c83" /><Relationship Type="http://schemas.openxmlformats.org/officeDocument/2006/relationships/slide" Target="/ppt/slides/slide8.xml" Id="R1e1d3919064b4ee8" /><Relationship Type="http://schemas.openxmlformats.org/officeDocument/2006/relationships/slide" Target="/ppt/slides/slide9.xml" Id="R83d44641db1046b7" /><Relationship Type="http://schemas.openxmlformats.org/officeDocument/2006/relationships/slide" Target="/ppt/slides/slide10.xml" Id="Re741f3b7e1ca424c" /><Relationship Type="http://schemas.openxmlformats.org/officeDocument/2006/relationships/slide" Target="/ppt/slides/slide11.xml" Id="R7f88e44e71f84cd9" /><Relationship Type="http://schemas.openxmlformats.org/officeDocument/2006/relationships/slide" Target="/ppt/slides/slide12.xml" Id="R64889215d17247a7" /><Relationship Type="http://schemas.openxmlformats.org/officeDocument/2006/relationships/slide" Target="/ppt/slides/slide13.xml" Id="Ra00f487934b943ca" /><Relationship Type="http://schemas.openxmlformats.org/officeDocument/2006/relationships/slide" Target="/ppt/slides/slide14.xml" Id="Rd166622b806043f5" /><Relationship Type="http://schemas.openxmlformats.org/officeDocument/2006/relationships/slide" Target="/ppt/slides/slide15.xml" Id="R87ce94cb04d54693" /><Relationship Type="http://schemas.openxmlformats.org/officeDocument/2006/relationships/slide" Target="/ppt/slides/slide16.xml" Id="Ra4bf1642863349d5" /><Relationship Type="http://schemas.openxmlformats.org/officeDocument/2006/relationships/slide" Target="/ppt/slides/slide17.xml" Id="Rc1de983d19014903" /><Relationship Type="http://schemas.openxmlformats.org/officeDocument/2006/relationships/slide" Target="/ppt/slides/slide18.xml" Id="R08e503a8d0f8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304d078a146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5e1cd462f4b34" /><Relationship Type="http://schemas.openxmlformats.org/officeDocument/2006/relationships/notesMaster" Target="/ppt/notesMasters/notesMaster1.xml" Id="R1ac8788c1b51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b51cf7ea34f29" /><Relationship Type="http://schemas.openxmlformats.org/officeDocument/2006/relationships/notesMaster" Target="/ppt/notesMasters/notesMaster1.xml" Id="R879b4c6d9d114a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8d54211786467d" /><Relationship Type="http://schemas.openxmlformats.org/officeDocument/2006/relationships/notesMaster" Target="/ppt/notesMasters/notesMaster1.xml" Id="R5d94bf38b4d9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e8ccaef26488f" /><Relationship Type="http://schemas.openxmlformats.org/officeDocument/2006/relationships/notesMaster" Target="/ppt/notesMasters/notesMaster1.xml" Id="R25b5fb02fe8848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3f7e2403a84e6a" /><Relationship Type="http://schemas.openxmlformats.org/officeDocument/2006/relationships/notesMaster" Target="/ppt/notesMasters/notesMaster1.xml" Id="Rc6af582a17aa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8376a413f64e66" /><Relationship Type="http://schemas.openxmlformats.org/officeDocument/2006/relationships/notesMaster" Target="/ppt/notesMasters/notesMaster1.xml" Id="Rdbf4b49ef8b74a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7a53bbfe9d4d43" /><Relationship Type="http://schemas.openxmlformats.org/officeDocument/2006/relationships/notesMaster" Target="/ppt/notesMasters/notesMaster1.xml" Id="Rad6dab02fd56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3a458a85ec4331" /><Relationship Type="http://schemas.openxmlformats.org/officeDocument/2006/relationships/notesMaster" Target="/ppt/notesMasters/notesMaster1.xml" Id="R2655b6869d06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0af6c64c7e449d" /><Relationship Type="http://schemas.openxmlformats.org/officeDocument/2006/relationships/notesMaster" Target="/ppt/notesMasters/notesMaster1.xml" Id="R11bafbeac1ff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df6e2218d94903" /><Relationship Type="http://schemas.openxmlformats.org/officeDocument/2006/relationships/notesMaster" Target="/ppt/notesMasters/notesMaster1.xml" Id="R2f36b27badb740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d205758d1c4e76" /><Relationship Type="http://schemas.openxmlformats.org/officeDocument/2006/relationships/notesMaster" Target="/ppt/notesMasters/notesMaster1.xml" Id="R89ac78864ad14c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5da0cc7878430e" /><Relationship Type="http://schemas.openxmlformats.org/officeDocument/2006/relationships/notesMaster" Target="/ppt/notesMasters/notesMaster1.xml" Id="R8868dfa5e10e4f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480006074a4d49" /><Relationship Type="http://schemas.openxmlformats.org/officeDocument/2006/relationships/notesMaster" Target="/ppt/notesMasters/notesMaster1.xml" Id="Rc526eea40a0248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e86f5886a14011" /><Relationship Type="http://schemas.openxmlformats.org/officeDocument/2006/relationships/notesMaster" Target="/ppt/notesMasters/notesMaster1.xml" Id="Ra21f82c7ad0244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46b650851c46ab" /><Relationship Type="http://schemas.openxmlformats.org/officeDocument/2006/relationships/notesMaster" Target="/ppt/notesMasters/notesMaster1.xml" Id="Rb3142d9f04d347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d269a8434b4eac" /><Relationship Type="http://schemas.openxmlformats.org/officeDocument/2006/relationships/notesMaster" Target="/ppt/notesMasters/notesMaster1.xml" Id="Re3bed641fa3542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98975ef6444cd7" /><Relationship Type="http://schemas.openxmlformats.org/officeDocument/2006/relationships/notesMaster" Target="/ppt/notesMasters/notesMaster1.xml" Id="R9a3c39c876a34c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99ea08302f4de5" /><Relationship Type="http://schemas.openxmlformats.org/officeDocument/2006/relationships/notesMaster" Target="/ppt/notesMasters/notesMaster1.xml" Id="R1aa3fa882150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(toàn báo cáo)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(§1.2-§1.4 và §4.1-§4.6)</a:t>
            </a:r>
          </a:p>
          <a:p xmlns:a="http://schemas.openxmlformats.org/drawingml/2006/main">
            <a:r>
              <a:t>- /Users/tung/Projects/tungd/tinystory-vn/results/global_judge/summary.json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(§2.2 - dữ liệu và cấu hình)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(§2.2 - tiến trình và điều chỉnh)</a:t>
            </a:r>
          </a:p>
          <a:p xmlns:a="http://schemas.openxmlformats.org/drawingml/2006/main">
            <a:r>
              <a:t>- /Users/tung/Projects/tungd/tinystory-vn/trieulh/report/figures/01_loss_curve.png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(§2.7 - E1)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(§2.3 - dữ liệu, kiến trúc và ba pha)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(§2.3 - V1 đến V16)</a:t>
            </a:r>
          </a:p>
          <a:p xmlns:a="http://schemas.openxmlformats.org/drawingml/2006/main">
            <a:r>
              <a:t>- /Users/tung/Projects/tungd/tinystory-vn/figures/tracks/e2_training_curves.png</a:t>
            </a:r>
          </a:p>
          <a:p xmlns:a="http://schemas.openxmlformats.org/drawingml/2006/main">
            <a:r>
              <a:t>- /Users/tung/Projects/tungd/tinystory-vn/figures/tracks/e2_v3_failure_chain.png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(§2.7 - E2)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(§2.4 - dữ liệu, kiến trúc và LoRA)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(§2.4 - kết quả và giới hạn)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(§2.7 - E3)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(§2.5 - kiến trúc, dữ liệu và pipeline)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(§2.5 và §4.6)</a:t>
            </a:r>
          </a:p>
          <a:p xmlns:a="http://schemas.openxmlformats.org/drawingml/2006/main">
            <a:r>
              <a:t>- /Users/tung/Projects/tungd/tinystory-vn/lienntp/results/figures/automatic_reliability.svg</a:t>
            </a:r>
          </a:p>
          <a:p xmlns:a="http://schemas.openxmlformats.org/drawingml/2006/main">
            <a:r>
              <a:t>- /Users/tung/Projects/tungd/tinystory-vn/figures/tracks/e4_human_eval.png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(§2.7 - E4)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(§2.6 - dữ liệu và cấu hình)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(§2.6 và §4.6)</a:t>
            </a:r>
          </a:p>
          <a:p xmlns:a="http://schemas.openxmlformats.org/drawingml/2006/main">
            <a:r>
              <a:t>- /Users/tung/Projects/tungd/tinystory-vn/figures/tracks/e5_training_curves.png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/Users/tung/Projects/tungd/tinystory-vn/report.md (§2.7 - E5)</a:t>
            </a:r>
          </a:p>
          <a:p xmlns:a="http://schemas.openxmlformats.org/drawingml/2006/main">
            <a:r>
              <a:t>- /Users/tung/Projects/tungd/tinystory-vn/results/global_judge/generations/e5.jsonl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350959cc2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61f1e4cb384cb6" /><Relationship Type="http://schemas.openxmlformats.org/officeDocument/2006/relationships/slideLayout" Target="/ppt/slideLayouts/slideLayout1.xml" Id="Re9ff7e4ace2348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ff7e4ace2348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6756d8bee415b" /><Relationship Type="http://schemas.openxmlformats.org/officeDocument/2006/relationships/notesSlide" Target="/ppt/notesSlides/notesSlide1.xml" Id="R40c0a81b932442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d940948c94ad0" /><Relationship Type="http://schemas.openxmlformats.org/officeDocument/2006/relationships/notesSlide" Target="/ppt/notesSlides/notesSlide2.xml" Id="Ra69be518bc39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70d1a48cb4f90" /><Relationship Type="http://schemas.openxmlformats.org/officeDocument/2006/relationships/notesSlide" Target="/ppt/notesSlides/notesSlide3.xml" Id="Ra95f59751a3347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2b07816704ae1" /><Relationship Type="http://schemas.openxmlformats.org/officeDocument/2006/relationships/notesSlide" Target="/ppt/notesSlides/notesSlide4.xml" Id="R6af3f1403462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0f818f74f45ad" /><Relationship Type="http://schemas.openxmlformats.org/officeDocument/2006/relationships/image" Target="/ppt/media/image.png" Id="Rcf491068b11142ee" /><Relationship Type="http://schemas.openxmlformats.org/officeDocument/2006/relationships/notesSlide" Target="/ppt/notesSlides/notesSlide5.xml" Id="R581fb3f04cfe4b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3063cb3a6455a" /><Relationship Type="http://schemas.openxmlformats.org/officeDocument/2006/relationships/notesSlide" Target="/ppt/notesSlides/notesSlide6.xml" Id="R611aecbc2072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5344334dc43a6" /><Relationship Type="http://schemas.openxmlformats.org/officeDocument/2006/relationships/notesSlide" Target="/ppt/notesSlides/notesSlide7.xml" Id="Rd8292f602f6644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e1f6d46114f8e" /><Relationship Type="http://schemas.openxmlformats.org/officeDocument/2006/relationships/image" Target="/ppt/media/image2.png" Id="Rc91fa94adc0443f9" /><Relationship Type="http://schemas.openxmlformats.org/officeDocument/2006/relationships/image" Target="/ppt/media/image3.png" Id="Re0009ca793984e85" /><Relationship Type="http://schemas.openxmlformats.org/officeDocument/2006/relationships/notesSlide" Target="/ppt/notesSlides/notesSlide8.xml" Id="Ra878c61957894d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a4dbb2624fda" /><Relationship Type="http://schemas.openxmlformats.org/officeDocument/2006/relationships/notesSlide" Target="/ppt/notesSlides/notesSlide9.xml" Id="R819098293fd544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28451f1194954" /><Relationship Type="http://schemas.openxmlformats.org/officeDocument/2006/relationships/notesSlide" Target="/ppt/notesSlides/notesSlide10.xml" Id="R39999fe79f8847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e45b4e0434a31" /><Relationship Type="http://schemas.openxmlformats.org/officeDocument/2006/relationships/chart" Target="/ppt/slides/charts/chart1.xml" Id="Rcb8eb2758e7f482e" /><Relationship Type="http://schemas.openxmlformats.org/officeDocument/2006/relationships/notesSlide" Target="/ppt/notesSlides/notesSlide11.xml" Id="Rf6d010eb96e048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d217b9c334a00" /><Relationship Type="http://schemas.openxmlformats.org/officeDocument/2006/relationships/notesSlide" Target="/ppt/notesSlides/notesSlide12.xml" Id="Rd7c0856fd8fb45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36fa8c6534885" /><Relationship Type="http://schemas.openxmlformats.org/officeDocument/2006/relationships/notesSlide" Target="/ppt/notesSlides/notesSlide13.xml" Id="R88c8b19de08c46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7381ff6914e6f" /><Relationship Type="http://schemas.openxmlformats.org/officeDocument/2006/relationships/image" Target="/ppt/media/image4.png" Id="Ra19c459dafa54739" /><Relationship Type="http://schemas.openxmlformats.org/officeDocument/2006/relationships/image" Target="/ppt/media/image5.png" Id="R25bcb2591bee4721" /><Relationship Type="http://schemas.openxmlformats.org/officeDocument/2006/relationships/notesSlide" Target="/ppt/notesSlides/notesSlide14.xml" Id="R748222f535ec48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7d3a87eec4752" /><Relationship Type="http://schemas.openxmlformats.org/officeDocument/2006/relationships/notesSlide" Target="/ppt/notesSlides/notesSlide15.xml" Id="Rd6c5ad7bc7854b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e29b60994e3c" /><Relationship Type="http://schemas.openxmlformats.org/officeDocument/2006/relationships/notesSlide" Target="/ppt/notesSlides/notesSlide16.xml" Id="Rc652c1bef5ac41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dbf6856cb407a" /><Relationship Type="http://schemas.openxmlformats.org/officeDocument/2006/relationships/image" Target="/ppt/media/image6.png" Id="R949af4ee05994e07" /><Relationship Type="http://schemas.openxmlformats.org/officeDocument/2006/relationships/notesSlide" Target="/ppt/notesSlides/notesSlide17.xml" Id="Rbdce99fc25ca48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ee77576914f6c" /><Relationship Type="http://schemas.openxmlformats.org/officeDocument/2006/relationships/notesSlide" Target="/ppt/notesSlides/notesSlide18.xml" Id="Rdd0f51b1980e40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Overall /10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00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cat>
            <c:strLit>
              <c:ptCount val="4"/>
              <c:pt idx="0">
                <c:v>Nền</c:v>
              </c:pt>
              <c:pt idx="1">
                <c:v>A · q/v all</c:v>
              </c:pt>
              <c:pt idx="2">
                <c:v>B · q/v last</c:v>
              </c:pt>
              <c:pt idx="3">
                <c:v>C · all</c:v>
              </c:pt>
            </c:strLit>
          </c:cat>
          <c:val>
            <c:numLit>
              <c:formatCode>General</c:formatCode>
              <c:ptCount val="4"/>
              <c:pt idx="0">
                <c:v>5.73</c:v>
              </c:pt>
              <c:pt idx="1">
                <c:v>6.7</c:v>
              </c:pt>
              <c:pt idx="2">
                <c:v>5.94</c:v>
              </c:pt>
              <c:pt idx="3">
                <c:v>6.87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576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upertitle">
            <a:extLst xmlns:a="http://schemas.openxmlformats.org/drawingml/2006/main">
              <a:ext uri="{FF2B5EF4-FFF2-40B4-BE49-F238E27FC236}">
                <a16:creationId xmlns:a16="http://schemas.microsoft.com/office/drawing/2014/main" id="{B27738F5-A31C-4F78-A66F-4909E31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BÁO CÁO TỔNG HỢP · NHÓM 16 · IT5410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052C5B-B151-4FA2-AD77-CF8A7896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287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Sinh truyện ngụ ngôn</a:t>
            </a:r>
          </a:p>
          <a:p xmlns:a="http://schemas.openxmlformats.org/drawingml/2006/main">
            <a:pPr>
              <a:buNone/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có điều kiện:</a:t>
            </a:r>
          </a:p>
          <a:p xmlns:a="http://schemas.openxmlformats.org/drawingml/2006/main">
            <a:pPr>
              <a:buNone/>
              <a:def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năm hướng tiếp cận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C14EA2C-B6FE-4673-8AA0-AC27D276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Huấn luyện từ đầu · PEFT/QLoRA · kiểm soát đầu ra</a:t>
            </a:r>
          </a:p>
        </p:txBody>
      </p:sp>
      <p:sp>
        <p:nvSpPr>
          <p:cNvPr id="4" name="authors-left">
            <a:extLst xmlns:a="http://schemas.openxmlformats.org/drawingml/2006/main">
              <a:ext uri="{FF2B5EF4-FFF2-40B4-BE49-F238E27FC236}">
                <a16:creationId xmlns:a16="http://schemas.microsoft.com/office/drawing/2014/main" id="{A81E2326-78D6-439D-9C55-ED328BD9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Học phần IT5410</a:t>
            </a:r>
          </a:p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Nhóm 16</a:t>
            </a:r>
          </a:p>
        </p:txBody>
      </p:sp>
      <p:sp>
        <p:nvSpPr>
          <p:cNvPr id="5" name="authors-right">
            <a:extLst xmlns:a="http://schemas.openxmlformats.org/drawingml/2006/main">
              <a:ext uri="{FF2B5EF4-FFF2-40B4-BE49-F238E27FC236}">
                <a16:creationId xmlns:a16="http://schemas.microsoft.com/office/drawing/2014/main" id="{2345AEF1-F642-4D87-A984-F06B1A0E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959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Báo cáo tổng hợp</a:t>
            </a:r>
          </a:p>
          <a:p xmlns:a="http://schemas.openxmlformats.org/drawingml/2006/main">
            <a:pPr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53537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Bài toán chung và quy trình đánh giá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Năm hệ thống sinh 125 truyện từ cùng 25 đề; mọi đầu ra được chấm mù.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Tác vụ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5 trường: character, setting, challenge, outcome, teaching → truyện 200–260 từ và dòng Moral.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Sinh thống nhất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Cùng 25 đề; seed 5410+i; temperature 0,7; top-p 0,9; tối đa 400 token; không chọn lại.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Gemma judge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Xáo B001–B125; Gemma 4 26B, temperature 0; chấm grammar, creativity, moral và adherence.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F78B7E24-DEBA-4F4A-9E97-F2F1D7AF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DE0193-C964-4226-AFC9-C648FDA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Thành viên và năm hướng tiếp cận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530FE1-F1DE-40EB-A0E9-3A50EAC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1139190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24150"/>
                <a:gridCol w="1809750"/>
                <a:gridCol w="2667000"/>
                <a:gridCol w="2095500"/>
                <a:gridCol w="2095500"/>
              </a:tblGrid>
              <a:tr h="6953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Hướng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Thành viên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Mô hình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thiệp chính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Đại diện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Lê Hải Triều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20252611M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Llama-style 60M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scale-up pretrain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slm-60m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Đào Đức Tùng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20252612M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GPT-style 63M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tokenizer + conditioning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v16-conditioned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Nguyễn Công Thanh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20252610M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SmolLM2-135M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vị trí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LoRA C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Nguyễn Thị Phương Liên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20252130M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Llama 3.2 3B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validator + repair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Base + Repair</a:t>
                      </a:r>
                    </a:p>
                  </a:txBody>
                  <a:tcPr marL="91440" marR="91440" marT="45720" marB="4572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Nguyễn Đình Lê Hoàng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20252737M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Llama 3.2 3B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QLoRA + GGUF 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Fable-1000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5" name="table-note">
            <a:extLst xmlns:a="http://schemas.openxmlformats.org/drawingml/2006/main">
              <a:ext uri="{FF2B5EF4-FFF2-40B4-BE49-F238E27FC236}">
                <a16:creationId xmlns:a16="http://schemas.microsoft.com/office/drawing/2014/main" id="{33E19481-CC60-4399-8DA7-CB242832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E1-E2 học từ đầu; E3-E5 kế thừa mô hình đã tiền huấn luyện.</a:t>
            </a:r>
          </a:p>
        </p:txBody>
      </p:sp>
    </p:spTree>
    <p:extLst>
      <p:ext uri="{BB962C8B-B14F-4D97-AF65-F5344CB8AC3E}">
        <p14:creationId xmlns:p14="http://schemas.microsoft.com/office/powerpoint/2010/main" val="258170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 · Thiết lập: Llama-style 60M huấn luyện từ đầu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trường + &lt;|story|&gt; → truyện + &lt;|end|&gt;; artifact đại diện: slm-60m Q8_0.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Mô hình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59,56M; 8 khối × 768; GQA 12/4; SwiGLU 2.048; BPE 12k; context 1.024.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Dữ liệu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2,34M truyện TF1 đã lọc và khử trùng; 934M token; 60–320 từ; slot dropout.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Huấn luyện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Full-parameter; AdamW; WSD, LR 3e-3; ~33k token/bước; 10.000 bước; mask prompt.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8BCBD32-78AC-4424-9E2B-FFE3C98A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75405E-1A75-455B-991E-E0B573A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 · Scale-up và sửa phân bố tạo cải thiện lớn nhất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DDBBF5-F4BD-4270-9555-4920502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91068b11142ee"/>
          <a:stretch xmlns:a="http://schemas.openxmlformats.org/drawingml/2006/main"/>
        </p:blipFill>
        <p:spPr>
          <a:xfrm xmlns:a="http://schemas.openxmlformats.org/drawingml/2006/main">
            <a:off x="400050" y="1839875"/>
            <a:ext cx="6572250" cy="3635450"/>
          </a:xfrm>
          <a:prstGeom xmlns:a="http://schemas.openxmlformats.org/drawingml/2006/main" prst="rect">
            <a:avLst/>
          </a:prstGeom>
        </p:spPr>
      </p:pic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9ACEDA3-CAA4-44A2-9AB2-4322144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604538B6-7EE0-4320-80D0-3CA53AC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1,058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E96245B0-3A37-4A75-A1DF-581A978F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Loss cuối; PPL held-out 2,87 sau 934M token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F61D7BE9-9D7F-4E17-87BB-6E63589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+1,017</a:t>
            </a:r>
          </a:p>
        </p:txBody>
      </p:sp>
      <p:sp>
        <p:nvSpPr>
          <p:cNvPr id="9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3DC00C44-5B46-4D14-B72F-8C767E8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60M so với 30M Phase 2; thắng 36/45 đề nội bộ</a:t>
            </a:r>
          </a:p>
        </p:txBody>
      </p:sp>
      <p:sp>
        <p:nvSpPr>
          <p:cNvPr id="10" name="metric-3">
            <a:extLst xmlns:a="http://schemas.openxmlformats.org/drawingml/2006/main">
              <a:ext uri="{FF2B5EF4-FFF2-40B4-BE49-F238E27FC236}">
                <a16:creationId xmlns:a16="http://schemas.microsoft.com/office/drawing/2014/main" id="{7370C180-2DD6-4A3F-B8B7-CBBACFE1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90%→23%</a:t>
            </a:r>
          </a:p>
        </p:txBody>
      </p:sp>
      <p:sp>
        <p:nvSpPr>
          <p:cNvPr id="11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1D77ADEA-031F-4DEF-92E0-C81573D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Giảm motif “wise old owl” bằng cân lại corpus; penalty 1,3→1,1.</a:t>
            </a:r>
          </a:p>
        </p:txBody>
      </p:sp>
    </p:spTree>
    <p:extLst>
      <p:ext uri="{BB962C8B-B14F-4D97-AF65-F5344CB8AC3E}">
        <p14:creationId xmlns:p14="http://schemas.microsoft.com/office/powerpoint/2010/main" val="875691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47DF48-E05F-4345-BAC9-0EA04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B3735-06D6-4000-8F33-89AD244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 · Truyện trôi chảy nhưng có thể thay thế điều kiện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0FB26-BAFA-45CA-9DFF-F85AA8B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sample-e3-title">
            <a:extLst xmlns:a="http://schemas.openxmlformats.org/drawingml/2006/main">
              <a:ext uri="{FF2B5EF4-FFF2-40B4-BE49-F238E27FC236}">
                <a16:creationId xmlns:a16="http://schemas.microsoft.com/office/drawing/2014/main" id="{0D5C074B-7D14-4AAD-87DF-E769DC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Mẫu truyện sinh</a:t>
            </a:r>
          </a:p>
        </p:txBody>
      </p:sp>
      <p:sp>
        <p:nvSpPr>
          <p:cNvPr id="5" name="sample-e3">
            <a:extLst xmlns:a="http://schemas.openxmlformats.org/drawingml/2006/main">
              <a:ext uri="{FF2B5EF4-FFF2-40B4-BE49-F238E27FC236}">
                <a16:creationId xmlns:a16="http://schemas.microsoft.com/office/drawing/2014/main" id="{90B0373D-022A-43A6-A86D-5BBE661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2197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“In a sunny flower field, a clever skunk named Stinky… met a beautiful butterfly… Stinky saw Growler struggling to reach a sweet flower. ‘Let’s work together’…”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“Appearances can be deceiving.”</a:t>
            </a:r>
          </a:p>
        </p:txBody>
      </p:sp>
      <p:sp>
        <p:nvSpPr>
          <p:cNvPr id="6" name="sample-e3-note">
            <a:extLst xmlns:a="http://schemas.openxmlformats.org/drawingml/2006/main">
              <a:ext uri="{FF2B5EF4-FFF2-40B4-BE49-F238E27FC236}">
                <a16:creationId xmlns:a16="http://schemas.microsoft.com/office/drawing/2014/main" id="{84E28A2D-E938-49D1-9825-410ACC2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Giữ setting, outcome và moral; văn bản đọc được.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CF1CEE2-28D4-4EF6-8554-D8D5E0C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mple-e5-title">
            <a:extLst xmlns:a="http://schemas.openxmlformats.org/drawingml/2006/main">
              <a:ext uri="{FF2B5EF4-FFF2-40B4-BE49-F238E27FC236}">
                <a16:creationId xmlns:a16="http://schemas.microsoft.com/office/drawing/2014/main" id="{B3FC96EB-D91D-4A14-914F-626D6D4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</p:txBody>
      </p:sp>
      <p:sp>
        <p:nvSpPr>
          <p:cNvPr id="9" name="sample-e5">
            <a:extLst xmlns:a="http://schemas.openxmlformats.org/drawingml/2006/main">
              <a:ext uri="{FF2B5EF4-FFF2-40B4-BE49-F238E27FC236}">
                <a16:creationId xmlns:a16="http://schemas.microsoft.com/office/drawing/2014/main" id="{F40909FD-F009-4BAA-9B9C-A91CA18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19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Đề yêu cầu “rivalry in love”; truyện đổi thành xung đột về mùi cơ thể.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Cốt truyện tự hợp lý nhưng không còn phụ thuộc challenge gốc; hai output global gần rỗng.</a:t>
            </a:r>
          </a:p>
        </p:txBody>
      </p:sp>
      <p:sp>
        <p:nvSpPr>
          <p:cNvPr id="10" name="sample-e5-note">
            <a:extLst xmlns:a="http://schemas.openxmlformats.org/drawingml/2006/main">
              <a:ext uri="{FF2B5EF4-FFF2-40B4-BE49-F238E27FC236}">
                <a16:creationId xmlns:a16="http://schemas.microsoft.com/office/drawing/2014/main" id="{951909DE-6D85-4D48-A790-E388158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Condition substitution + thiếu token &lt;|story|&gt; ở runner chung.</a:t>
            </a:r>
          </a:p>
        </p:txBody>
      </p:sp>
    </p:spTree>
    <p:extLst>
      <p:ext uri="{BB962C8B-B14F-4D97-AF65-F5344CB8AC3E}">
        <p14:creationId xmlns:p14="http://schemas.microsoft.com/office/powerpoint/2010/main" val="1935875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E2 · Thiết lập: GPT 63M với ba pha huấn luyện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&lt;char&gt; + &lt;moral&gt; + &lt;story&gt; → truyện; artifact chỉ nhận 2/5 trường của đề chung.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Mô hình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62,99M; 7 khối × 768; MHA 12 head; GELU 3.072; Metaspace BPE 16.384; context 1.024.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Dữ liệu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Pretrain 500k; condition 103.063/5.424; causal 13.270 mẫu strict từ teacher 31B.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Huấn luyện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15.625 bước LR 5e-4 → 1.611 bước 1e-4 → 624 bước 3e-6; mask prompt; A100 100 phút.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68A008FB-E7D4-4FC6-8439-9D492D03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74A384-7759-4B6B-85E8-23FE2C4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E2 · Tối ưu ổn định; causal planning vẫn không chuyển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E22297-34DB-4D8A-828D-A2A2875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counterfactual-note">
            <a:extLst xmlns:a="http://schemas.openxmlformats.org/drawingml/2006/main">
              <a:ext uri="{FF2B5EF4-FFF2-40B4-BE49-F238E27FC236}">
                <a16:creationId xmlns:a16="http://schemas.microsoft.com/office/drawing/2014/main" id="{62BC1ADB-BDE7-4BA4-B9C9-7BC3C01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V1→V3: sửa tokenizer + masking;</a:t>
            </a:r>
          </a:p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exact-both 3%→55%, kết thúc sạch 100%.</a:t>
            </a:r>
          </a:p>
        </p:txBody>
      </p:sp>
      <p:sp>
        <p:nvSpPr>
          <p:cNvPr id="7" name="repair-note">
            <a:extLst xmlns:a="http://schemas.openxmlformats.org/drawingml/2006/main">
              <a:ext uri="{FF2B5EF4-FFF2-40B4-BE49-F238E27FC236}">
                <a16:creationId xmlns:a16="http://schemas.microsoft.com/office/drawing/2014/main" id="{82147AEF-8484-4BFD-81EC-4807A22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V3: đúng tác nhân 96%; trait→choice 1%;</a:t>
            </a:r>
          </a:p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plot→moral 0%. V16 fluency 6,85.</a:t>
            </a:r>
          </a:p>
        </p:txBody>
      </p:sp>
      <p:sp>
        <p:nvSpPr>
          <p:cNvPr id="8" name="ablation-conclusion">
            <a:extLst xmlns:a="http://schemas.openxmlformats.org/drawingml/2006/main">
              <a:ext uri="{FF2B5EF4-FFF2-40B4-BE49-F238E27FC236}">
                <a16:creationId xmlns:a16="http://schemas.microsoft.com/office/drawing/2014/main" id="{21827703-0601-40FF-A792-A910ECC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V10 giảm causal loss và V15 matching đạt 75,44%, nhưng causal-pass vẫn 0–5%.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fa94adc0443f9"/>
          <a:stretch xmlns:a="http://schemas.openxmlformats.org/drawingml/2006/main"/>
        </p:blipFill>
        <p:spPr>
          <a:xfrm xmlns:a="http://schemas.openxmlformats.org/drawingml/2006/main" flipH="0" flipV="0">
            <a:off x="400050" y="2186705"/>
            <a:ext cx="5334000" cy="216074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09ca793984e85"/>
          <a:stretch xmlns:a="http://schemas.openxmlformats.org/drawingml/2006/main"/>
        </p:blipFill>
        <p:spPr>
          <a:xfrm xmlns:a="http://schemas.openxmlformats.org/drawingml/2006/main" flipH="0" flipV="0">
            <a:off x="6457950" y="2186705"/>
            <a:ext cx="5334000" cy="21607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99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47DF48-E05F-4345-BAC9-0EA04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B3735-06D6-4000-8F33-89AD244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49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E2 · Truyện mượt và đúng footer nhưng thiếu chuỗi nhân quả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0FB26-BAFA-45CA-9DFF-F85AA8B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sample-e3-title">
            <a:extLst xmlns:a="http://schemas.openxmlformats.org/drawingml/2006/main">
              <a:ext uri="{FF2B5EF4-FFF2-40B4-BE49-F238E27FC236}">
                <a16:creationId xmlns:a16="http://schemas.microsoft.com/office/drawing/2014/main" id="{0D5C074B-7D14-4AAD-87DF-E769DC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Mẫu truyện sinh</a:t>
            </a:r>
          </a:p>
        </p:txBody>
      </p:sp>
      <p:sp>
        <p:nvSpPr>
          <p:cNvPr id="5" name="sample-e3">
            <a:extLst xmlns:a="http://schemas.openxmlformats.org/drawingml/2006/main">
              <a:ext uri="{FF2B5EF4-FFF2-40B4-BE49-F238E27FC236}">
                <a16:creationId xmlns:a16="http://schemas.microsoft.com/office/drawing/2014/main" id="{90B0373D-022A-43A6-A86D-5BBE661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2197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“In the heart of an enchanted grove… lived a joyful goose… a strange curse fell upon her… With newfound confidence, she spread her wings and soared…”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“Moral: Changing one’s environment cannot change one’s inherent nature.”</a:t>
            </a:r>
          </a:p>
        </p:txBody>
      </p:sp>
      <p:sp>
        <p:nvSpPr>
          <p:cNvPr id="6" name="sample-e3-note">
            <a:extLst xmlns:a="http://schemas.openxmlformats.org/drawingml/2006/main">
              <a:ext uri="{FF2B5EF4-FFF2-40B4-BE49-F238E27FC236}">
                <a16:creationId xmlns:a16="http://schemas.microsoft.com/office/drawing/2014/main" id="{84E28A2D-E938-49D1-9825-410ACC2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Fluency tốt; character và moral xuất hiện rõ.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CF1CEE2-28D4-4EF6-8554-D8D5E0C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mple-e5-title">
            <a:extLst xmlns:a="http://schemas.openxmlformats.org/drawingml/2006/main">
              <a:ext uri="{FF2B5EF4-FFF2-40B4-BE49-F238E27FC236}">
                <a16:creationId xmlns:a16="http://schemas.microsoft.com/office/drawing/2014/main" id="{B3FC96EB-D91D-4A14-914F-626D6D4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</p:txBody>
      </p:sp>
      <p:sp>
        <p:nvSpPr>
          <p:cNvPr id="9" name="sample-e5">
            <a:extLst xmlns:a="http://schemas.openxmlformats.org/drawingml/2006/main">
              <a:ext uri="{FF2B5EF4-FFF2-40B4-BE49-F238E27FC236}">
                <a16:creationId xmlns:a16="http://schemas.microsoft.com/office/drawing/2014/main" id="{F40909FD-F009-4BAA-9B9C-A91CA18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19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Diễn biến vượt lời nguyền nhờ tự tin không chứng minh “môi trường không đổi bản chất”.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Raw output còn moral khác và lặp &lt;/story&gt;; codec chỉ nhận character + moral.</a:t>
            </a:r>
          </a:p>
        </p:txBody>
      </p:sp>
      <p:sp>
        <p:nvSpPr>
          <p:cNvPr id="10" name="sample-e5-note">
            <a:extLst xmlns:a="http://schemas.openxmlformats.org/drawingml/2006/main">
              <a:ext uri="{FF2B5EF4-FFF2-40B4-BE49-F238E27FC236}">
                <a16:creationId xmlns:a16="http://schemas.microsoft.com/office/drawing/2014/main" id="{951909DE-6D85-4D48-A790-E388158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Literal adherence không đồng nghĩa trait→choice→outcome.</a:t>
            </a:r>
          </a:p>
        </p:txBody>
      </p:sp>
    </p:spTree>
    <p:extLst>
      <p:ext uri="{BB962C8B-B14F-4D97-AF65-F5344CB8AC3E}">
        <p14:creationId xmlns:p14="http://schemas.microsoft.com/office/powerpoint/2010/main" val="1935875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E3 · Thiết lập: SmolLM2-135M và ba vị trí LoRA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 đóng băng; cùng dữ liệu/ngân sách, chỉ thay tầng và module gắn adapter.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Mô hình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134,52M; 30 khối × 576; GQA 9/3; SwiGLU 1.536; vocab 49.152; train context 512.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Dữ liệu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50.000 hàng TF1, seed 42; held-out 500; system + 5 trường → completion truyện.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Huấn luyện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LoRA r=16, α=32, dropout 0,05; LR 2e-4 cosine; bf16 L4; batch 32; 2 epoch.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EF870FC-4A78-4FD7-8CDA-3B7A70B3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427147-207D-47DB-9E95-D6EC7F6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E3 · LoRA toàn tầng + MLP dẫn đầu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F5B507-9662-48B8-BA63-F9432118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6858000" cy="4362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8eb2758e7f482e"/>
          </a:graphicData>
        </a:graphic>
      </p:graphicFrame>
      <p:sp>
        <p:nvSpPr>
          <p:cNvPr id="5" name="judge-callout-1">
            <a:extLst xmlns:a="http://schemas.openxmlformats.org/drawingml/2006/main">
              <a:ext uri="{FF2B5EF4-FFF2-40B4-BE49-F238E27FC236}">
                <a16:creationId xmlns:a16="http://schemas.microsoft.com/office/drawing/2014/main" id="{A8C4D69E-BFD0-482C-9C20-CDBE885B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3810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judge-delta">
            <a:extLst xmlns:a="http://schemas.openxmlformats.org/drawingml/2006/main">
              <a:ext uri="{FF2B5EF4-FFF2-40B4-BE49-F238E27FC236}">
                <a16:creationId xmlns:a16="http://schemas.microsoft.com/office/drawing/2014/main" id="{7444D220-0472-4F8B-B3E4-BA26D55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3,84</a:t>
            </a:r>
          </a:p>
        </p:txBody>
      </p:sp>
      <p:sp>
        <p:nvSpPr>
          <p:cNvPr id="7" name="judge-delta-note">
            <a:extLst xmlns:a="http://schemas.openxmlformats.org/drawingml/2006/main">
              <a:ext uri="{FF2B5EF4-FFF2-40B4-BE49-F238E27FC236}">
                <a16:creationId xmlns:a16="http://schemas.microsoft.com/office/drawing/2014/main" id="{8FDA62C1-87F6-4F3C-A946-16BE2114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PPL nhánh C</a:t>
            </a:r>
          </a:p>
          <a:p xmlns:a="http://schemas.openxmlformats.org/drawingml/2006/main">
            <a:pPr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4,88M adapter</a:t>
            </a:r>
          </a:p>
        </p:txBody>
      </p:sp>
      <p:sp>
        <p:nvSpPr>
          <p:cNvPr id="8" name="judge-meaning">
            <a:extLst xmlns:a="http://schemas.openxmlformats.org/drawingml/2006/main">
              <a:ext uri="{FF2B5EF4-FFF2-40B4-BE49-F238E27FC236}">
                <a16:creationId xmlns:a16="http://schemas.microsoft.com/office/drawing/2014/main" id="{E194563F-4855-44AD-B192-138D374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381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 dẫn grammar, moral, adherence và overall; A dẫn creativity và readability.</a:t>
            </a:r>
          </a:p>
        </p:txBody>
      </p:sp>
      <p:sp>
        <p:nvSpPr>
          <p:cNvPr id="9" name="judge-scope">
            <a:extLst xmlns:a="http://schemas.openxmlformats.org/drawingml/2006/main">
              <a:ext uri="{FF2B5EF4-FFF2-40B4-BE49-F238E27FC236}">
                <a16:creationId xmlns:a16="http://schemas.microsoft.com/office/drawing/2014/main" id="{E02FEA3F-585D-4FDB-8042-F4B427E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B giảm PPL nhưng adherence 4,78 &lt; base 5,08.</a:t>
            </a:r>
          </a:p>
          <a:p xmlns:a="http://schemas.openxmlformats.org/drawingml/2006/main">
            <a:pPr>
              <a:buNone/>
              <a:def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Thiếu ô all-linear × last-third; một seed.</a:t>
            </a:r>
          </a:p>
        </p:txBody>
      </p:sp>
    </p:spTree>
    <p:extLst>
      <p:ext uri="{BB962C8B-B14F-4D97-AF65-F5344CB8AC3E}">
        <p14:creationId xmlns:p14="http://schemas.microsoft.com/office/powerpoint/2010/main" val="496210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47DF48-E05F-4345-BAC9-0EA04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B3735-06D6-4000-8F33-89AD244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2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E3 · Có cấu trúc ngụ ngôn nhưng nhân vật và format bị trôi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0FB26-BAFA-45CA-9DFF-F85AA8B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sample-e3-title">
            <a:extLst xmlns:a="http://schemas.openxmlformats.org/drawingml/2006/main">
              <a:ext uri="{FF2B5EF4-FFF2-40B4-BE49-F238E27FC236}">
                <a16:creationId xmlns:a16="http://schemas.microsoft.com/office/drawing/2014/main" id="{0D5C074B-7D14-4AAD-87DF-E769DC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Mẫu truyện sinh</a:t>
            </a:r>
          </a:p>
        </p:txBody>
      </p:sp>
      <p:sp>
        <p:nvSpPr>
          <p:cNvPr id="5" name="sample-e3">
            <a:extLst xmlns:a="http://schemas.openxmlformats.org/drawingml/2006/main">
              <a:ext uri="{FF2B5EF4-FFF2-40B4-BE49-F238E27FC236}">
                <a16:creationId xmlns:a16="http://schemas.microsoft.com/office/drawing/2014/main" id="{90B0373D-022A-43A6-A86D-5BBE661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2197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“In the quiet pond… a brave little turtle lived among his friends… dark clouds gathered… The clever rabbit… suggested that they work together…”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“The two groups of creatures… began working together…”</a:t>
            </a:r>
          </a:p>
        </p:txBody>
      </p:sp>
      <p:sp>
        <p:nvSpPr>
          <p:cNvPr id="6" name="sample-e3-note">
            <a:extLst xmlns:a="http://schemas.openxmlformats.org/drawingml/2006/main">
              <a:ext uri="{FF2B5EF4-FFF2-40B4-BE49-F238E27FC236}">
                <a16:creationId xmlns:a16="http://schemas.microsoft.com/office/drawing/2014/main" id="{84E28A2D-E938-49D1-9825-410ACC2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Có setting, storm và motif teamwork.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CF1CEE2-28D4-4EF6-8554-D8D5E0C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mple-e5-title">
            <a:extLst xmlns:a="http://schemas.openxmlformats.org/drawingml/2006/main">
              <a:ext uri="{FF2B5EF4-FFF2-40B4-BE49-F238E27FC236}">
                <a16:creationId xmlns:a16="http://schemas.microsoft.com/office/drawing/2014/main" id="{B3FC96EB-D91D-4A14-914F-626D6D4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</p:txBody>
      </p:sp>
      <p:sp>
        <p:nvSpPr>
          <p:cNvPr id="9" name="sample-e5">
            <a:extLst xmlns:a="http://schemas.openxmlformats.org/drawingml/2006/main">
              <a:ext uri="{FF2B5EF4-FFF2-40B4-BE49-F238E27FC236}">
                <a16:creationId xmlns:a16="http://schemas.microsoft.com/office/drawing/2014/main" id="{F40909FD-F009-4BAA-9B9C-A91CA18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19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Vai trò chính chuyển từ turtle sang rabbit và “hai nhóm sinh vật”; output còn chuỗi nhiễu “(Figure 1)”.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Runner chung thiếu system_message đã dùng khi train.</a:t>
            </a:r>
          </a:p>
        </p:txBody>
      </p:sp>
      <p:sp>
        <p:nvSpPr>
          <p:cNvPr id="10" name="sample-e5-note">
            <a:extLst xmlns:a="http://schemas.openxmlformats.org/drawingml/2006/main">
              <a:ext uri="{FF2B5EF4-FFF2-40B4-BE49-F238E27FC236}">
                <a16:creationId xmlns:a16="http://schemas.microsoft.com/office/drawing/2014/main" id="{951909DE-6D85-4D48-A790-E388158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PPL tốt không bảo đảm đúng nhân vật hoặc prompt contract.</a:t>
            </a:r>
          </a:p>
        </p:txBody>
      </p:sp>
    </p:spTree>
    <p:extLst>
      <p:ext uri="{BB962C8B-B14F-4D97-AF65-F5344CB8AC3E}">
        <p14:creationId xmlns:p14="http://schemas.microsoft.com/office/powerpoint/2010/main" val="19358752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E4 · Thiết lập: Llama 3.2 3B + repair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nền sinh draft → validator → rewrite khi lỗi nặng → chuẩn hóa một dòng Moral.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Mô hình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3,213B Q4_K_M; 28 khối × 3.072; GQA 24/8; SwiGLU 8.192; vocab 128.256; context 2.048.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Dữ liệu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So sánh SFT-clean 3k, Failure-LoRA 300 và Fluency-SFT 10k; hệ đại diện không dùng adapter.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Pipeline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Sinh tối đa 400 token; rewrite tối đa 500; seed 5410; gọi lượt hai ở 5/25 đề.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68A008FB-E7D4-4FC6-8439-9D492D03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74A384-7759-4B6B-85E8-23FE2C4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E4 · Kiểm soát lúc sinh vượt các fine-tune đã thử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E22297-34DB-4D8A-828D-A2A2875D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counterfactual-note">
            <a:extLst xmlns:a="http://schemas.openxmlformats.org/drawingml/2006/main">
              <a:ext uri="{FF2B5EF4-FFF2-40B4-BE49-F238E27FC236}">
                <a16:creationId xmlns:a16="http://schemas.microsoft.com/office/drawing/2014/main" id="{62BC1ADB-BDE7-4BA4-B9C9-7BC3C01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Base+Repair 4,32/5; Strict+post 4,20;</a:t>
            </a:r>
          </a:p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Fluency-SFT 3,84.</a:t>
            </a:r>
          </a:p>
        </p:txBody>
      </p:sp>
      <p:sp>
        <p:nvSpPr>
          <p:cNvPr id="7" name="repair-note">
            <a:extLst xmlns:a="http://schemas.openxmlformats.org/drawingml/2006/main">
              <a:ext uri="{FF2B5EF4-FFF2-40B4-BE49-F238E27FC236}">
                <a16:creationId xmlns:a16="http://schemas.microsoft.com/office/drawing/2014/main" id="{82147AEF-8484-4BFD-81EC-4807A220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Repair: exact moral 20%→100%;</a:t>
            </a:r>
          </a:p>
          <a:p xmlns:a="http://schemas.openxmlformats.org/drawingml/2006/main">
            <a:pPr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trait→choice 92%, choice→outcome 100% không đổi.</a:t>
            </a:r>
          </a:p>
        </p:txBody>
      </p:sp>
      <p:sp>
        <p:nvSpPr>
          <p:cNvPr id="8" name="ablation-conclusion">
            <a:extLst xmlns:a="http://schemas.openxmlformats.org/drawingml/2006/main">
              <a:ext uri="{FF2B5EF4-FFF2-40B4-BE49-F238E27FC236}">
                <a16:creationId xmlns:a16="http://schemas.microsoft.com/office/drawing/2014/main" id="{21827703-0601-40FF-A792-A910ECC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Global judge 9,20/10. Repair sửa hợp đồng/lỗi cục bộ, không tạo lại chuỗi nhân quả.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c459dafa54739"/>
          <a:stretch xmlns:a="http://schemas.openxmlformats.org/drawingml/2006/main"/>
        </p:blipFill>
        <p:spPr>
          <a:xfrm xmlns:a="http://schemas.openxmlformats.org/drawingml/2006/main" flipH="0" flipV="0">
            <a:off x="400050" y="2186705"/>
            <a:ext cx="5334000" cy="216074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cb2591bee4721"/>
          <a:stretch xmlns:a="http://schemas.openxmlformats.org/drawingml/2006/main"/>
        </p:blipFill>
        <p:spPr>
          <a:xfrm xmlns:a="http://schemas.openxmlformats.org/drawingml/2006/main" flipH="0" flipV="0">
            <a:off x="6457950" y="2186705"/>
            <a:ext cx="5334000" cy="21607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999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47DF48-E05F-4345-BAC9-0EA04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B3735-06D6-4000-8F33-89AD244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E4 · Repair giữ điều kiện nhưng còn lỗi văn phong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0FB26-BAFA-45CA-9DFF-F85AA8B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sample-e3-title">
            <a:extLst xmlns:a="http://schemas.openxmlformats.org/drawingml/2006/main">
              <a:ext uri="{FF2B5EF4-FFF2-40B4-BE49-F238E27FC236}">
                <a16:creationId xmlns:a16="http://schemas.microsoft.com/office/drawing/2014/main" id="{0D5C074B-7D14-4AAD-87DF-E769DC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Mẫu truyện sinh</a:t>
            </a:r>
          </a:p>
        </p:txBody>
      </p:sp>
      <p:sp>
        <p:nvSpPr>
          <p:cNvPr id="5" name="sample-e3">
            <a:extLst xmlns:a="http://schemas.openxmlformats.org/drawingml/2006/main">
              <a:ext uri="{FF2B5EF4-FFF2-40B4-BE49-F238E27FC236}">
                <a16:creationId xmlns:a16="http://schemas.microsoft.com/office/drawing/2014/main" id="{90B0373D-022A-43A6-A86D-5BBE661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2197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“Terry realized it was impossible for just one tiny creature like himself to cross… Together with some frogs… and rabbits carrying sturdy vines… the whole crew got to work…”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“Moral: When friends unite…”</a:t>
            </a:r>
          </a:p>
        </p:txBody>
      </p:sp>
      <p:sp>
        <p:nvSpPr>
          <p:cNvPr id="6" name="sample-e3-note">
            <a:extLst xmlns:a="http://schemas.openxmlformats.org/drawingml/2006/main">
              <a:ext uri="{FF2B5EF4-FFF2-40B4-BE49-F238E27FC236}">
                <a16:creationId xmlns:a16="http://schemas.microsoft.com/office/drawing/2014/main" id="{84E28A2D-E938-49D1-9825-410ACC2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Giữ character, challenge, outcome và teaching.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CF1CEE2-28D4-4EF6-8554-D8D5E0C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mple-e5-title">
            <a:extLst xmlns:a="http://schemas.openxmlformats.org/drawingml/2006/main">
              <a:ext uri="{FF2B5EF4-FFF2-40B4-BE49-F238E27FC236}">
                <a16:creationId xmlns:a16="http://schemas.microsoft.com/office/drawing/2014/main" id="{B3FC96EB-D91D-4A14-914F-626D6D4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</p:txBody>
      </p:sp>
      <p:sp>
        <p:nvSpPr>
          <p:cNvPr id="9" name="sample-e5">
            <a:extLst xmlns:a="http://schemas.openxmlformats.org/drawingml/2006/main">
              <a:ext uri="{FF2B5EF4-FFF2-40B4-BE49-F238E27FC236}">
                <a16:creationId xmlns:a16="http://schemas.microsoft.com/office/drawing/2014/main" id="{F40909FD-F009-4BAA-9B9C-A91CA18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19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Câu còn vụng: “Roady Way”, frogs climbing trees, dấu ba chấm và logic rope bridge chưa tự nhiên.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Repair bảo đảm moral, nhưng không rewrite mọi lỗi cục bộ.</a:t>
            </a:r>
          </a:p>
        </p:txBody>
      </p:sp>
      <p:sp>
        <p:nvSpPr>
          <p:cNvPr id="10" name="sample-e5-note">
            <a:extLst xmlns:a="http://schemas.openxmlformats.org/drawingml/2006/main">
              <a:ext uri="{FF2B5EF4-FFF2-40B4-BE49-F238E27FC236}">
                <a16:creationId xmlns:a16="http://schemas.microsoft.com/office/drawing/2014/main" id="{951909DE-6D85-4D48-A790-E388158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Đổi độ tin cậy lấy thêm compute: lượt hai ở 5/25 đề.</a:t>
            </a:r>
          </a:p>
        </p:txBody>
      </p:sp>
    </p:spTree>
    <p:extLst>
      <p:ext uri="{BB962C8B-B14F-4D97-AF65-F5344CB8AC3E}">
        <p14:creationId xmlns:p14="http://schemas.microsoft.com/office/powerpoint/2010/main" val="19358752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8C050600-866F-41A0-B802-53CE887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6F61CA-62D2-42AA-9C4A-75EC346D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E5 · Thiết lập: QLoRA 0,75% trên Llama 3.2 3B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A632FD-E5AD-47A9-9B78-88A45B2E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thesis">
            <a:extLst xmlns:a="http://schemas.openxmlformats.org/drawingml/2006/main">
              <a:ext uri="{FF2B5EF4-FFF2-40B4-BE49-F238E27FC236}">
                <a16:creationId xmlns:a16="http://schemas.microsoft.com/office/drawing/2014/main" id="{39358EFC-E93B-452C-8F97-C22AE65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 5 trường → truyện một lượt; merge adapter và xuất GGUF Q4_K_M khoảng 2GB.</a:t>
            </a:r>
          </a:p>
        </p:txBody>
      </p:sp>
      <p:sp>
        <p:nvSpPr>
          <p:cNvPr id="5" name="callout-1">
            <a:extLst xmlns:a="http://schemas.openxmlformats.org/drawingml/2006/main">
              <a:ext uri="{FF2B5EF4-FFF2-40B4-BE49-F238E27FC236}">
                <a16:creationId xmlns:a16="http://schemas.microsoft.com/office/drawing/2014/main" id="{A9F4CC54-8DF9-482D-9D69-C7DE96D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88408FAE-355B-4309-9C99-5F95EF3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Mô hình</a:t>
            </a:r>
          </a:p>
        </p:txBody>
      </p:sp>
      <p:sp>
        <p:nvSpPr>
          <p:cNvPr id="7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2962D7D-1F0A-4E3C-952F-5E4CB0A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3,213B base 4-bit; 28 khối × 3.072; GQA 24/8; SwiGLU 8.192; context 2.048.</a:t>
            </a:r>
          </a:p>
        </p:txBody>
      </p:sp>
      <p:sp>
        <p:nvSpPr>
          <p:cNvPr id="8" name="callout-2">
            <a:extLst xmlns:a="http://schemas.openxmlformats.org/drawingml/2006/main">
              <a:ext uri="{FF2B5EF4-FFF2-40B4-BE49-F238E27FC236}">
                <a16:creationId xmlns:a16="http://schemas.microsoft.com/office/drawing/2014/main" id="{9EBDA31E-7ABE-48D1-B26C-5B5559EB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6558F744-EB94-4429-B7CE-E83C665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Dữ liệu</a:t>
            </a:r>
          </a:p>
        </p:txBody>
      </p:sp>
      <p:sp>
        <p:nvSpPr>
          <p:cNvPr id="1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C5C51A8-DEFE-49F9-9FD8-85F1409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1.000 hàng đầu TF1 → 900 train / 100 val, seed 42; system-user-assistant; full-sequence loss.</a:t>
            </a:r>
          </a:p>
        </p:txBody>
      </p:sp>
      <p:sp>
        <p:nvSpPr>
          <p:cNvPr id="11" name="callout-3">
            <a:extLst xmlns:a="http://schemas.openxmlformats.org/drawingml/2006/main">
              <a:ext uri="{FF2B5EF4-FFF2-40B4-BE49-F238E27FC236}">
                <a16:creationId xmlns:a16="http://schemas.microsoft.com/office/drawing/2014/main" id="{6A5BEBB4-FA7F-48C6-B053-468B68D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3600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1259A629-995A-4659-8ADA-66F91824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Huấn luyện</a:t>
            </a:r>
          </a:p>
        </p:txBody>
      </p:sp>
      <p:sp>
        <p:nvSpPr>
          <p:cNvPr id="13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F23D8B3A-2944-4E92-8962-E0789E19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3067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LoRA r=16, α=16 trên attention + MLP; LR 2e-4; batch 8; 3 epoch, 339 bước, 47,3 phút T4.</a:t>
            </a:r>
          </a:p>
        </p:txBody>
      </p:sp>
    </p:spTree>
    <p:extLst>
      <p:ext uri="{BB962C8B-B14F-4D97-AF65-F5344CB8AC3E}">
        <p14:creationId xmlns:p14="http://schemas.microsoft.com/office/powerpoint/2010/main" val="11424201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8BCBD32-78AC-4424-9E2B-FFE3C98A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75405E-1A75-455B-991E-E0B573A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E5 · QLoRA: 0,75% trọng số, 8,44 điểm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DDBBF5-F4BD-4270-9555-4920502C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9ACEDA3-CAA4-44A2-9AB2-43221442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604538B6-7EE0-4320-80D0-3CA53AC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24,31M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E96245B0-3A37-4A75-A1DF-581A978F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Tham số trainable, tương đương 0,75% model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F61D7BE9-9D7F-4E17-87BB-6E63589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8,44</a:t>
            </a:r>
          </a:p>
        </p:txBody>
      </p:sp>
      <p:sp>
        <p:nvSpPr>
          <p:cNvPr id="9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3DC00C44-5B46-4D14-B72F-8C767E8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judge; hệ sinh trực tiếp tốt nhất</a:t>
            </a:r>
          </a:p>
        </p:txBody>
      </p:sp>
      <p:sp>
        <p:nvSpPr>
          <p:cNvPr id="10" name="metric-3">
            <a:extLst xmlns:a="http://schemas.openxmlformats.org/drawingml/2006/main">
              <a:ext uri="{FF2B5EF4-FFF2-40B4-BE49-F238E27FC236}">
                <a16:creationId xmlns:a16="http://schemas.microsoft.com/office/drawing/2014/main" id="{7370C180-2DD6-4A3F-B8B7-CBBACFE1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10/10</a:t>
            </a:r>
          </a:p>
        </p:txBody>
      </p:sp>
      <p:sp>
        <p:nvSpPr>
          <p:cNvPr id="11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1D77ADEA-031F-4DEF-92E0-C81573D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24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Cặp counterfactual đổi diễn biến đúng hướng; chưa cô lập base, 1 epoch và 3 epoch.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af4ee05994e07"/>
          <a:stretch xmlns:a="http://schemas.openxmlformats.org/drawingml/2006/main"/>
        </p:blipFill>
        <p:spPr>
          <a:xfrm xmlns:a="http://schemas.openxmlformats.org/drawingml/2006/main" flipH="0" flipV="0">
            <a:off x="400050" y="1839875"/>
            <a:ext cx="6572250" cy="3635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912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D47DF48-E05F-4345-BAC9-0EA04A01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TINYSTORY-VN · NHÓM 16 · IT5410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6B3735-06D6-4000-8F33-89AD244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E5 · Mẫu sinh tốt và hai lỗi còn lại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0FB26-BAFA-45CA-9DFF-F85AA8B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sample-e3-title">
            <a:extLst xmlns:a="http://schemas.openxmlformats.org/drawingml/2006/main">
              <a:ext uri="{FF2B5EF4-FFF2-40B4-BE49-F238E27FC236}">
                <a16:creationId xmlns:a16="http://schemas.microsoft.com/office/drawing/2014/main" id="{0D5C074B-7D14-4AAD-87DF-E769DC6A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Mẫu truyện sinh</a:t>
            </a:r>
          </a:p>
        </p:txBody>
      </p:sp>
      <p:sp>
        <p:nvSpPr>
          <p:cNvPr id="5" name="sample-e3">
            <a:extLst xmlns:a="http://schemas.openxmlformats.org/drawingml/2006/main">
              <a:ext uri="{FF2B5EF4-FFF2-40B4-BE49-F238E27FC236}">
                <a16:creationId xmlns:a16="http://schemas.microsoft.com/office/drawing/2014/main" id="{90B0373D-022A-43A6-A86D-5BBE6611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2197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“The old cart path suddenly collapsed… Taking a deep breath, Terry started to test a new route in small steps.”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“Moral: Careful courage makes room for useful change.”</a:t>
            </a:r>
          </a:p>
        </p:txBody>
      </p:sp>
      <p:sp>
        <p:nvSpPr>
          <p:cNvPr id="6" name="sample-e3-note">
            <a:extLst xmlns:a="http://schemas.openxmlformats.org/drawingml/2006/main">
              <a:ext uri="{FF2B5EF4-FFF2-40B4-BE49-F238E27FC236}">
                <a16:creationId xmlns:a16="http://schemas.microsoft.com/office/drawing/2014/main" id="{84E28A2D-E938-49D1-9825-410ACC22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GJ20: 236 từ, Gemma 9,00; output trực tiếp từ checkpoint.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CF1CEE2-28D4-4EF6-8554-D8D5E0C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95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ample-e5-title">
            <a:extLst xmlns:a="http://schemas.openxmlformats.org/drawingml/2006/main">
              <a:ext uri="{FF2B5EF4-FFF2-40B4-BE49-F238E27FC236}">
                <a16:creationId xmlns:a16="http://schemas.microsoft.com/office/drawing/2014/main" id="{B3FC96EB-D91D-4A14-914F-626D6D4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</p:txBody>
      </p:sp>
      <p:sp>
        <p:nvSpPr>
          <p:cNvPr id="9" name="sample-e5">
            <a:extLst xmlns:a="http://schemas.openxmlformats.org/drawingml/2006/main">
              <a:ext uri="{FF2B5EF4-FFF2-40B4-BE49-F238E27FC236}">
                <a16:creationId xmlns:a16="http://schemas.microsoft.com/office/drawing/2014/main" id="{F40909FD-F009-4BAA-9B9C-A91CA18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19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GJ06 phát hiện fox track nhưng fox lại cảnh báo về bão; outcome “late bell warns everyone” bị đổi.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i="1">
                <a:solidFill>
                  <a:srgbClr val="515761"/>
                </a:solidFill>
                <a:latin typeface="Helvetica Neue"/>
                <a:ea typeface="Helvetica Neue"/>
                <a:cs typeface="Helvetica Neue"/>
              </a:rPr>
              <a:t>Truyện kết thúc bằng dòng “Moral:” rỗng; Gemma chấm 6,50.</a:t>
            </a:r>
          </a:p>
        </p:txBody>
      </p:sp>
      <p:sp>
        <p:nvSpPr>
          <p:cNvPr id="10" name="sample-e5-note">
            <a:extLst xmlns:a="http://schemas.openxmlformats.org/drawingml/2006/main">
              <a:ext uri="{FF2B5EF4-FFF2-40B4-BE49-F238E27FC236}">
                <a16:creationId xmlns:a16="http://schemas.microsoft.com/office/drawing/2014/main" id="{951909DE-6D85-4D48-A790-E388158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mode: điều kiện bị biến đổi và footer chưa hoàn tất.</a:t>
            </a:r>
          </a:p>
        </p:txBody>
      </p:sp>
    </p:spTree>
    <p:extLst>
      <p:ext uri="{BB962C8B-B14F-4D97-AF65-F5344CB8AC3E}">
        <p14:creationId xmlns:p14="http://schemas.microsoft.com/office/powerpoint/2010/main" val="1935875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2026-07-26T09:35:32.0580000Z</dcterms:created>
  <dcterms:modified xsi:type="dcterms:W3CDTF">2026-07-26T09:35:32.0580000Z</dcterms:modified>
</coreProperties>
</file>