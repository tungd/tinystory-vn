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Điểm vòng chung</c:v>
                </c:pt>
              </c:strCache>
            </c:strRef>
          </c:tx>
          <c:spPr>
            <a:solidFill>
              <a:srgbClr val="196B24"/>
            </a:solidFill>
            <a:effectLst/>
          </c:spPr>
          <c:invertIfNegative val="0"/>
          <c:dLbls>
            <c:numFmt formatCode="#,##0" sourceLinked="0"/>
            <c:txPr>
              <a:bodyPr/>
              <a:lstStyle/>
              <a:p>
                <a:pPr>
                  <a:defRPr b="1" i="0" strike="noStrike" sz="13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196B24"/>
              </a:solidFill>
              <a:effectLst/>
            </c:spPr>
          </c:dPt>
          <c:dPt>
            <c:idx val="1"/>
            <c:invertIfNegative val="0"/>
            <c:bubble3D val="0"/>
            <c:spPr>
              <a:solidFill>
                <a:srgbClr val="196B24"/>
              </a:solidFill>
              <a:effectLst/>
            </c:spPr>
          </c:dPt>
          <c:dPt>
            <c:idx val="2"/>
            <c:invertIfNegative val="0"/>
            <c:bubble3D val="0"/>
            <c:spPr>
              <a:solidFill>
                <a:srgbClr val="3D8DFF"/>
              </a:solidFill>
              <a:effectLst/>
            </c:spPr>
          </c:dPt>
          <c:dPt>
            <c:idx val="3"/>
            <c:invertIfNegative val="0"/>
            <c:bubble3D val="0"/>
            <c:spPr>
              <a:solidFill>
                <a:srgbClr val="3D8DFF"/>
              </a:solidFill>
              <a:effectLst/>
            </c:spPr>
          </c:dPt>
          <c:dPt>
            <c:idx val="4"/>
            <c:invertIfNegative val="0"/>
            <c:bubble3D val="0"/>
            <c:spPr>
              <a:solidFill>
                <a:srgbClr val="3D8DFF"/>
              </a:solidFill>
              <a:effectLst/>
            </c:spPr>
          </c:dPt>
          <c:cat>
            <c:multiLvlStrRef>
              <c:f>Sheet1!$A$2:$A$6</c:f>
              <c:multiLvlStrCache>
                <c:ptCount val="5"/>
                <c:lvl>
                  <c:pt idx="0">
                    <c:v>E4 · 3B+Repair</c:v>
                  </c:pt>
                  <c:pt idx="1">
                    <c:v>E5 · 3B QLoRA</c:v>
                  </c:pt>
                  <c:pt idx="2">
                    <c:v>E1 · 60M</c:v>
                  </c:pt>
                  <c:pt idx="3">
                    <c:v>E2 · 63M</c:v>
                  </c:pt>
                  <c:pt idx="4">
                    <c:v>E3 · 135M</c:v>
                  </c:pt>
                </c:lvl>
              </c:multiLvlStrCache>
            </c:multiLvlStrRef>
          </c:cat>
          <c:val>
            <c:numRef>
              <c:f>Sheet1!$B$2:$B$6</c:f>
              <c:numCache>
                <c:formatCode>General</c:formatCode>
                <c:ptCount val="5"/>
                <c:pt idx="0">
                  <c:v>9.2</c:v>
                </c:pt>
                <c:pt idx="1">
                  <c:v>8.44</c:v>
                </c:pt>
                <c:pt idx="2">
                  <c:v>3.3</c:v>
                </c:pt>
                <c:pt idx="3">
                  <c:v>3.18</c:v>
                </c:pt>
                <c:pt idx="4">
                  <c:v>2.81</c:v>
                </c:pt>
              </c:numCache>
            </c:numRef>
          </c:val>
        </c:ser>
        <c:dLbls>
          <c:numFmt formatCode="#,##0" sourceLinked="0"/>
          <c:txPr>
            <a:bodyPr/>
            <a:lstStyle/>
            <a:p>
              <a:pPr>
                <a:defRPr b="1" i="0" strike="noStrike" sz="13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8229600" cy="365760"/>
          </a:xfrm>
          <a:prstGeom prst="rect">
            <a:avLst/>
          </a:prstGeom>
          <a:noFill/>
          <a:ln/>
        </p:spPr>
        <p:txBody>
          <a:bodyPr wrap="square" rtlCol="0" anchor="ctr"/>
          <a:lstStyle/>
          <a:p>
            <a:pPr indent="0" marL="0">
              <a:buNone/>
            </a:pPr>
            <a:r>
              <a:rPr lang="en-US" sz="1500" spc="100" kern="0" dirty="0">
                <a:solidFill>
                  <a:srgbClr val="515761"/>
                </a:solidFill>
                <a:latin typeface="Arial" pitchFamily="34" charset="0"/>
                <a:ea typeface="Arial" pitchFamily="34" charset="-122"/>
                <a:cs typeface="Arial" pitchFamily="34" charset="-120"/>
              </a:rPr>
              <a:t>BÁO CÁO TỔNG HỢP · NHÓM 16 · IT5410</a:t>
            </a:r>
            <a:endParaRPr lang="en-US" sz="1500" dirty="0"/>
          </a:p>
        </p:txBody>
      </p:sp>
      <p:sp>
        <p:nvSpPr>
          <p:cNvPr id="3" name="Text 1"/>
          <p:cNvSpPr/>
          <p:nvPr/>
        </p:nvSpPr>
        <p:spPr>
          <a:xfrm>
            <a:off x="640080" y="1554480"/>
            <a:ext cx="10515600" cy="2011680"/>
          </a:xfrm>
          <a:prstGeom prst="rect">
            <a:avLst/>
          </a:prstGeom>
          <a:noFill/>
          <a:ln/>
        </p:spPr>
        <p:txBody>
          <a:bodyPr wrap="square" rtlCol="0" anchor="ctr"/>
          <a:lstStyle/>
          <a:p>
            <a:pPr indent="0" marL="0">
              <a:lnSpc>
                <a:spcPct val="102000"/>
              </a:lnSpc>
              <a:buNone/>
            </a:pPr>
            <a:r>
              <a:rPr lang="en-US" sz="4600" b="1" dirty="0">
                <a:solidFill>
                  <a:srgbClr val="000000"/>
                </a:solidFill>
                <a:latin typeface="Arial" pitchFamily="34" charset="0"/>
                <a:ea typeface="Arial" pitchFamily="34" charset="-122"/>
                <a:cs typeface="Arial" pitchFamily="34" charset="-120"/>
              </a:rPr>
              <a:t>Đánh giá thực nghiệm</a:t>
            </a:r>
            <a:endParaRPr lang="en-US" sz="4600" dirty="0"/>
          </a:p>
          <a:p>
            <a:pPr indent="0" marL="0">
              <a:lnSpc>
                <a:spcPct val="102000"/>
              </a:lnSpc>
              <a:buNone/>
            </a:pPr>
            <a:r>
              <a:rPr lang="en-US" sz="4600" b="1" dirty="0">
                <a:solidFill>
                  <a:srgbClr val="000000"/>
                </a:solidFill>
                <a:latin typeface="Arial" pitchFamily="34" charset="0"/>
                <a:ea typeface="Arial" pitchFamily="34" charset="-122"/>
                <a:cs typeface="Arial" pitchFamily="34" charset="-120"/>
              </a:rPr>
              <a:t>các mô hình sinh truyện ngụ ngôn theo điều kiện</a:t>
            </a:r>
            <a:endParaRPr lang="en-US" sz="4600" dirty="0"/>
          </a:p>
        </p:txBody>
      </p:sp>
      <p:sp>
        <p:nvSpPr>
          <p:cNvPr id="4" name="Text 2"/>
          <p:cNvSpPr/>
          <p:nvPr/>
        </p:nvSpPr>
        <p:spPr>
          <a:xfrm>
            <a:off x="640080" y="3977640"/>
            <a:ext cx="10789920" cy="457200"/>
          </a:xfrm>
          <a:prstGeom prst="rect">
            <a:avLst/>
          </a:prstGeom>
          <a:noFill/>
          <a:ln/>
        </p:spPr>
        <p:txBody>
          <a:bodyPr wrap="square" rtlCol="0" anchor="ctr"/>
          <a:lstStyle/>
          <a:p>
            <a:pPr indent="0" marL="0">
              <a:buNone/>
            </a:pPr>
            <a:r>
              <a:rPr lang="en-US" sz="2000" dirty="0">
                <a:solidFill>
                  <a:srgbClr val="515761"/>
                </a:solidFill>
                <a:latin typeface="Arial" pitchFamily="34" charset="0"/>
                <a:ea typeface="Arial" pitchFamily="34" charset="-122"/>
                <a:cs typeface="Arial" pitchFamily="34" charset="-120"/>
              </a:rPr>
              <a:t>Năm hệ thống độc lập · tiền huấn luyện từ đầu · PEFT/QLoRA · kiểm soát đầu ra</a:t>
            </a:r>
            <a:endParaRPr lang="en-US" sz="2000" dirty="0"/>
          </a:p>
        </p:txBody>
      </p:sp>
      <p:sp>
        <p:nvSpPr>
          <p:cNvPr id="5" name="Text 3"/>
          <p:cNvSpPr/>
          <p:nvPr/>
        </p:nvSpPr>
        <p:spPr>
          <a:xfrm>
            <a:off x="640080" y="5029200"/>
            <a:ext cx="10789920" cy="914400"/>
          </a:xfrm>
          <a:prstGeom prst="rect">
            <a:avLst/>
          </a:prstGeom>
          <a:noFill/>
          <a:ln/>
        </p:spPr>
        <p:txBody>
          <a:bodyPr wrap="square" rtlCol="0" anchor="ctr"/>
          <a:lstStyle/>
          <a:p>
            <a:pPr indent="0" marL="0">
              <a:spcAft>
                <a:spcPts val="600"/>
              </a:spcAft>
              <a:buNone/>
            </a:pPr>
            <a:r>
              <a:rPr lang="en-US" sz="1350" dirty="0">
                <a:solidFill>
                  <a:srgbClr val="000000"/>
                </a:solidFill>
                <a:latin typeface="Arial" pitchFamily="34" charset="0"/>
                <a:ea typeface="Arial" pitchFamily="34" charset="-122"/>
                <a:cs typeface="Arial" pitchFamily="34" charset="-120"/>
              </a:rPr>
              <a:t>20252611M · Lê Hải Triều      20252612M · Đào Đức Tùng      20252610M · Nguyễn Công Thanh</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20252130M · Nguyễn Thị Phương Liên      20252737M · Nguyễn Đình Lê Hoàng</a:t>
            </a:r>
            <a:endParaRPr lang="en-US" sz="1350" dirty="0"/>
          </a:p>
        </p:txBody>
      </p:sp>
      <p:pic>
        <p:nvPicPr>
          <p:cNvPr id="6" name="Image 0" descr="/Users/trieulh/Documents/Master/20252B_IT5410/Final/output/presentation/assets/hust-logo.png">    </p:cNvPr>
          <p:cNvPicPr>
            <a:picLocks noChangeAspect="1"/>
          </p:cNvPicPr>
          <p:nvPr/>
        </p:nvPicPr>
        <p:blipFill>
          <a:blip r:embed="rId1"/>
          <a:srcRect l="0" r="0" t="0" b="0"/>
          <a:stretch/>
        </p:blipFill>
        <p:spPr>
          <a:xfrm>
            <a:off x="9966960" y="457200"/>
            <a:ext cx="173736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Đề tài và bài toán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600200"/>
            <a:ext cx="6492240" cy="1737360"/>
          </a:xfrm>
          <a:prstGeom prst="rect">
            <a:avLst/>
          </a:prstGeom>
          <a:noFill/>
          <a:ln/>
        </p:spPr>
        <p:txBody>
          <a:bodyPr wrap="square" rtlCol="0" anchor="ctr"/>
          <a:lstStyle/>
          <a:p>
            <a:pPr indent="0" marL="0">
              <a:lnSpc>
                <a:spcPct val="105000"/>
              </a:lnSpc>
              <a:buNone/>
            </a:pPr>
            <a:r>
              <a:rPr lang="en-US" sz="1500" dirty="0">
                <a:solidFill>
                  <a:srgbClr val="000000"/>
                </a:solidFill>
                <a:latin typeface="Arial" pitchFamily="34" charset="0"/>
                <a:ea typeface="Arial" pitchFamily="34" charset="-122"/>
                <a:cs typeface="Arial" pitchFamily="34" charset="-120"/>
              </a:rPr>
              <a:t>Tác vụ là sinh truyện ngụ ngôn thiếu nhi bằng tiếng Anh, có điều kiện theo năm trường tường thuật, với yêu cầu chạy được cục bộ. Thách thức trọng tâm không nằm ở độ trôi chảy: một truyện đọc mượt vẫn có thể bỏ qua các điều kiện được yêu cầu. Câu hỏi đặt ra là các điều kiện có thực sự chi phối diễn biến hay chỉ xuất hiện như từ khóa.</a:t>
            </a:r>
            <a:endParaRPr lang="en-US" sz="1500" dirty="0"/>
          </a:p>
        </p:txBody>
      </p:sp>
      <p:sp>
        <p:nvSpPr>
          <p:cNvPr id="7" name="Text 4"/>
          <p:cNvSpPr/>
          <p:nvPr/>
        </p:nvSpPr>
        <p:spPr>
          <a:xfrm>
            <a:off x="402336" y="3429000"/>
            <a:ext cx="6400800" cy="365760"/>
          </a:xfrm>
          <a:prstGeom prst="rect">
            <a:avLst/>
          </a:prstGeom>
          <a:noFill/>
          <a:ln/>
        </p:spPr>
        <p:txBody>
          <a:bodyPr wrap="square" rtlCol="0" anchor="ctr"/>
          <a:lstStyle/>
          <a:p>
            <a:pPr indent="0" marL="0">
              <a:buNone/>
            </a:pPr>
            <a:r>
              <a:rPr lang="en-US" sz="1500" b="1" dirty="0">
                <a:solidFill>
                  <a:srgbClr val="156082"/>
                </a:solidFill>
                <a:latin typeface="Arial" pitchFamily="34" charset="0"/>
                <a:ea typeface="Arial" pitchFamily="34" charset="-122"/>
                <a:cs typeface="Arial" pitchFamily="34" charset="-120"/>
              </a:rPr>
              <a:t>Bốn câu hỏi nghiên cứu</a:t>
            </a:r>
            <a:endParaRPr lang="en-US" sz="1500" dirty="0"/>
          </a:p>
        </p:txBody>
      </p:sp>
      <p:sp>
        <p:nvSpPr>
          <p:cNvPr id="8" name="Text 5"/>
          <p:cNvSpPr/>
          <p:nvPr/>
        </p:nvSpPr>
        <p:spPr>
          <a:xfrm>
            <a:off x="402336" y="3840480"/>
            <a:ext cx="11338560" cy="2377440"/>
          </a:xfrm>
          <a:prstGeom prst="rect">
            <a:avLst/>
          </a:prstGeom>
          <a:noFill/>
          <a:ln/>
        </p:spPr>
        <p:txBody>
          <a:bodyPr wrap="square" rtlCol="0" anchor="ctr"/>
          <a:lstStyle/>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RQ1 — Năng lực nền: tiền huấn luyện từ đầu ở quy mô 60–63M khác gì so với mô hình đã tiền huấn luyện 135M–3B về độ trôi chảy và tuân thủ điều kiện.</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RQ2 — Can thiệp huấn luyện: ngân sách token, phân bố dữ liệu, vị trí LoRA và số chu kỳ ảnh hưởng ra sao đến chất lượng.</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RQ3 — Sử dụng điều kiện: mô hình thay đổi diễn biến theo điều kiện, hay chỉ tái tạo từ khóa quen thuộc.</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RQ4 — Kiểm soát lúc suy luận: validation, chuẩn hóa định dạng và rewrite đóng góp bao nhiêu so với năng lực của checkpoint.</a:t>
            </a:r>
            <a:endParaRPr lang="en-US" sz="1450" dirty="0"/>
          </a:p>
        </p:txBody>
      </p:sp>
      <p:sp>
        <p:nvSpPr>
          <p:cNvPr id="9" name="Shape 6"/>
          <p:cNvSpPr/>
          <p:nvPr/>
        </p:nvSpPr>
        <p:spPr>
          <a:xfrm>
            <a:off x="7178040" y="1600200"/>
            <a:ext cx="0" cy="1691640"/>
          </a:xfrm>
          <a:prstGeom prst="line">
            <a:avLst/>
          </a:prstGeom>
          <a:noFill/>
          <a:ln w="12700">
            <a:solidFill>
              <a:srgbClr val="B8BCC4"/>
            </a:solidFill>
            <a:prstDash val="solid"/>
          </a:ln>
        </p:spPr>
      </p:sp>
      <p:sp>
        <p:nvSpPr>
          <p:cNvPr id="10" name="Text 7"/>
          <p:cNvSpPr/>
          <p:nvPr/>
        </p:nvSpPr>
        <p:spPr>
          <a:xfrm>
            <a:off x="7452360" y="1600200"/>
            <a:ext cx="4114800" cy="320040"/>
          </a:xfrm>
          <a:prstGeom prst="rect">
            <a:avLst/>
          </a:prstGeom>
          <a:noFill/>
          <a:ln/>
        </p:spPr>
        <p:txBody>
          <a:bodyPr wrap="square" rtlCol="0" anchor="ctr"/>
          <a:lstStyle/>
          <a:p>
            <a:pPr indent="0" marL="0">
              <a:buNone/>
            </a:pPr>
            <a:r>
              <a:rPr lang="en-US" sz="1500" b="1" dirty="0">
                <a:solidFill>
                  <a:srgbClr val="156082"/>
                </a:solidFill>
                <a:latin typeface="Arial" pitchFamily="34" charset="0"/>
                <a:ea typeface="Arial" pitchFamily="34" charset="-122"/>
                <a:cs typeface="Arial" pitchFamily="34" charset="-120"/>
              </a:rPr>
              <a:t>Năm trường điều kiện</a:t>
            </a:r>
            <a:endParaRPr lang="en-US" sz="1500" dirty="0"/>
          </a:p>
        </p:txBody>
      </p:sp>
      <p:sp>
        <p:nvSpPr>
          <p:cNvPr id="11" name="Text 8"/>
          <p:cNvSpPr/>
          <p:nvPr/>
        </p:nvSpPr>
        <p:spPr>
          <a:xfrm>
            <a:off x="7452360" y="2011680"/>
            <a:ext cx="4206240" cy="1280160"/>
          </a:xfrm>
          <a:prstGeom prst="rect">
            <a:avLst/>
          </a:prstGeom>
          <a:noFill/>
          <a:ln/>
        </p:spPr>
        <p:txBody>
          <a:bodyPr wrap="square" rtlCol="0" anchor="ctr"/>
          <a:lstStyle/>
          <a:p>
            <a:pPr indent="0" marL="0">
              <a:lnSpc>
                <a:spcPct val="110000"/>
              </a:lnSpc>
              <a:spcAft>
                <a:spcPts val="800"/>
              </a:spcAft>
              <a:buNone/>
            </a:pPr>
            <a:r>
              <a:rPr lang="en-US" sz="1900" dirty="0">
                <a:solidFill>
                  <a:srgbClr val="000000"/>
                </a:solidFill>
                <a:latin typeface="Arial" pitchFamily="34" charset="0"/>
                <a:ea typeface="Arial" pitchFamily="34" charset="-122"/>
                <a:cs typeface="Arial" pitchFamily="34" charset="-120"/>
              </a:rPr>
              <a:t>Nhân vật  ·  Bối cảnh</a:t>
            </a:r>
            <a:endParaRPr lang="en-US" sz="1900" dirty="0"/>
          </a:p>
          <a:p>
            <a:pPr indent="0" marL="0">
              <a:lnSpc>
                <a:spcPct val="110000"/>
              </a:lnSpc>
              <a:spcAft>
                <a:spcPts val="800"/>
              </a:spcAft>
              <a:buNone/>
            </a:pPr>
            <a:r>
              <a:rPr lang="en-US" sz="1900" dirty="0">
                <a:solidFill>
                  <a:srgbClr val="000000"/>
                </a:solidFill>
                <a:latin typeface="Arial" pitchFamily="34" charset="0"/>
                <a:ea typeface="Arial" pitchFamily="34" charset="-122"/>
                <a:cs typeface="Arial" pitchFamily="34" charset="-120"/>
              </a:rPr>
              <a:t>Thử thách  ·  Kết quả</a:t>
            </a:r>
            <a:endParaRPr lang="en-US" sz="1900" dirty="0"/>
          </a:p>
          <a:p>
            <a:pPr indent="0" marL="0">
              <a:lnSpc>
                <a:spcPct val="110000"/>
              </a:lnSpc>
              <a:buNone/>
            </a:pPr>
            <a:r>
              <a:rPr lang="en-US" sz="1900" dirty="0">
                <a:solidFill>
                  <a:srgbClr val="000000"/>
                </a:solidFill>
                <a:latin typeface="Arial" pitchFamily="34" charset="0"/>
                <a:ea typeface="Arial" pitchFamily="34" charset="-122"/>
                <a:cs typeface="Arial" pitchFamily="34" charset="-120"/>
              </a:rPr>
              <a:t>Bài học (Moral)</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Dữ liệu và cách cài cắm điều kiện đầu vào</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3</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365760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 3 triệu truyện</a:t>
            </a:r>
            <a:endParaRPr lang="en-US" sz="3000" dirty="0"/>
          </a:p>
        </p:txBody>
      </p:sp>
      <p:sp>
        <p:nvSpPr>
          <p:cNvPr id="7" name="Text 4"/>
          <p:cNvSpPr/>
          <p:nvPr/>
        </p:nvSpPr>
        <p:spPr>
          <a:xfrm>
            <a:off x="402336" y="2103120"/>
            <a:ext cx="365760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TF1-EN-3M (klusai/ds-tf1-en-3m): truyện ngụ ngôn tổng hợp có bài học (Nadas et al., 2025, arXiv 2504.20605).</a:t>
            </a:r>
            <a:endParaRPr lang="en-US" sz="1350" dirty="0"/>
          </a:p>
        </p:txBody>
      </p:sp>
      <p:sp>
        <p:nvSpPr>
          <p:cNvPr id="8" name="Text 5"/>
          <p:cNvSpPr/>
          <p:nvPr/>
        </p:nvSpPr>
        <p:spPr>
          <a:xfrm>
            <a:off x="4261104" y="1572768"/>
            <a:ext cx="365760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5 trường điều kiện</a:t>
            </a:r>
            <a:endParaRPr lang="en-US" sz="3000" dirty="0"/>
          </a:p>
        </p:txBody>
      </p:sp>
      <p:sp>
        <p:nvSpPr>
          <p:cNvPr id="9" name="Text 6"/>
          <p:cNvSpPr/>
          <p:nvPr/>
        </p:nvSpPr>
        <p:spPr>
          <a:xfrm>
            <a:off x="4261104" y="2103120"/>
            <a:ext cx="365760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Nhân vật · Bối cảnh · Thử thách · Kết quả · Bài học, đi kèm mỗi truyện.</a:t>
            </a:r>
            <a:endParaRPr lang="en-US" sz="1350" dirty="0"/>
          </a:p>
        </p:txBody>
      </p:sp>
      <p:sp>
        <p:nvSpPr>
          <p:cNvPr id="10" name="Text 7"/>
          <p:cNvSpPr/>
          <p:nvPr/>
        </p:nvSpPr>
        <p:spPr>
          <a:xfrm>
            <a:off x="8119872" y="1572768"/>
            <a:ext cx="361188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934M token</a:t>
            </a:r>
            <a:endParaRPr lang="en-US" sz="3000" dirty="0"/>
          </a:p>
        </p:txBody>
      </p:sp>
      <p:sp>
        <p:nvSpPr>
          <p:cNvPr id="11" name="Text 8"/>
          <p:cNvSpPr/>
          <p:nvPr/>
        </p:nvSpPr>
        <p:spPr>
          <a:xfrm>
            <a:off x="8119872" y="2103120"/>
            <a:ext cx="361188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Toàn bộ TF1 sau lọc: 2,34M truyện, ngữ cảnh 1.024, dùng pretrain E1 60M.</a:t>
            </a:r>
            <a:endParaRPr lang="en-US" sz="1350" dirty="0"/>
          </a:p>
        </p:txBody>
      </p:sp>
      <p:sp>
        <p:nvSpPr>
          <p:cNvPr id="12" name="Shape 9"/>
          <p:cNvSpPr/>
          <p:nvPr/>
        </p:nvSpPr>
        <p:spPr>
          <a:xfrm>
            <a:off x="402336" y="2880360"/>
            <a:ext cx="11384280" cy="0"/>
          </a:xfrm>
          <a:prstGeom prst="line">
            <a:avLst/>
          </a:prstGeom>
          <a:noFill/>
          <a:ln w="12700">
            <a:solidFill>
              <a:srgbClr val="B8BCC4"/>
            </a:solidFill>
            <a:prstDash val="solid"/>
          </a:ln>
        </p:spPr>
      </p:sp>
      <p:sp>
        <p:nvSpPr>
          <p:cNvPr id="13" name="Text 10"/>
          <p:cNvSpPr/>
          <p:nvPr/>
        </p:nvSpPr>
        <p:spPr>
          <a:xfrm>
            <a:off x="402336" y="3017520"/>
            <a:ext cx="6400800" cy="320040"/>
          </a:xfrm>
          <a:prstGeom prst="rect">
            <a:avLst/>
          </a:prstGeom>
          <a:noFill/>
          <a:ln/>
        </p:spPr>
        <p:txBody>
          <a:bodyPr wrap="square" rtlCol="0" anchor="ctr"/>
          <a:lstStyle/>
          <a:p>
            <a:pPr indent="0" marL="0">
              <a:buNone/>
            </a:pPr>
            <a:r>
              <a:rPr lang="en-US" sz="1500" b="1" dirty="0">
                <a:solidFill>
                  <a:srgbClr val="156082"/>
                </a:solidFill>
                <a:latin typeface="Arial" pitchFamily="34" charset="0"/>
                <a:ea typeface="Arial" pitchFamily="34" charset="-122"/>
                <a:cs typeface="Arial" pitchFamily="34" charset="-120"/>
              </a:rPr>
              <a:t>Cấu trúc bản ghi và quy mô sử dụng</a:t>
            </a:r>
            <a:endParaRPr lang="en-US" sz="1500" dirty="0"/>
          </a:p>
        </p:txBody>
      </p:sp>
      <p:sp>
        <p:nvSpPr>
          <p:cNvPr id="14" name="Text 11"/>
          <p:cNvSpPr/>
          <p:nvPr/>
        </p:nvSpPr>
        <p:spPr>
          <a:xfrm>
            <a:off x="402336" y="3401568"/>
            <a:ext cx="6583680" cy="2743200"/>
          </a:xfrm>
          <a:prstGeom prst="rect">
            <a:avLst/>
          </a:prstGeom>
          <a:noFill/>
          <a:ln/>
        </p:spPr>
        <p:txBody>
          <a:bodyPr wrap="square" rtlCol="0" anchor="ctr"/>
          <a:lstStyle/>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Mỗi bản ghi gồm một đề bài có cấu trúc (năm trường) và một truyện thiếu nhi tiếng Anh tương ứng, kèm một dòng bài học tường minh; nguồn công khai trên HuggingFace.</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Mỗi hướng lấy tập con và bộ tách từ riêng: E1 dùng toàn bộ TF1 sau lọc, E3 khoảng 50.000 mẫu, E4 khoảng 10.000 mẫu độ trôi chảy, E5 một nghìn mẫu đầu.</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Vì kích thước tập và bộ tách từ khác nhau nên perplexity không so trực tiếp được giữa các hướng; mọi so sánh liên nhóm đều dùng chung một giám khảo.</a:t>
            </a:r>
            <a:endParaRPr lang="en-US" sz="1450" dirty="0"/>
          </a:p>
        </p:txBody>
      </p:sp>
      <p:sp>
        <p:nvSpPr>
          <p:cNvPr id="15" name="Shape 12"/>
          <p:cNvSpPr/>
          <p:nvPr/>
        </p:nvSpPr>
        <p:spPr>
          <a:xfrm>
            <a:off x="7269480" y="3017520"/>
            <a:ext cx="0" cy="3200400"/>
          </a:xfrm>
          <a:prstGeom prst="line">
            <a:avLst/>
          </a:prstGeom>
          <a:noFill/>
          <a:ln w="12700">
            <a:solidFill>
              <a:srgbClr val="B8BCC4"/>
            </a:solidFill>
            <a:prstDash val="solid"/>
          </a:ln>
        </p:spPr>
      </p:sp>
      <p:sp>
        <p:nvSpPr>
          <p:cNvPr id="16" name="Text 13"/>
          <p:cNvSpPr/>
          <p:nvPr/>
        </p:nvSpPr>
        <p:spPr>
          <a:xfrm>
            <a:off x="7543800" y="3017520"/>
            <a:ext cx="4206240" cy="320040"/>
          </a:xfrm>
          <a:prstGeom prst="rect">
            <a:avLst/>
          </a:prstGeom>
          <a:noFill/>
          <a:ln/>
        </p:spPr>
        <p:txBody>
          <a:bodyPr wrap="square" rtlCol="0" anchor="ctr"/>
          <a:lstStyle/>
          <a:p>
            <a:pPr indent="0" marL="0">
              <a:buNone/>
            </a:pPr>
            <a:r>
              <a:rPr lang="en-US" sz="1500" b="1" dirty="0">
                <a:solidFill>
                  <a:srgbClr val="156082"/>
                </a:solidFill>
                <a:latin typeface="Arial" pitchFamily="34" charset="0"/>
                <a:ea typeface="Arial" pitchFamily="34" charset="-122"/>
                <a:cs typeface="Arial" pitchFamily="34" charset="-120"/>
              </a:rPr>
              <a:t>Cài cắm điều kiện và giữ đa dạng</a:t>
            </a:r>
            <a:endParaRPr lang="en-US" sz="1500" dirty="0"/>
          </a:p>
        </p:txBody>
      </p:sp>
      <p:sp>
        <p:nvSpPr>
          <p:cNvPr id="17" name="Text 14"/>
          <p:cNvSpPr/>
          <p:nvPr/>
        </p:nvSpPr>
        <p:spPr>
          <a:xfrm>
            <a:off x="7543800" y="3401568"/>
            <a:ext cx="4206240" cy="457200"/>
          </a:xfrm>
          <a:prstGeom prst="rect">
            <a:avLst/>
          </a:prstGeom>
          <a:solidFill>
            <a:srgbClr val="F4F6F9"/>
          </a:solidFill>
          <a:ln/>
        </p:spPr>
        <p:txBody>
          <a:bodyPr wrap="square" lIns="76200" tIns="76200" rIns="76200" bIns="76200" rtlCol="0" anchor="ct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&lt;năm trường&gt;  &lt;|story|&gt;  &lt;truyện&gt;  &lt;|end|&gt;</a:t>
            </a:r>
            <a:endParaRPr lang="en-US" sz="1250" dirty="0"/>
          </a:p>
        </p:txBody>
      </p:sp>
      <p:sp>
        <p:nvSpPr>
          <p:cNvPr id="18" name="Text 15"/>
          <p:cNvSpPr/>
          <p:nvPr/>
        </p:nvSpPr>
        <p:spPr>
          <a:xfrm>
            <a:off x="7543800" y="3977640"/>
            <a:ext cx="4206240" cy="2194560"/>
          </a:xfrm>
          <a:prstGeom prst="rect">
            <a:avLst/>
          </a:prstGeom>
          <a:noFill/>
          <a:ln/>
        </p:spPr>
        <p:txBody>
          <a:bodyPr wrap="square" rtlCol="0" anchor="ctr"/>
          <a:lstStyle/>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Với hướng huấn luyện từ đầu (E1, E2), token phần điều kiện bị mask -100 nên loss chỉ tính trên truyện: mô hình học kể chuyện, không học thuộc mẫu đề.</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Hai giao diện điều kiện: E1, E3, E4, E5 dùng đủ năm trường; E2 dùng Nhân vật + Bài học theo hợp đồng V16.</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Giữ đa dạng: slot dropout che ngẫu nhiên từng trường, cap tỷ lệ khuôn mẫu chiếm ưu thế, và khử trùng lặp theo mã băm đề bài.</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Hướng giải quyết: ba nhóm phương pháp trên cùng một tác vụ</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4</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Shape 3"/>
          <p:cNvSpPr/>
          <p:nvPr/>
        </p:nvSpPr>
        <p:spPr>
          <a:xfrm>
            <a:off x="402336" y="1691640"/>
            <a:ext cx="3611880" cy="4114800"/>
          </a:xfrm>
          <a:prstGeom prst="roundRect">
            <a:avLst>
              <a:gd name="adj" fmla="val 2025"/>
            </a:avLst>
          </a:prstGeom>
          <a:solidFill>
            <a:srgbClr val="F4F6F9"/>
          </a:solidFill>
          <a:ln w="12700">
            <a:solidFill>
              <a:srgbClr val="B8BCC4"/>
            </a:solidFill>
            <a:prstDash val="solid"/>
          </a:ln>
        </p:spPr>
      </p:sp>
      <p:sp>
        <p:nvSpPr>
          <p:cNvPr id="7" name="Text 4"/>
          <p:cNvSpPr/>
          <p:nvPr/>
        </p:nvSpPr>
        <p:spPr>
          <a:xfrm>
            <a:off x="630936" y="1920240"/>
            <a:ext cx="3200400" cy="320040"/>
          </a:xfrm>
          <a:prstGeom prst="rect">
            <a:avLst/>
          </a:prstGeom>
          <a:noFill/>
          <a:ln/>
        </p:spPr>
        <p:txBody>
          <a:bodyPr wrap="square" rtlCol="0" anchor="ctr"/>
          <a:lstStyle/>
          <a:p>
            <a:pPr indent="0" marL="0">
              <a:buNone/>
            </a:pPr>
            <a:r>
              <a:rPr lang="en-US" sz="1300" b="1" spc="100" kern="0" dirty="0">
                <a:solidFill>
                  <a:srgbClr val="156082"/>
                </a:solidFill>
                <a:latin typeface="Arial" pitchFamily="34" charset="0"/>
                <a:ea typeface="Arial" pitchFamily="34" charset="-122"/>
                <a:cs typeface="Arial" pitchFamily="34" charset="-120"/>
              </a:rPr>
              <a:t>NHÓM 1 · TIỀN HUẤN LUYỆN TỪ ĐẦU</a:t>
            </a:r>
            <a:endParaRPr lang="en-US" sz="1300" dirty="0"/>
          </a:p>
        </p:txBody>
      </p:sp>
      <p:sp>
        <p:nvSpPr>
          <p:cNvPr id="8" name="Text 5"/>
          <p:cNvSpPr/>
          <p:nvPr/>
        </p:nvSpPr>
        <p:spPr>
          <a:xfrm>
            <a:off x="630936" y="2286000"/>
            <a:ext cx="3200400" cy="731520"/>
          </a:xfrm>
          <a:prstGeom prst="rect">
            <a:avLst/>
          </a:prstGeom>
          <a:noFill/>
          <a:ln/>
        </p:spPr>
        <p:txBody>
          <a:bodyPr wrap="square" rtlCol="0" anchor="ctr"/>
          <a:lstStyle/>
          <a:p>
            <a:pPr indent="0" marL="0">
              <a:lnSpc>
                <a:spcPct val="98000"/>
              </a:lnSpc>
              <a:buNone/>
            </a:pPr>
            <a:r>
              <a:rPr lang="en-US" sz="1650" b="1" dirty="0">
                <a:solidFill>
                  <a:srgbClr val="000000"/>
                </a:solidFill>
                <a:latin typeface="Arial" pitchFamily="34" charset="0"/>
                <a:ea typeface="Arial" pitchFamily="34" charset="-122"/>
                <a:cs typeface="Arial" pitchFamily="34" charset="-120"/>
              </a:rPr>
              <a:t>Xây năng lực nền từ khởi tạo ngẫu nhiên</a:t>
            </a:r>
            <a:endParaRPr lang="en-US" sz="1650" dirty="0"/>
          </a:p>
        </p:txBody>
      </p:sp>
      <p:sp>
        <p:nvSpPr>
          <p:cNvPr id="9" name="Text 6"/>
          <p:cNvSpPr/>
          <p:nvPr/>
        </p:nvSpPr>
        <p:spPr>
          <a:xfrm>
            <a:off x="630936" y="3108960"/>
            <a:ext cx="3200400" cy="1920240"/>
          </a:xfrm>
          <a:prstGeom prst="rect">
            <a:avLst/>
          </a:prstGeom>
          <a:noFill/>
          <a:ln/>
        </p:spPr>
        <p:txBody>
          <a:bodyPr wrap="square" rtlCol="0" anchor="ctr"/>
          <a:lstStyle/>
          <a:p>
            <a:pPr indent="0" marL="0">
              <a:lnSpc>
                <a:spcPct val="105000"/>
              </a:lnSpc>
              <a:buNone/>
            </a:pPr>
            <a:r>
              <a:rPr lang="en-US" sz="1300" dirty="0">
                <a:solidFill>
                  <a:srgbClr val="515761"/>
                </a:solidFill>
                <a:latin typeface="Arial" pitchFamily="34" charset="0"/>
                <a:ea typeface="Arial" pitchFamily="34" charset="-122"/>
                <a:cs typeface="Arial" pitchFamily="34" charset="-120"/>
              </a:rPr>
              <a:t>Thiết kế bộ tách từ, kiến trúc và ngân sách token; kiểm soát toàn bộ chuỗi xử lý để quy kết mỗi thay đổi chất lượng về đúng một nguyên nhân.</a:t>
            </a:r>
            <a:endParaRPr lang="en-US" sz="1300" dirty="0"/>
          </a:p>
        </p:txBody>
      </p:sp>
      <p:sp>
        <p:nvSpPr>
          <p:cNvPr id="10" name="Text 7"/>
          <p:cNvSpPr/>
          <p:nvPr/>
        </p:nvSpPr>
        <p:spPr>
          <a:xfrm>
            <a:off x="630936" y="5257800"/>
            <a:ext cx="3200400" cy="457200"/>
          </a:xfrm>
          <a:prstGeom prst="rect">
            <a:avLst/>
          </a:prstGeom>
          <a:noFill/>
          <a:ln/>
        </p:spPr>
        <p:txBody>
          <a:bodyPr wrap="square" rtlCol="0" anchor="ctr"/>
          <a:lstStyle/>
          <a:p>
            <a:pPr indent="0" marL="0">
              <a:buNone/>
            </a:pPr>
            <a:r>
              <a:rPr lang="en-US" sz="1250" i="1" dirty="0">
                <a:solidFill>
                  <a:srgbClr val="156082"/>
                </a:solidFill>
                <a:latin typeface="Arial" pitchFamily="34" charset="0"/>
                <a:ea typeface="Arial" pitchFamily="34" charset="-122"/>
                <a:cs typeface="Arial" pitchFamily="34" charset="-120"/>
              </a:rPr>
              <a:t>E1 · Llama 30M/60M      E2 · GPT-2 63M</a:t>
            </a:r>
            <a:endParaRPr lang="en-US" sz="1250" dirty="0"/>
          </a:p>
        </p:txBody>
      </p:sp>
      <p:sp>
        <p:nvSpPr>
          <p:cNvPr id="11" name="Shape 8"/>
          <p:cNvSpPr/>
          <p:nvPr/>
        </p:nvSpPr>
        <p:spPr>
          <a:xfrm>
            <a:off x="4288536" y="1691640"/>
            <a:ext cx="3611880" cy="4114800"/>
          </a:xfrm>
          <a:prstGeom prst="roundRect">
            <a:avLst>
              <a:gd name="adj" fmla="val 2025"/>
            </a:avLst>
          </a:prstGeom>
          <a:solidFill>
            <a:srgbClr val="F4F6F9"/>
          </a:solidFill>
          <a:ln w="12700">
            <a:solidFill>
              <a:srgbClr val="B8BCC4"/>
            </a:solidFill>
            <a:prstDash val="solid"/>
          </a:ln>
        </p:spPr>
      </p:sp>
      <p:sp>
        <p:nvSpPr>
          <p:cNvPr id="12" name="Text 9"/>
          <p:cNvSpPr/>
          <p:nvPr/>
        </p:nvSpPr>
        <p:spPr>
          <a:xfrm>
            <a:off x="4517136" y="1920240"/>
            <a:ext cx="3200400" cy="320040"/>
          </a:xfrm>
          <a:prstGeom prst="rect">
            <a:avLst/>
          </a:prstGeom>
          <a:noFill/>
          <a:ln/>
        </p:spPr>
        <p:txBody>
          <a:bodyPr wrap="square" rtlCol="0" anchor="ctr"/>
          <a:lstStyle/>
          <a:p>
            <a:pPr indent="0" marL="0">
              <a:buNone/>
            </a:pPr>
            <a:r>
              <a:rPr lang="en-US" sz="1300" b="1" spc="100" kern="0" dirty="0">
                <a:solidFill>
                  <a:srgbClr val="E97132"/>
                </a:solidFill>
                <a:latin typeface="Arial" pitchFamily="34" charset="0"/>
                <a:ea typeface="Arial" pitchFamily="34" charset="-122"/>
                <a:cs typeface="Arial" pitchFamily="34" charset="-120"/>
              </a:rPr>
              <a:t>NHÓM 2 · PEFT / QLoRA</a:t>
            </a:r>
            <a:endParaRPr lang="en-US" sz="1300" dirty="0"/>
          </a:p>
        </p:txBody>
      </p:sp>
      <p:sp>
        <p:nvSpPr>
          <p:cNvPr id="13" name="Text 10"/>
          <p:cNvSpPr/>
          <p:nvPr/>
        </p:nvSpPr>
        <p:spPr>
          <a:xfrm>
            <a:off x="4517136" y="2286000"/>
            <a:ext cx="3200400" cy="731520"/>
          </a:xfrm>
          <a:prstGeom prst="rect">
            <a:avLst/>
          </a:prstGeom>
          <a:noFill/>
          <a:ln/>
        </p:spPr>
        <p:txBody>
          <a:bodyPr wrap="square" rtlCol="0" anchor="ctr"/>
          <a:lstStyle/>
          <a:p>
            <a:pPr indent="0" marL="0">
              <a:lnSpc>
                <a:spcPct val="98000"/>
              </a:lnSpc>
              <a:buNone/>
            </a:pPr>
            <a:r>
              <a:rPr lang="en-US" sz="1650" b="1" dirty="0">
                <a:solidFill>
                  <a:srgbClr val="000000"/>
                </a:solidFill>
                <a:latin typeface="Arial" pitchFamily="34" charset="0"/>
                <a:ea typeface="Arial" pitchFamily="34" charset="-122"/>
                <a:cs typeface="Arial" pitchFamily="34" charset="-120"/>
              </a:rPr>
              <a:t>Thích nghi một mô hình đã tiền huấn luyện</a:t>
            </a:r>
            <a:endParaRPr lang="en-US" sz="1650" dirty="0"/>
          </a:p>
        </p:txBody>
      </p:sp>
      <p:sp>
        <p:nvSpPr>
          <p:cNvPr id="14" name="Text 11"/>
          <p:cNvSpPr/>
          <p:nvPr/>
        </p:nvSpPr>
        <p:spPr>
          <a:xfrm>
            <a:off x="4517136" y="3108960"/>
            <a:ext cx="3200400" cy="1920240"/>
          </a:xfrm>
          <a:prstGeom prst="rect">
            <a:avLst/>
          </a:prstGeom>
          <a:noFill/>
          <a:ln/>
        </p:spPr>
        <p:txBody>
          <a:bodyPr wrap="square" rtlCol="0" anchor="ctr"/>
          <a:lstStyle/>
          <a:p>
            <a:pPr indent="0" marL="0">
              <a:lnSpc>
                <a:spcPct val="105000"/>
              </a:lnSpc>
              <a:buNone/>
            </a:pPr>
            <a:r>
              <a:rPr lang="en-US" sz="1300" dirty="0">
                <a:solidFill>
                  <a:srgbClr val="515761"/>
                </a:solidFill>
                <a:latin typeface="Arial" pitchFamily="34" charset="0"/>
                <a:ea typeface="Arial" pitchFamily="34" charset="-122"/>
                <a:cs typeface="Arial" pitchFamily="34" charset="-120"/>
              </a:rPr>
              <a:t>Giữ mô hình nền, chỉ học các cập nhật hạng thấp; khảo sát vị trí đặt adapter và ngân sách huấn luyện để đạt hiệu quả với chi phí tham số nhỏ.</a:t>
            </a:r>
            <a:endParaRPr lang="en-US" sz="1300" dirty="0"/>
          </a:p>
        </p:txBody>
      </p:sp>
      <p:sp>
        <p:nvSpPr>
          <p:cNvPr id="15" name="Text 12"/>
          <p:cNvSpPr/>
          <p:nvPr/>
        </p:nvSpPr>
        <p:spPr>
          <a:xfrm>
            <a:off x="4517136" y="5257800"/>
            <a:ext cx="3200400" cy="457200"/>
          </a:xfrm>
          <a:prstGeom prst="rect">
            <a:avLst/>
          </a:prstGeom>
          <a:noFill/>
          <a:ln/>
        </p:spPr>
        <p:txBody>
          <a:bodyPr wrap="square" rtlCol="0" anchor="ctr"/>
          <a:lstStyle/>
          <a:p>
            <a:pPr indent="0" marL="0">
              <a:buNone/>
            </a:pPr>
            <a:r>
              <a:rPr lang="en-US" sz="1250" i="1" dirty="0">
                <a:solidFill>
                  <a:srgbClr val="E97132"/>
                </a:solidFill>
                <a:latin typeface="Arial" pitchFamily="34" charset="0"/>
                <a:ea typeface="Arial" pitchFamily="34" charset="-122"/>
                <a:cs typeface="Arial" pitchFamily="34" charset="-120"/>
              </a:rPr>
              <a:t>E3 · SmolLM2-135M + LoRA      E5 · Llama 3.2 3B + QLoRA</a:t>
            </a:r>
            <a:endParaRPr lang="en-US" sz="1250" dirty="0"/>
          </a:p>
        </p:txBody>
      </p:sp>
      <p:sp>
        <p:nvSpPr>
          <p:cNvPr id="16" name="Shape 13"/>
          <p:cNvSpPr/>
          <p:nvPr/>
        </p:nvSpPr>
        <p:spPr>
          <a:xfrm>
            <a:off x="8174736" y="1691640"/>
            <a:ext cx="3611880" cy="4114800"/>
          </a:xfrm>
          <a:prstGeom prst="roundRect">
            <a:avLst>
              <a:gd name="adj" fmla="val 2025"/>
            </a:avLst>
          </a:prstGeom>
          <a:solidFill>
            <a:srgbClr val="F4F6F9"/>
          </a:solidFill>
          <a:ln w="12700">
            <a:solidFill>
              <a:srgbClr val="B8BCC4"/>
            </a:solidFill>
            <a:prstDash val="solid"/>
          </a:ln>
        </p:spPr>
      </p:sp>
      <p:sp>
        <p:nvSpPr>
          <p:cNvPr id="17" name="Text 14"/>
          <p:cNvSpPr/>
          <p:nvPr/>
        </p:nvSpPr>
        <p:spPr>
          <a:xfrm>
            <a:off x="8403336" y="1920240"/>
            <a:ext cx="3200400" cy="320040"/>
          </a:xfrm>
          <a:prstGeom prst="rect">
            <a:avLst/>
          </a:prstGeom>
          <a:noFill/>
          <a:ln/>
        </p:spPr>
        <p:txBody>
          <a:bodyPr wrap="square" rtlCol="0" anchor="ctr"/>
          <a:lstStyle/>
          <a:p>
            <a:pPr indent="0" marL="0">
              <a:buNone/>
            </a:pPr>
            <a:r>
              <a:rPr lang="en-US" sz="1300" b="1" spc="100" kern="0" dirty="0">
                <a:solidFill>
                  <a:srgbClr val="196B24"/>
                </a:solidFill>
                <a:latin typeface="Arial" pitchFamily="34" charset="0"/>
                <a:ea typeface="Arial" pitchFamily="34" charset="-122"/>
                <a:cs typeface="Arial" pitchFamily="34" charset="-120"/>
              </a:rPr>
              <a:t>NHÓM 3 · KIỂM SOÁT ĐẦU RA</a:t>
            </a:r>
            <a:endParaRPr lang="en-US" sz="1300" dirty="0"/>
          </a:p>
        </p:txBody>
      </p:sp>
      <p:sp>
        <p:nvSpPr>
          <p:cNvPr id="18" name="Text 15"/>
          <p:cNvSpPr/>
          <p:nvPr/>
        </p:nvSpPr>
        <p:spPr>
          <a:xfrm>
            <a:off x="8403336" y="2286000"/>
            <a:ext cx="3200400" cy="731520"/>
          </a:xfrm>
          <a:prstGeom prst="rect">
            <a:avLst/>
          </a:prstGeom>
          <a:noFill/>
          <a:ln/>
        </p:spPr>
        <p:txBody>
          <a:bodyPr wrap="square" rtlCol="0" anchor="ctr"/>
          <a:lstStyle/>
          <a:p>
            <a:pPr indent="0" marL="0">
              <a:lnSpc>
                <a:spcPct val="98000"/>
              </a:lnSpc>
              <a:buNone/>
            </a:pPr>
            <a:r>
              <a:rPr lang="en-US" sz="1650" b="1" dirty="0">
                <a:solidFill>
                  <a:srgbClr val="000000"/>
                </a:solidFill>
                <a:latin typeface="Arial" pitchFamily="34" charset="0"/>
                <a:ea typeface="Arial" pitchFamily="34" charset="-122"/>
                <a:cs typeface="Arial" pitchFamily="34" charset="-120"/>
              </a:rPr>
              <a:t>Bảo đảm độ tin cậy tại thời điểm suy luận</a:t>
            </a:r>
            <a:endParaRPr lang="en-US" sz="1650" dirty="0"/>
          </a:p>
        </p:txBody>
      </p:sp>
      <p:sp>
        <p:nvSpPr>
          <p:cNvPr id="19" name="Text 16"/>
          <p:cNvSpPr/>
          <p:nvPr/>
        </p:nvSpPr>
        <p:spPr>
          <a:xfrm>
            <a:off x="8403336" y="3108960"/>
            <a:ext cx="3200400" cy="1920240"/>
          </a:xfrm>
          <a:prstGeom prst="rect">
            <a:avLst/>
          </a:prstGeom>
          <a:noFill/>
          <a:ln/>
        </p:spPr>
        <p:txBody>
          <a:bodyPr wrap="square" rtlCol="0" anchor="ctr"/>
          <a:lstStyle/>
          <a:p>
            <a:pPr indent="0" marL="0">
              <a:lnSpc>
                <a:spcPct val="105000"/>
              </a:lnSpc>
              <a:buNone/>
            </a:pPr>
            <a:r>
              <a:rPr lang="en-US" sz="1300" dirty="0">
                <a:solidFill>
                  <a:srgbClr val="515761"/>
                </a:solidFill>
                <a:latin typeface="Arial" pitchFamily="34" charset="0"/>
                <a:ea typeface="Arial" pitchFamily="34" charset="-122"/>
                <a:cs typeface="Arial" pitchFamily="34" charset="-120"/>
              </a:rPr>
              <a:t>Kiểm tra định dạng, hậu xử lý và viết lại có điều kiện quanh một mô hình nền mạnh, nhằm nâng độ tin cậy của sản phẩm cuối.</a:t>
            </a:r>
            <a:endParaRPr lang="en-US" sz="1300" dirty="0"/>
          </a:p>
        </p:txBody>
      </p:sp>
      <p:sp>
        <p:nvSpPr>
          <p:cNvPr id="20" name="Text 17"/>
          <p:cNvSpPr/>
          <p:nvPr/>
        </p:nvSpPr>
        <p:spPr>
          <a:xfrm>
            <a:off x="8403336" y="5257800"/>
            <a:ext cx="3200400" cy="457200"/>
          </a:xfrm>
          <a:prstGeom prst="rect">
            <a:avLst/>
          </a:prstGeom>
          <a:noFill/>
          <a:ln/>
        </p:spPr>
        <p:txBody>
          <a:bodyPr wrap="square" rtlCol="0" anchor="ctr"/>
          <a:lstStyle/>
          <a:p>
            <a:pPr indent="0" marL="0">
              <a:buNone/>
            </a:pPr>
            <a:r>
              <a:rPr lang="en-US" sz="1250" i="1" dirty="0">
                <a:solidFill>
                  <a:srgbClr val="196B24"/>
                </a:solidFill>
                <a:latin typeface="Arial" pitchFamily="34" charset="0"/>
                <a:ea typeface="Arial" pitchFamily="34" charset="-122"/>
                <a:cs typeface="Arial" pitchFamily="34" charset="-120"/>
              </a:rPr>
              <a:t>E4 · Llama 3.2 3B + Repair</a:t>
            </a:r>
            <a:endParaRPr lang="en-US" sz="1250" dirty="0"/>
          </a:p>
        </p:txBody>
      </p:sp>
      <p:sp>
        <p:nvSpPr>
          <p:cNvPr id="21" name="Text 18"/>
          <p:cNvSpPr/>
          <p:nvPr/>
        </p:nvSpPr>
        <p:spPr>
          <a:xfrm>
            <a:off x="402336" y="5943600"/>
            <a:ext cx="11338560" cy="548640"/>
          </a:xfrm>
          <a:prstGeom prst="rect">
            <a:avLst/>
          </a:prstGeom>
          <a:noFill/>
          <a:ln/>
        </p:spPr>
        <p:txBody>
          <a:bodyPr wrap="square" rtlCol="0" anchor="ctr"/>
          <a:lstStyle/>
          <a:p>
            <a:pPr algn="ctr" indent="0" marL="0">
              <a:buNone/>
            </a:pPr>
            <a:r>
              <a:rPr lang="en-US" sz="1250" i="1" dirty="0">
                <a:solidFill>
                  <a:srgbClr val="515761"/>
                </a:solidFill>
                <a:latin typeface="Arial" pitchFamily="34" charset="0"/>
                <a:ea typeface="Arial" pitchFamily="34" charset="-122"/>
                <a:cs typeface="Arial" pitchFamily="34" charset="-120"/>
              </a:rPr>
              <a:t>Hạ tầng dùng chung: ứng dụng FastAPI/React với chế độ so sánh, phục vụ qua Ollama/MLX; đánh giá vòng chung trên 25 đề cố định, chấm mù bằng cùng một giám khảo Gemma.</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Ba lớp bằng chứng cho cùng một tác vụ</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5</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600200"/>
            <a:ext cx="11338560" cy="640080"/>
          </a:xfrm>
          <a:prstGeom prst="rect">
            <a:avLst/>
          </a:prstGeom>
          <a:noFill/>
          <a:ln/>
        </p:spPr>
        <p:txBody>
          <a:bodyPr wrap="square" rtlCol="0" anchor="ctr"/>
          <a:lstStyle/>
          <a:p>
            <a:pPr indent="0" marL="0">
              <a:lnSpc>
                <a:spcPct val="105000"/>
              </a:lnSpc>
              <a:buNone/>
            </a:pPr>
            <a:r>
              <a:rPr lang="en-US" sz="1500" dirty="0">
                <a:solidFill>
                  <a:srgbClr val="000000"/>
                </a:solidFill>
                <a:latin typeface="Arial" pitchFamily="34" charset="0"/>
                <a:ea typeface="Arial" pitchFamily="34" charset="-122"/>
                <a:cs typeface="Arial" pitchFamily="34" charset="-120"/>
              </a:rPr>
              <a:t>Một truyện trôi chảy chưa chứng minh rằng các điều kiện đã chi phối diễn biến. Do đó chất lượng được báo cáo trên ba lớp độc lập, không thể thay thế lẫn nhau.</a:t>
            </a:r>
            <a:endParaRPr lang="en-US" sz="1500" dirty="0"/>
          </a:p>
        </p:txBody>
      </p:sp>
      <p:sp>
        <p:nvSpPr>
          <p:cNvPr id="7" name="Shape 4"/>
          <p:cNvSpPr/>
          <p:nvPr/>
        </p:nvSpPr>
        <p:spPr>
          <a:xfrm>
            <a:off x="402336" y="2468880"/>
            <a:ext cx="3611880" cy="3108960"/>
          </a:xfrm>
          <a:prstGeom prst="roundRect">
            <a:avLst>
              <a:gd name="adj" fmla="val 2353"/>
            </a:avLst>
          </a:prstGeom>
          <a:solidFill>
            <a:srgbClr val="FFFFFF"/>
          </a:solidFill>
          <a:ln w="15875">
            <a:solidFill>
              <a:srgbClr val="3D8DFF"/>
            </a:solidFill>
            <a:prstDash val="solid"/>
          </a:ln>
        </p:spPr>
      </p:sp>
      <p:sp>
        <p:nvSpPr>
          <p:cNvPr id="8" name="Text 5"/>
          <p:cNvSpPr/>
          <p:nvPr/>
        </p:nvSpPr>
        <p:spPr>
          <a:xfrm>
            <a:off x="630936" y="2697480"/>
            <a:ext cx="3200400" cy="640080"/>
          </a:xfrm>
          <a:prstGeom prst="rect">
            <a:avLst/>
          </a:prstGeom>
          <a:noFill/>
          <a:ln/>
        </p:spPr>
        <p:txBody>
          <a:bodyPr wrap="square" rtlCol="0" anchor="ctr"/>
          <a:lstStyle/>
          <a:p>
            <a:pPr indent="0" marL="0">
              <a:lnSpc>
                <a:spcPct val="98000"/>
              </a:lnSpc>
              <a:buNone/>
            </a:pPr>
            <a:r>
              <a:rPr lang="en-US" sz="1700" b="1" dirty="0">
                <a:solidFill>
                  <a:srgbClr val="3D8DFF"/>
                </a:solidFill>
                <a:latin typeface="Arial" pitchFamily="34" charset="0"/>
                <a:ea typeface="Arial" pitchFamily="34" charset="-122"/>
                <a:cs typeface="Arial" pitchFamily="34" charset="-120"/>
              </a:rPr>
              <a:t>Độ giống với dữ liệu</a:t>
            </a:r>
            <a:endParaRPr lang="en-US" sz="1700" dirty="0"/>
          </a:p>
        </p:txBody>
      </p:sp>
      <p:sp>
        <p:nvSpPr>
          <p:cNvPr id="9" name="Text 6"/>
          <p:cNvSpPr/>
          <p:nvPr/>
        </p:nvSpPr>
        <p:spPr>
          <a:xfrm>
            <a:off x="630936" y="3429000"/>
            <a:ext cx="3200400" cy="365760"/>
          </a:xfrm>
          <a:prstGeom prst="rect">
            <a:avLst/>
          </a:prstGeom>
          <a:noFill/>
          <a:ln/>
        </p:spPr>
        <p:txBody>
          <a:bodyPr wrap="square" rtlCol="0" anchor="ctr"/>
          <a:lstStyle/>
          <a:p>
            <a:pPr indent="0" marL="0">
              <a:buNone/>
            </a:pPr>
            <a:r>
              <a:rPr lang="en-US" sz="1250" b="1" dirty="0">
                <a:solidFill>
                  <a:srgbClr val="515761"/>
                </a:solidFill>
                <a:latin typeface="Arial" pitchFamily="34" charset="0"/>
                <a:ea typeface="Arial" pitchFamily="34" charset="-122"/>
                <a:cs typeface="Arial" pitchFamily="34" charset="-120"/>
              </a:rPr>
              <a:t>Loss · PPL · fluency · Distinct</a:t>
            </a:r>
            <a:endParaRPr lang="en-US" sz="1250" dirty="0"/>
          </a:p>
        </p:txBody>
      </p:sp>
      <p:sp>
        <p:nvSpPr>
          <p:cNvPr id="10" name="Text 7"/>
          <p:cNvSpPr/>
          <p:nvPr/>
        </p:nvSpPr>
        <p:spPr>
          <a:xfrm>
            <a:off x="630936" y="3840480"/>
            <a:ext cx="3200400" cy="1554480"/>
          </a:xfrm>
          <a:prstGeom prst="rect">
            <a:avLst/>
          </a:prstGeom>
          <a:noFill/>
          <a:ln/>
        </p:spPr>
        <p:txBody>
          <a:bodyPr wrap="square" rtlCol="0" anchor="ctr"/>
          <a:lstStyle/>
          <a:p>
            <a:pPr indent="0" marL="0">
              <a:lnSpc>
                <a:spcPct val="105000"/>
              </a:lnSpc>
              <a:buNone/>
            </a:pPr>
            <a:r>
              <a:rPr lang="en-US" sz="1250" dirty="0">
                <a:solidFill>
                  <a:srgbClr val="000000"/>
                </a:solidFill>
                <a:latin typeface="Arial" pitchFamily="34" charset="0"/>
                <a:ea typeface="Arial" pitchFamily="34" charset="-122"/>
                <a:cs typeface="Arial" pitchFamily="34" charset="-120"/>
              </a:rPr>
              <a:t>Mô hình có học được phong cách dữ liệu và tạo văn bản dễ đọc hay không. Đo chất lượng bề mặt.</a:t>
            </a:r>
            <a:endParaRPr lang="en-US" sz="1250" dirty="0"/>
          </a:p>
        </p:txBody>
      </p:sp>
      <p:sp>
        <p:nvSpPr>
          <p:cNvPr id="11" name="Shape 8"/>
          <p:cNvSpPr/>
          <p:nvPr/>
        </p:nvSpPr>
        <p:spPr>
          <a:xfrm>
            <a:off x="4288536" y="2468880"/>
            <a:ext cx="3611880" cy="3108960"/>
          </a:xfrm>
          <a:prstGeom prst="roundRect">
            <a:avLst>
              <a:gd name="adj" fmla="val 2353"/>
            </a:avLst>
          </a:prstGeom>
          <a:solidFill>
            <a:srgbClr val="FFFFFF"/>
          </a:solidFill>
          <a:ln w="15875">
            <a:solidFill>
              <a:srgbClr val="3D8DFF"/>
            </a:solidFill>
            <a:prstDash val="solid"/>
          </a:ln>
        </p:spPr>
      </p:sp>
      <p:sp>
        <p:nvSpPr>
          <p:cNvPr id="12" name="Text 9"/>
          <p:cNvSpPr/>
          <p:nvPr/>
        </p:nvSpPr>
        <p:spPr>
          <a:xfrm>
            <a:off x="4517136" y="2697480"/>
            <a:ext cx="3200400" cy="640080"/>
          </a:xfrm>
          <a:prstGeom prst="rect">
            <a:avLst/>
          </a:prstGeom>
          <a:noFill/>
          <a:ln/>
        </p:spPr>
        <p:txBody>
          <a:bodyPr wrap="square" rtlCol="0" anchor="ctr"/>
          <a:lstStyle/>
          <a:p>
            <a:pPr indent="0" marL="0">
              <a:lnSpc>
                <a:spcPct val="98000"/>
              </a:lnSpc>
              <a:buNone/>
            </a:pPr>
            <a:r>
              <a:rPr lang="en-US" sz="1700" b="1" dirty="0">
                <a:solidFill>
                  <a:srgbClr val="3D8DFF"/>
                </a:solidFill>
                <a:latin typeface="Arial" pitchFamily="34" charset="0"/>
                <a:ea typeface="Arial" pitchFamily="34" charset="-122"/>
                <a:cs typeface="Arial" pitchFamily="34" charset="-120"/>
              </a:rPr>
              <a:t>Mức độ dùng điều kiện</a:t>
            </a:r>
            <a:endParaRPr lang="en-US" sz="1700" dirty="0"/>
          </a:p>
        </p:txBody>
      </p:sp>
      <p:sp>
        <p:nvSpPr>
          <p:cNvPr id="13" name="Text 10"/>
          <p:cNvSpPr/>
          <p:nvPr/>
        </p:nvSpPr>
        <p:spPr>
          <a:xfrm>
            <a:off x="4517136" y="3429000"/>
            <a:ext cx="3200400" cy="365760"/>
          </a:xfrm>
          <a:prstGeom prst="rect">
            <a:avLst/>
          </a:prstGeom>
          <a:noFill/>
          <a:ln/>
        </p:spPr>
        <p:txBody>
          <a:bodyPr wrap="square" rtlCol="0" anchor="ctr"/>
          <a:lstStyle/>
          <a:p>
            <a:pPr indent="0" marL="0">
              <a:buNone/>
            </a:pPr>
            <a:r>
              <a:rPr lang="en-US" sz="1250" b="1" dirty="0">
                <a:solidFill>
                  <a:srgbClr val="515761"/>
                </a:solidFill>
                <a:latin typeface="Arial" pitchFamily="34" charset="0"/>
                <a:ea typeface="Arial" pitchFamily="34" charset="-122"/>
                <a:cs typeface="Arial" pitchFamily="34" charset="-120"/>
              </a:rPr>
              <a:t>Coverage · trait→choice→outcome</a:t>
            </a:r>
            <a:endParaRPr lang="en-US" sz="1250" dirty="0"/>
          </a:p>
        </p:txBody>
      </p:sp>
      <p:sp>
        <p:nvSpPr>
          <p:cNvPr id="14" name="Text 11"/>
          <p:cNvSpPr/>
          <p:nvPr/>
        </p:nvSpPr>
        <p:spPr>
          <a:xfrm>
            <a:off x="4517136" y="3840480"/>
            <a:ext cx="3200400" cy="1554480"/>
          </a:xfrm>
          <a:prstGeom prst="rect">
            <a:avLst/>
          </a:prstGeom>
          <a:noFill/>
          <a:ln/>
        </p:spPr>
        <p:txBody>
          <a:bodyPr wrap="square" rtlCol="0" anchor="ctr"/>
          <a:lstStyle/>
          <a:p>
            <a:pPr indent="0" marL="0">
              <a:lnSpc>
                <a:spcPct val="105000"/>
              </a:lnSpc>
              <a:buNone/>
            </a:pPr>
            <a:r>
              <a:rPr lang="en-US" sz="1250" dirty="0">
                <a:solidFill>
                  <a:srgbClr val="000000"/>
                </a:solidFill>
                <a:latin typeface="Arial" pitchFamily="34" charset="0"/>
                <a:ea typeface="Arial" pitchFamily="34" charset="-122"/>
                <a:cs typeface="Arial" pitchFamily="34" charset="-120"/>
              </a:rPr>
              <a:t>Độ phủ các trường, chuỗi nhân quả, quan hệ truyện–bài học và mức nhạy khi thay đổi đúng một điều kiện.</a:t>
            </a:r>
            <a:endParaRPr lang="en-US" sz="1250" dirty="0"/>
          </a:p>
        </p:txBody>
      </p:sp>
      <p:sp>
        <p:nvSpPr>
          <p:cNvPr id="15" name="Shape 12"/>
          <p:cNvSpPr/>
          <p:nvPr/>
        </p:nvSpPr>
        <p:spPr>
          <a:xfrm>
            <a:off x="8174736" y="2468880"/>
            <a:ext cx="3611880" cy="3108960"/>
          </a:xfrm>
          <a:prstGeom prst="roundRect">
            <a:avLst>
              <a:gd name="adj" fmla="val 2353"/>
            </a:avLst>
          </a:prstGeom>
          <a:solidFill>
            <a:srgbClr val="FFFFFF"/>
          </a:solidFill>
          <a:ln w="15875">
            <a:solidFill>
              <a:srgbClr val="3D8DFF"/>
            </a:solidFill>
            <a:prstDash val="solid"/>
          </a:ln>
        </p:spPr>
      </p:sp>
      <p:sp>
        <p:nvSpPr>
          <p:cNvPr id="16" name="Text 13"/>
          <p:cNvSpPr/>
          <p:nvPr/>
        </p:nvSpPr>
        <p:spPr>
          <a:xfrm>
            <a:off x="8403336" y="2697480"/>
            <a:ext cx="3200400" cy="640080"/>
          </a:xfrm>
          <a:prstGeom prst="rect">
            <a:avLst/>
          </a:prstGeom>
          <a:noFill/>
          <a:ln/>
        </p:spPr>
        <p:txBody>
          <a:bodyPr wrap="square" rtlCol="0" anchor="ctr"/>
          <a:lstStyle/>
          <a:p>
            <a:pPr indent="0" marL="0">
              <a:lnSpc>
                <a:spcPct val="98000"/>
              </a:lnSpc>
              <a:buNone/>
            </a:pPr>
            <a:r>
              <a:rPr lang="en-US" sz="1700" b="1" dirty="0">
                <a:solidFill>
                  <a:srgbClr val="3D8DFF"/>
                </a:solidFill>
                <a:latin typeface="Arial" pitchFamily="34" charset="0"/>
                <a:ea typeface="Arial" pitchFamily="34" charset="-122"/>
                <a:cs typeface="Arial" pitchFamily="34" charset="-120"/>
              </a:rPr>
              <a:t>Độ tin cậy hệ thống</a:t>
            </a:r>
            <a:endParaRPr lang="en-US" sz="1700" dirty="0"/>
          </a:p>
        </p:txBody>
      </p:sp>
      <p:sp>
        <p:nvSpPr>
          <p:cNvPr id="17" name="Text 14"/>
          <p:cNvSpPr/>
          <p:nvPr/>
        </p:nvSpPr>
        <p:spPr>
          <a:xfrm>
            <a:off x="8403336" y="3429000"/>
            <a:ext cx="3200400" cy="365760"/>
          </a:xfrm>
          <a:prstGeom prst="rect">
            <a:avLst/>
          </a:prstGeom>
          <a:noFill/>
          <a:ln/>
        </p:spPr>
        <p:txBody>
          <a:bodyPr wrap="square" rtlCol="0" anchor="ctr"/>
          <a:lstStyle/>
          <a:p>
            <a:pPr indent="0" marL="0">
              <a:buNone/>
            </a:pPr>
            <a:r>
              <a:rPr lang="en-US" sz="1250" b="1" dirty="0">
                <a:solidFill>
                  <a:srgbClr val="515761"/>
                </a:solidFill>
                <a:latin typeface="Arial" pitchFamily="34" charset="0"/>
                <a:ea typeface="Arial" pitchFamily="34" charset="-122"/>
                <a:cs typeface="Arial" pitchFamily="34" charset="-120"/>
              </a:rPr>
              <a:t>Validator · postprocess · repair</a:t>
            </a:r>
            <a:endParaRPr lang="en-US" sz="1250" dirty="0"/>
          </a:p>
        </p:txBody>
      </p:sp>
      <p:sp>
        <p:nvSpPr>
          <p:cNvPr id="18" name="Text 15"/>
          <p:cNvSpPr/>
          <p:nvPr/>
        </p:nvSpPr>
        <p:spPr>
          <a:xfrm>
            <a:off x="8403336" y="3840480"/>
            <a:ext cx="3200400" cy="1554480"/>
          </a:xfrm>
          <a:prstGeom prst="rect">
            <a:avLst/>
          </a:prstGeom>
          <a:noFill/>
          <a:ln/>
        </p:spPr>
        <p:txBody>
          <a:bodyPr wrap="square" rtlCol="0" anchor="ctr"/>
          <a:lstStyle/>
          <a:p>
            <a:pPr indent="0" marL="0">
              <a:lnSpc>
                <a:spcPct val="105000"/>
              </a:lnSpc>
              <a:buNone/>
            </a:pPr>
            <a:r>
              <a:rPr lang="en-US" sz="1250" dirty="0">
                <a:solidFill>
                  <a:srgbClr val="000000"/>
                </a:solidFill>
                <a:latin typeface="Arial" pitchFamily="34" charset="0"/>
                <a:ea typeface="Arial" pitchFamily="34" charset="-122"/>
                <a:cs typeface="Arial" pitchFamily="34" charset="-120"/>
              </a:rPr>
              <a:t>Kiểm tra và sửa định dạng bảo đảm đầu ra dùng được; các bước này không thay thế năng lực sinh của mô hình.</a:t>
            </a:r>
            <a:endParaRPr lang="en-US" sz="1250" dirty="0"/>
          </a:p>
        </p:txBody>
      </p:sp>
      <p:sp>
        <p:nvSpPr>
          <p:cNvPr id="19" name="Text 16"/>
          <p:cNvSpPr/>
          <p:nvPr/>
        </p:nvSpPr>
        <p:spPr>
          <a:xfrm>
            <a:off x="402336" y="5760720"/>
            <a:ext cx="11338560" cy="365760"/>
          </a:xfrm>
          <a:prstGeom prst="rect">
            <a:avLst/>
          </a:prstGeom>
          <a:noFill/>
          <a:ln/>
        </p:spPr>
        <p:txBody>
          <a:bodyPr wrap="square" rtlCol="0" anchor="ctr"/>
          <a:lstStyle/>
          <a:p>
            <a:pPr algn="ctr" indent="0" marL="0">
              <a:buNone/>
            </a:pPr>
            <a:r>
              <a:rPr lang="en-US" sz="1350" i="1" dirty="0">
                <a:solidFill>
                  <a:srgbClr val="515761"/>
                </a:solidFill>
                <a:latin typeface="Arial" pitchFamily="34" charset="0"/>
                <a:ea typeface="Arial" pitchFamily="34" charset="-122"/>
                <a:cs typeface="Arial" pitchFamily="34" charset="-120"/>
              </a:rPr>
              <a:t>Điểm tổng hợp chỉ có ý nghĩa khi ba lớp được báo cáo và diễn giải riêng.</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E1</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E1 · Llama 30M/60M từ đầu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6</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Transformer decoder-only kiểu Llama, huấn luyện từ khởi tạo ngẫu nhiên (from-scratch).</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Bộ ba hiện đại RoPE, RMSNorm và SwiGLU; embedding vào và ra dùng chung (tied); attention GQA giảm bộ nhớ đệm khi sinh.</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Bộ tách từ BPE 12k tự huấn luyện; hai quy mô 30M và 60M cùng họ để cô lập ảnh hưởng của dung lượng.</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Các thành phần Llama hiệu quả ở quy mô nhỏ và vocab 12k giữ bảng embedding gọn (~17% ngân sách), dành tham số cho các khối xử lý.</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Tham số</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36,6M / 59,56M</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8 / 512→768</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GQA 8→12 q / 2→4 kv</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FFN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SwiGLU 2.048</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Vocab / ngữ cảnh</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12k / 512→1024</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Cross-entropy next-token, mask phần điều kiện (-100), chỉ tính trên token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AdamW, learning rate đỉnh 3e-3 lịch WSD (warmup, stable, decay), có weight decay và gradient clip.</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Batch hiệu dụng 128 (gradient accumulation); Phase 1 ~600M token (4 epoch); 60M dùng 934M token, 10.000 bước không lặp.</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Colab T4, checkpoint tự khôi phục qua nhiều phiên khi runtime bị thu hồi.</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Weight decay, gradient clip, slot dropout; huấn luyện fp16.</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Học: gradient chỉ dồn vào token truyện sau &lt;|story|&gt;; Sinh: nối token tự hồi quy tới khi gặp &lt;|end|&gt;.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E1</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E1 · Llama 30M/60M từ đầu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7</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Bốn giai đoạn: chẩn đoán under-training, cấp đủ token, can thiệp phân bố dữ liệu, rồi mở rộng quy mô để kiểm chứng.</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Cố ý giới hạn dữ liệu (150k) để chẩn đoán; judge 2,50 — under-training.</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Phase 1</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Tăng token (400k × 4 epoch); loss 1,447, judge 6,00. Đúng chẩn đoán.</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Phase 2</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Can thiệp phân bố dữ liệu: cap khuôn "wise old owl" 90%→23%; judge 7,00, loss 1,278.</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Hậu HL</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DPO / SFT-best / RAFT / GRPO trung tính; distillation âm; best-of-N +0,8.</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60M</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Mở rộng hidden/ngữ cảnh + toàn bộ TF1 (934M token); loss 1,058, PPL 2,87.</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trieulh/report/figures/01_loss_curve.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Loss huấn luyện qua hai giai đoạn: giảm nhanh ở Phase 1, tiếp tục giảm sau khi nối Phase 2 (corpus v2); loss cuối 1,278, thấp hơn rõ so với baseline v1 1,8.</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E1</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E1 · Llama 30M/60M từ đầu — Chín bước phương pháp (M1 đến M9)</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8</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xuyên suốt: chẩn đoán bệnh, chữa bằng dữ liệu, đo cho chuẩn, thử các đường tắt hậu huấn luyện (đều thất bại), rồi kết luận phải đầu tư pretraining và mở rộng để xác nhận.</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67712"/>
            <a:ext cx="3136392" cy="457200"/>
          </a:xfrm>
          <a:prstGeom prst="rect">
            <a:avLst/>
          </a:prstGeom>
          <a:noFill/>
          <a:ln/>
        </p:spPr>
        <p:txBody>
          <a:bodyPr wrap="square" rtlCol="0" anchor="ctr"/>
          <a:lstStyle/>
          <a:p>
            <a:pPr indent="0" marL="0">
              <a:lnSpc>
                <a:spcPct val="95000"/>
              </a:lnSpc>
              <a:buNone/>
            </a:pPr>
            <a:r>
              <a:rPr lang="en-US" sz="1200" b="1" dirty="0">
                <a:solidFill>
                  <a:srgbClr val="156082"/>
                </a:solidFill>
                <a:latin typeface="Arial" pitchFamily="34" charset="0"/>
                <a:ea typeface="Arial" pitchFamily="34" charset="-122"/>
                <a:cs typeface="Arial" pitchFamily="34" charset="-120"/>
              </a:rPr>
              <a:t>M1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Tokenizer BPE 12k</a:t>
            </a:r>
            <a:endParaRPr lang="en-US" sz="1200" dirty="0"/>
          </a:p>
        </p:txBody>
      </p:sp>
      <p:sp>
        <p:nvSpPr>
          <p:cNvPr id="10" name="Text 7"/>
          <p:cNvSpPr/>
          <p:nvPr/>
        </p:nvSpPr>
        <p:spPr>
          <a:xfrm>
            <a:off x="621792" y="2752344"/>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Bảng token riêng 12k, embedding gọn (~17% ngân sách 30M).</a:t>
            </a:r>
            <a:endParaRPr lang="en-US" sz="100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67712"/>
            <a:ext cx="3136392" cy="457200"/>
          </a:xfrm>
          <a:prstGeom prst="rect">
            <a:avLst/>
          </a:prstGeom>
          <a:noFill/>
          <a:ln/>
        </p:spPr>
        <p:txBody>
          <a:bodyPr wrap="square" rtlCol="0" anchor="ctr"/>
          <a:lstStyle/>
          <a:p>
            <a:pPr indent="0" marL="0">
              <a:lnSpc>
                <a:spcPct val="95000"/>
              </a:lnSpc>
              <a:buNone/>
            </a:pPr>
            <a:r>
              <a:rPr lang="en-US" sz="1200" b="1" dirty="0">
                <a:solidFill>
                  <a:srgbClr val="156082"/>
                </a:solidFill>
                <a:latin typeface="Arial" pitchFamily="34" charset="0"/>
                <a:ea typeface="Arial" pitchFamily="34" charset="-122"/>
                <a:cs typeface="Arial" pitchFamily="34" charset="-120"/>
              </a:rPr>
              <a:t>M2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Dữ liệu 5 trường</a:t>
            </a:r>
            <a:endParaRPr lang="en-US" sz="1200" dirty="0"/>
          </a:p>
        </p:txBody>
      </p:sp>
      <p:sp>
        <p:nvSpPr>
          <p:cNvPr id="14" name="Text 11"/>
          <p:cNvSpPr/>
          <p:nvPr/>
        </p:nvSpPr>
        <p:spPr>
          <a:xfrm>
            <a:off x="4553712" y="2752344"/>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Ghép đề + truyện, mask -100, slot dropout, khử trùng lặp.</a:t>
            </a:r>
            <a:endParaRPr lang="en-US" sz="100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156082"/>
            </a:solidFill>
            <a:prstDash val="solid"/>
          </a:ln>
        </p:spPr>
      </p:sp>
      <p:sp>
        <p:nvSpPr>
          <p:cNvPr id="16" name="Shape 13"/>
          <p:cNvSpPr/>
          <p:nvPr/>
        </p:nvSpPr>
        <p:spPr>
          <a:xfrm>
            <a:off x="8266176" y="2148840"/>
            <a:ext cx="109728" cy="1207008"/>
          </a:xfrm>
          <a:prstGeom prst="roundRect">
            <a:avLst>
              <a:gd name="adj" fmla="val 16667"/>
            </a:avLst>
          </a:prstGeom>
          <a:solidFill>
            <a:srgbClr val="156082"/>
          </a:solidFill>
          <a:ln/>
        </p:spPr>
      </p:sp>
      <p:sp>
        <p:nvSpPr>
          <p:cNvPr id="17" name="Text 14"/>
          <p:cNvSpPr/>
          <p:nvPr/>
        </p:nvSpPr>
        <p:spPr>
          <a:xfrm>
            <a:off x="8485632" y="2267712"/>
            <a:ext cx="3136392" cy="457200"/>
          </a:xfrm>
          <a:prstGeom prst="rect">
            <a:avLst/>
          </a:prstGeom>
          <a:noFill/>
          <a:ln/>
        </p:spPr>
        <p:txBody>
          <a:bodyPr wrap="square" rtlCol="0" anchor="ctr"/>
          <a:lstStyle/>
          <a:p>
            <a:pPr indent="0" marL="0">
              <a:lnSpc>
                <a:spcPct val="95000"/>
              </a:lnSpc>
              <a:buNone/>
            </a:pPr>
            <a:r>
              <a:rPr lang="en-US" sz="1200" b="1" dirty="0">
                <a:solidFill>
                  <a:srgbClr val="156082"/>
                </a:solidFill>
                <a:latin typeface="Arial" pitchFamily="34" charset="0"/>
                <a:ea typeface="Arial" pitchFamily="34" charset="-122"/>
                <a:cs typeface="Arial" pitchFamily="34" charset="-120"/>
              </a:rPr>
              <a:t>M3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Kiến trúc Llama 30M</a:t>
            </a:r>
            <a:endParaRPr lang="en-US" sz="1200" dirty="0"/>
          </a:p>
        </p:txBody>
      </p:sp>
      <p:sp>
        <p:nvSpPr>
          <p:cNvPr id="18" name="Text 15"/>
          <p:cNvSpPr/>
          <p:nvPr/>
        </p:nvSpPr>
        <p:spPr>
          <a:xfrm>
            <a:off x="8485632" y="2752344"/>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Decoder 8 khối, GQA, RoPE/RMSNorm/SwiGLU, 36,6M tham số.</a:t>
            </a:r>
            <a:endParaRPr lang="en-US" sz="100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156082"/>
            </a:solidFill>
            <a:prstDash val="solid"/>
          </a:ln>
        </p:spPr>
      </p:sp>
      <p:sp>
        <p:nvSpPr>
          <p:cNvPr id="20" name="Shape 17"/>
          <p:cNvSpPr/>
          <p:nvPr/>
        </p:nvSpPr>
        <p:spPr>
          <a:xfrm>
            <a:off x="8266176" y="3639312"/>
            <a:ext cx="109728" cy="1207008"/>
          </a:xfrm>
          <a:prstGeom prst="roundRect">
            <a:avLst>
              <a:gd name="adj" fmla="val 16667"/>
            </a:avLst>
          </a:prstGeom>
          <a:solidFill>
            <a:srgbClr val="156082"/>
          </a:solidFill>
          <a:ln/>
        </p:spPr>
      </p:sp>
      <p:sp>
        <p:nvSpPr>
          <p:cNvPr id="21" name="Text 18"/>
          <p:cNvSpPr/>
          <p:nvPr/>
        </p:nvSpPr>
        <p:spPr>
          <a:xfrm>
            <a:off x="8485632" y="3758184"/>
            <a:ext cx="3136392" cy="457200"/>
          </a:xfrm>
          <a:prstGeom prst="rect">
            <a:avLst/>
          </a:prstGeom>
          <a:noFill/>
          <a:ln/>
        </p:spPr>
        <p:txBody>
          <a:bodyPr wrap="square" rtlCol="0" anchor="ctr"/>
          <a:lstStyle/>
          <a:p>
            <a:pPr indent="0" marL="0">
              <a:lnSpc>
                <a:spcPct val="95000"/>
              </a:lnSpc>
              <a:buNone/>
            </a:pPr>
            <a:r>
              <a:rPr lang="en-US" sz="1200" b="1" dirty="0">
                <a:solidFill>
                  <a:srgbClr val="156082"/>
                </a:solidFill>
                <a:latin typeface="Arial" pitchFamily="34" charset="0"/>
                <a:ea typeface="Arial" pitchFamily="34" charset="-122"/>
                <a:cs typeface="Arial" pitchFamily="34" charset="-120"/>
              </a:rPr>
              <a:t>M4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Vòng lặp huấn luyện</a:t>
            </a:r>
            <a:endParaRPr lang="en-US" sz="1200" dirty="0"/>
          </a:p>
        </p:txBody>
      </p:sp>
      <p:sp>
        <p:nvSpPr>
          <p:cNvPr id="22" name="Text 19"/>
          <p:cNvSpPr/>
          <p:nvPr/>
        </p:nvSpPr>
        <p:spPr>
          <a:xfrm>
            <a:off x="8485632" y="4242816"/>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AdamW, learning rate WSD, fp16, checkpoint tự khôi phục.</a:t>
            </a:r>
            <a:endParaRPr lang="en-US" sz="100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58184"/>
            <a:ext cx="3136392" cy="457200"/>
          </a:xfrm>
          <a:prstGeom prst="rect">
            <a:avLst/>
          </a:prstGeom>
          <a:noFill/>
          <a:ln/>
        </p:spPr>
        <p:txBody>
          <a:bodyPr wrap="square" rtlCol="0" anchor="ctr"/>
          <a:lstStyle/>
          <a:p>
            <a:pPr indent="0" marL="0">
              <a:lnSpc>
                <a:spcPct val="95000"/>
              </a:lnSpc>
              <a:buNone/>
            </a:pPr>
            <a:r>
              <a:rPr lang="en-US" sz="1200" b="1" dirty="0">
                <a:solidFill>
                  <a:srgbClr val="3D8DFF"/>
                </a:solidFill>
                <a:latin typeface="Arial" pitchFamily="34" charset="0"/>
                <a:ea typeface="Arial" pitchFamily="34" charset="-122"/>
                <a:cs typeface="Arial" pitchFamily="34" charset="-120"/>
              </a:rPr>
              <a:t>M5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Chẩn đoán under-training</a:t>
            </a:r>
            <a:endParaRPr lang="en-US" sz="1200" dirty="0"/>
          </a:p>
        </p:txBody>
      </p:sp>
      <p:sp>
        <p:nvSpPr>
          <p:cNvPr id="26" name="Text 23"/>
          <p:cNvSpPr/>
          <p:nvPr/>
        </p:nvSpPr>
        <p:spPr>
          <a:xfrm>
            <a:off x="4553712" y="4242816"/>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Thiếu token: judge 2,5; đủ ~600M token: judge 6,0.</a:t>
            </a:r>
            <a:endParaRPr lang="en-US" sz="100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3D8DFF"/>
            </a:solidFill>
            <a:prstDash val="solid"/>
          </a:ln>
        </p:spPr>
      </p:sp>
      <p:sp>
        <p:nvSpPr>
          <p:cNvPr id="28" name="Shape 25"/>
          <p:cNvSpPr/>
          <p:nvPr/>
        </p:nvSpPr>
        <p:spPr>
          <a:xfrm>
            <a:off x="402336" y="3639312"/>
            <a:ext cx="109728" cy="1207008"/>
          </a:xfrm>
          <a:prstGeom prst="roundRect">
            <a:avLst>
              <a:gd name="adj" fmla="val 16667"/>
            </a:avLst>
          </a:prstGeom>
          <a:solidFill>
            <a:srgbClr val="3D8DFF"/>
          </a:solidFill>
          <a:ln/>
        </p:spPr>
      </p:sp>
      <p:sp>
        <p:nvSpPr>
          <p:cNvPr id="29" name="Text 26"/>
          <p:cNvSpPr/>
          <p:nvPr/>
        </p:nvSpPr>
        <p:spPr>
          <a:xfrm>
            <a:off x="621792" y="3758184"/>
            <a:ext cx="3136392" cy="457200"/>
          </a:xfrm>
          <a:prstGeom prst="rect">
            <a:avLst/>
          </a:prstGeom>
          <a:noFill/>
          <a:ln/>
        </p:spPr>
        <p:txBody>
          <a:bodyPr wrap="square" rtlCol="0" anchor="ctr"/>
          <a:lstStyle/>
          <a:p>
            <a:pPr indent="0" marL="0">
              <a:lnSpc>
                <a:spcPct val="95000"/>
              </a:lnSpc>
              <a:buNone/>
            </a:pPr>
            <a:r>
              <a:rPr lang="en-US" sz="1200" b="1" dirty="0">
                <a:solidFill>
                  <a:srgbClr val="3D8DFF"/>
                </a:solidFill>
                <a:latin typeface="Arial" pitchFamily="34" charset="0"/>
                <a:ea typeface="Arial" pitchFamily="34" charset="-122"/>
                <a:cs typeface="Arial" pitchFamily="34" charset="-120"/>
              </a:rPr>
              <a:t>M6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Can thiệp phân bố dữ liệu</a:t>
            </a:r>
            <a:endParaRPr lang="en-US" sz="1200" dirty="0"/>
          </a:p>
        </p:txBody>
      </p:sp>
      <p:sp>
        <p:nvSpPr>
          <p:cNvPr id="30" name="Text 27"/>
          <p:cNvSpPr/>
          <p:nvPr/>
        </p:nvSpPr>
        <p:spPr>
          <a:xfrm>
            <a:off x="621792" y="4242816"/>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Hạ khuôn "owl" 90%→23%; judge 7,0, loss 1,278.</a:t>
            </a:r>
            <a:endParaRPr lang="en-US" sz="100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515761"/>
            </a:solidFill>
            <a:prstDash val="solid"/>
          </a:ln>
        </p:spPr>
      </p:sp>
      <p:sp>
        <p:nvSpPr>
          <p:cNvPr id="32" name="Shape 29"/>
          <p:cNvSpPr/>
          <p:nvPr/>
        </p:nvSpPr>
        <p:spPr>
          <a:xfrm>
            <a:off x="402336" y="5129784"/>
            <a:ext cx="109728" cy="1207008"/>
          </a:xfrm>
          <a:prstGeom prst="roundRect">
            <a:avLst>
              <a:gd name="adj" fmla="val 16667"/>
            </a:avLst>
          </a:prstGeom>
          <a:solidFill>
            <a:srgbClr val="515761"/>
          </a:solidFill>
          <a:ln/>
        </p:spPr>
      </p:sp>
      <p:sp>
        <p:nvSpPr>
          <p:cNvPr id="33" name="Text 30"/>
          <p:cNvSpPr/>
          <p:nvPr/>
        </p:nvSpPr>
        <p:spPr>
          <a:xfrm>
            <a:off x="621792" y="5248656"/>
            <a:ext cx="3136392" cy="457200"/>
          </a:xfrm>
          <a:prstGeom prst="rect">
            <a:avLst/>
          </a:prstGeom>
          <a:noFill/>
          <a:ln/>
        </p:spPr>
        <p:txBody>
          <a:bodyPr wrap="square" rtlCol="0" anchor="ctr"/>
          <a:lstStyle/>
          <a:p>
            <a:pPr indent="0" marL="0">
              <a:lnSpc>
                <a:spcPct val="95000"/>
              </a:lnSpc>
              <a:buNone/>
            </a:pPr>
            <a:r>
              <a:rPr lang="en-US" sz="1200" b="1" dirty="0">
                <a:solidFill>
                  <a:srgbClr val="515761"/>
                </a:solidFill>
                <a:latin typeface="Arial" pitchFamily="34" charset="0"/>
                <a:ea typeface="Arial" pitchFamily="34" charset="-122"/>
                <a:cs typeface="Arial" pitchFamily="34" charset="-120"/>
              </a:rPr>
              <a:t>M7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Đo lường &amp; nhiễu judge</a:t>
            </a:r>
            <a:endParaRPr lang="en-US" sz="1200" dirty="0"/>
          </a:p>
        </p:txBody>
      </p:sp>
      <p:sp>
        <p:nvSpPr>
          <p:cNvPr id="34" name="Text 31"/>
          <p:cNvSpPr/>
          <p:nvPr/>
        </p:nvSpPr>
        <p:spPr>
          <a:xfrm>
            <a:off x="621792" y="5733288"/>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PPL held-out; nhiễu ±0,4 → n=45 seed bắt cặp, t-test.</a:t>
            </a:r>
            <a:endParaRPr lang="en-US" sz="100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E97132"/>
            </a:solidFill>
            <a:prstDash val="solid"/>
          </a:ln>
        </p:spPr>
      </p:sp>
      <p:sp>
        <p:nvSpPr>
          <p:cNvPr id="36" name="Shape 33"/>
          <p:cNvSpPr/>
          <p:nvPr/>
        </p:nvSpPr>
        <p:spPr>
          <a:xfrm>
            <a:off x="4334256" y="5129784"/>
            <a:ext cx="109728" cy="1207008"/>
          </a:xfrm>
          <a:prstGeom prst="roundRect">
            <a:avLst>
              <a:gd name="adj" fmla="val 16667"/>
            </a:avLst>
          </a:prstGeom>
          <a:solidFill>
            <a:srgbClr val="E97132"/>
          </a:solidFill>
          <a:ln/>
        </p:spPr>
      </p:sp>
      <p:sp>
        <p:nvSpPr>
          <p:cNvPr id="37" name="Text 34"/>
          <p:cNvSpPr/>
          <p:nvPr/>
        </p:nvSpPr>
        <p:spPr>
          <a:xfrm>
            <a:off x="4553712" y="5248656"/>
            <a:ext cx="3136392" cy="457200"/>
          </a:xfrm>
          <a:prstGeom prst="rect">
            <a:avLst/>
          </a:prstGeom>
          <a:noFill/>
          <a:ln/>
        </p:spPr>
        <p:txBody>
          <a:bodyPr wrap="square" rtlCol="0" anchor="ctr"/>
          <a:lstStyle/>
          <a:p>
            <a:pPr indent="0" marL="0">
              <a:lnSpc>
                <a:spcPct val="95000"/>
              </a:lnSpc>
              <a:buNone/>
            </a:pPr>
            <a:r>
              <a:rPr lang="en-US" sz="1200" b="1" dirty="0">
                <a:solidFill>
                  <a:srgbClr val="E97132"/>
                </a:solidFill>
                <a:latin typeface="Arial" pitchFamily="34" charset="0"/>
                <a:ea typeface="Arial" pitchFamily="34" charset="-122"/>
                <a:cs typeface="Arial" pitchFamily="34" charset="-120"/>
              </a:rPr>
              <a:t>M8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Hậu huấn luyện (5 cách)</a:t>
            </a:r>
            <a:endParaRPr lang="en-US" sz="1200" dirty="0"/>
          </a:p>
        </p:txBody>
      </p:sp>
      <p:sp>
        <p:nvSpPr>
          <p:cNvPr id="38" name="Text 35"/>
          <p:cNvSpPr/>
          <p:nvPr/>
        </p:nvSpPr>
        <p:spPr>
          <a:xfrm>
            <a:off x="4553712" y="5733288"/>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DPO/RAFT/GRPO/RM/distill trung tính; best-of-N +0,8.</a:t>
            </a:r>
            <a:endParaRPr lang="en-US" sz="1000" dirty="0"/>
          </a:p>
        </p:txBody>
      </p:sp>
      <p:sp>
        <p:nvSpPr>
          <p:cNvPr id="39" name="Shape 36"/>
          <p:cNvSpPr/>
          <p:nvPr/>
        </p:nvSpPr>
        <p:spPr>
          <a:xfrm>
            <a:off x="8266176" y="5129784"/>
            <a:ext cx="3520440" cy="1207008"/>
          </a:xfrm>
          <a:prstGeom prst="roundRect">
            <a:avLst>
              <a:gd name="adj" fmla="val 5303"/>
            </a:avLst>
          </a:prstGeom>
          <a:solidFill>
            <a:srgbClr val="FFFFFF"/>
          </a:solidFill>
          <a:ln w="19050">
            <a:solidFill>
              <a:srgbClr val="196B24"/>
            </a:solidFill>
            <a:prstDash val="solid"/>
          </a:ln>
        </p:spPr>
      </p:sp>
      <p:sp>
        <p:nvSpPr>
          <p:cNvPr id="40" name="Shape 37"/>
          <p:cNvSpPr/>
          <p:nvPr/>
        </p:nvSpPr>
        <p:spPr>
          <a:xfrm>
            <a:off x="8266176" y="5129784"/>
            <a:ext cx="109728" cy="1207008"/>
          </a:xfrm>
          <a:prstGeom prst="roundRect">
            <a:avLst>
              <a:gd name="adj" fmla="val 16667"/>
            </a:avLst>
          </a:prstGeom>
          <a:solidFill>
            <a:srgbClr val="196B24"/>
          </a:solidFill>
          <a:ln/>
        </p:spPr>
      </p:sp>
      <p:sp>
        <p:nvSpPr>
          <p:cNvPr id="41" name="Text 38"/>
          <p:cNvSpPr/>
          <p:nvPr/>
        </p:nvSpPr>
        <p:spPr>
          <a:xfrm>
            <a:off x="8485632" y="5248656"/>
            <a:ext cx="3136392" cy="457200"/>
          </a:xfrm>
          <a:prstGeom prst="rect">
            <a:avLst/>
          </a:prstGeom>
          <a:noFill/>
          <a:ln/>
        </p:spPr>
        <p:txBody>
          <a:bodyPr wrap="square" rtlCol="0" anchor="ctr"/>
          <a:lstStyle/>
          <a:p>
            <a:pPr indent="0" marL="0">
              <a:lnSpc>
                <a:spcPct val="95000"/>
              </a:lnSpc>
              <a:buNone/>
            </a:pPr>
            <a:r>
              <a:rPr lang="en-US" sz="1200" b="1" dirty="0">
                <a:solidFill>
                  <a:srgbClr val="196B24"/>
                </a:solidFill>
                <a:latin typeface="Arial" pitchFamily="34" charset="0"/>
                <a:ea typeface="Arial" pitchFamily="34" charset="-122"/>
                <a:cs typeface="Arial" pitchFamily="34" charset="-120"/>
              </a:rPr>
              <a:t>M9  </a:t>
            </a:r>
            <a:pPr indent="0" marL="0">
              <a:lnSpc>
                <a:spcPct val="95000"/>
              </a:lnSpc>
              <a:buNone/>
            </a:pPr>
            <a:r>
              <a:rPr lang="en-US" sz="1200" b="1" dirty="0">
                <a:solidFill>
                  <a:srgbClr val="000000"/>
                </a:solidFill>
                <a:latin typeface="Arial" pitchFamily="34" charset="0"/>
                <a:ea typeface="Arial" pitchFamily="34" charset="-122"/>
                <a:cs typeface="Arial" pitchFamily="34" charset="-120"/>
              </a:rPr>
              <a:t>Mở rộng 60M kiểm chứng</a:t>
            </a:r>
            <a:endParaRPr lang="en-US" sz="1200" dirty="0"/>
          </a:p>
        </p:txBody>
      </p:sp>
      <p:sp>
        <p:nvSpPr>
          <p:cNvPr id="42" name="Text 39"/>
          <p:cNvSpPr/>
          <p:nvPr/>
        </p:nvSpPr>
        <p:spPr>
          <a:xfrm>
            <a:off x="8485632" y="5733288"/>
            <a:ext cx="3136392" cy="530352"/>
          </a:xfrm>
          <a:prstGeom prst="rect">
            <a:avLst/>
          </a:prstGeom>
          <a:noFill/>
          <a:ln/>
        </p:spPr>
        <p:txBody>
          <a:bodyPr wrap="square" rtlCol="0" anchor="ctr"/>
          <a:lstStyle/>
          <a:p>
            <a:pPr indent="0" marL="0">
              <a:lnSpc>
                <a:spcPct val="98000"/>
              </a:lnSpc>
              <a:buNone/>
            </a:pPr>
            <a:r>
              <a:rPr lang="en-US" sz="1000" dirty="0">
                <a:solidFill>
                  <a:srgbClr val="515761"/>
                </a:solidFill>
                <a:latin typeface="Arial" pitchFamily="34" charset="0"/>
                <a:ea typeface="Arial" pitchFamily="34" charset="-122"/>
                <a:cs typeface="Arial" pitchFamily="34" charset="-120"/>
              </a:rPr>
              <a:t>934M token; judge 7,94→8,96 (+1,017, thắng 36/45).</a:t>
            </a:r>
            <a:endParaRPr lang="en-US" sz="1000" dirty="0"/>
          </a:p>
        </p:txBody>
      </p:sp>
      <p:sp>
        <p:nvSpPr>
          <p:cNvPr id="43" name="Shape 40"/>
          <p:cNvSpPr/>
          <p:nvPr/>
        </p:nvSpPr>
        <p:spPr>
          <a:xfrm>
            <a:off x="3950208" y="2752344"/>
            <a:ext cx="301752" cy="0"/>
          </a:xfrm>
          <a:prstGeom prst="line">
            <a:avLst/>
          </a:prstGeom>
          <a:noFill/>
          <a:ln w="25400">
            <a:solidFill>
              <a:srgbClr val="7A828C"/>
            </a:solidFill>
            <a:prstDash val="solid"/>
            <a:tailEnd type="triangle"/>
          </a:ln>
        </p:spPr>
      </p:sp>
      <p:sp>
        <p:nvSpPr>
          <p:cNvPr id="44" name="Shape 41"/>
          <p:cNvSpPr/>
          <p:nvPr/>
        </p:nvSpPr>
        <p:spPr>
          <a:xfrm>
            <a:off x="7882128" y="2752344"/>
            <a:ext cx="301752" cy="0"/>
          </a:xfrm>
          <a:prstGeom prst="line">
            <a:avLst/>
          </a:prstGeom>
          <a:noFill/>
          <a:ln w="25400">
            <a:solidFill>
              <a:srgbClr val="7A828C"/>
            </a:solidFill>
            <a:prstDash val="solid"/>
            <a:tailEnd type="triangle"/>
          </a:ln>
        </p:spPr>
      </p:sp>
      <p:sp>
        <p:nvSpPr>
          <p:cNvPr id="45" name="Shape 42"/>
          <p:cNvSpPr/>
          <p:nvPr/>
        </p:nvSpPr>
        <p:spPr>
          <a:xfrm>
            <a:off x="10026396" y="3374136"/>
            <a:ext cx="0" cy="283464"/>
          </a:xfrm>
          <a:prstGeom prst="line">
            <a:avLst/>
          </a:prstGeom>
          <a:noFill/>
          <a:ln w="25400">
            <a:solidFill>
              <a:srgbClr val="7A828C"/>
            </a:solidFill>
            <a:prstDash val="solid"/>
            <a:tailEnd type="triangle"/>
          </a:ln>
        </p:spPr>
      </p:sp>
      <p:sp>
        <p:nvSpPr>
          <p:cNvPr id="46" name="Shape 43"/>
          <p:cNvSpPr/>
          <p:nvPr/>
        </p:nvSpPr>
        <p:spPr>
          <a:xfrm>
            <a:off x="7882128" y="4242816"/>
            <a:ext cx="301752" cy="0"/>
          </a:xfrm>
          <a:prstGeom prst="line">
            <a:avLst/>
          </a:prstGeom>
          <a:noFill/>
          <a:ln w="25400">
            <a:solidFill>
              <a:srgbClr val="7A828C"/>
            </a:solidFill>
            <a:prstDash val="solid"/>
            <a:headEnd type="triangle"/>
          </a:ln>
        </p:spPr>
      </p:sp>
      <p:sp>
        <p:nvSpPr>
          <p:cNvPr id="47" name="Shape 44"/>
          <p:cNvSpPr/>
          <p:nvPr/>
        </p:nvSpPr>
        <p:spPr>
          <a:xfrm>
            <a:off x="3950208" y="4242816"/>
            <a:ext cx="301752" cy="0"/>
          </a:xfrm>
          <a:prstGeom prst="line">
            <a:avLst/>
          </a:prstGeom>
          <a:noFill/>
          <a:ln w="25400">
            <a:solidFill>
              <a:srgbClr val="7A828C"/>
            </a:solidFill>
            <a:prstDash val="solid"/>
            <a:headEnd type="triangle"/>
          </a:ln>
        </p:spPr>
      </p:sp>
      <p:sp>
        <p:nvSpPr>
          <p:cNvPr id="48" name="Shape 45"/>
          <p:cNvSpPr/>
          <p:nvPr/>
        </p:nvSpPr>
        <p:spPr>
          <a:xfrm>
            <a:off x="2162556" y="4864608"/>
            <a:ext cx="0" cy="283464"/>
          </a:xfrm>
          <a:prstGeom prst="line">
            <a:avLst/>
          </a:prstGeom>
          <a:noFill/>
          <a:ln w="25400">
            <a:solidFill>
              <a:srgbClr val="7A828C"/>
            </a:solidFill>
            <a:prstDash val="solid"/>
            <a:tailEnd type="triangle"/>
          </a:ln>
        </p:spPr>
      </p:sp>
      <p:sp>
        <p:nvSpPr>
          <p:cNvPr id="49" name="Shape 46"/>
          <p:cNvSpPr/>
          <p:nvPr/>
        </p:nvSpPr>
        <p:spPr>
          <a:xfrm>
            <a:off x="3950208" y="5733288"/>
            <a:ext cx="301752" cy="0"/>
          </a:xfrm>
          <a:prstGeom prst="line">
            <a:avLst/>
          </a:prstGeom>
          <a:noFill/>
          <a:ln w="25400">
            <a:solidFill>
              <a:srgbClr val="7A828C"/>
            </a:solidFill>
            <a:prstDash val="solid"/>
            <a:tailEnd type="triangle"/>
          </a:ln>
        </p:spPr>
      </p:sp>
      <p:sp>
        <p:nvSpPr>
          <p:cNvPr id="50" name="Shape 47"/>
          <p:cNvSpPr/>
          <p:nvPr/>
        </p:nvSpPr>
        <p:spPr>
          <a:xfrm>
            <a:off x="7882128" y="5733288"/>
            <a:ext cx="301752" cy="0"/>
          </a:xfrm>
          <a:prstGeom prst="line">
            <a:avLst/>
          </a:prstGeom>
          <a:noFill/>
          <a:ln w="25400">
            <a:solidFill>
              <a:srgbClr val="7A828C"/>
            </a:solidFill>
            <a:prstDash val="solid"/>
            <a:tailEnd type="triangle"/>
          </a:ln>
        </p:spPr>
      </p:sp>
      <p:sp>
        <p:nvSpPr>
          <p:cNvPr id="51" name="Text 48"/>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Xây nền tảng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Chẩn đoán &amp; chữa bằng dữ liệu    </a:t>
            </a:r>
            <a:pPr algn="ctr" indent="0" marL="0">
              <a:buNone/>
            </a:pPr>
            <a:r>
              <a:rPr lang="en-US" sz="1000" dirty="0">
                <a:solidFill>
                  <a:srgbClr val="515761"/>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Đường tắt (thất bại)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mở rộng</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E1</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E1 · Llama 30M/60M từ đầu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9</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pic>
        <p:nvPicPr>
          <p:cNvPr id="6" name="Image 1" descr="/Users/trieulh/Documents/Master/20252B_IT5410/Final/trieulh/report/figures/19_headtohead_progression.png">    </p:cNvPr>
          <p:cNvPicPr>
            <a:picLocks noChangeAspect="1"/>
          </p:cNvPicPr>
          <p:nvPr/>
        </p:nvPicPr>
        <p:blipFill>
          <a:blip r:embed="rId2"/>
          <a:srcRect l="0" r="0" t="0" b="0"/>
          <a:stretch/>
        </p:blipFill>
        <p:spPr>
          <a:xfrm>
            <a:off x="402336" y="1737360"/>
            <a:ext cx="5760720" cy="3749040"/>
          </a:xfrm>
          <a:prstGeom prst="rect">
            <a:avLst/>
          </a:prstGeom>
        </p:spPr>
      </p:pic>
      <p:sp>
        <p:nvSpPr>
          <p:cNvPr id="7" name="Text 3"/>
          <p:cNvSpPr/>
          <p:nvPr/>
        </p:nvSpPr>
        <p:spPr>
          <a:xfrm>
            <a:off x="402336" y="5532120"/>
            <a:ext cx="5760720" cy="64008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Đối đầu các checkpoint E1 ở hai chế độ sinh và hai giám khảo.</a:t>
            </a:r>
            <a:endParaRPr lang="en-US" sz="1100" dirty="0"/>
          </a:p>
        </p:txBody>
      </p:sp>
      <p:sp>
        <p:nvSpPr>
          <p:cNvPr id="8" name="Shape 4"/>
          <p:cNvSpPr/>
          <p:nvPr/>
        </p:nvSpPr>
        <p:spPr>
          <a:xfrm>
            <a:off x="6400800" y="1691640"/>
            <a:ext cx="0" cy="4297680"/>
          </a:xfrm>
          <a:prstGeom prst="line">
            <a:avLst/>
          </a:prstGeom>
          <a:noFill/>
          <a:ln w="12700">
            <a:solidFill>
              <a:srgbClr val="B8BCC4"/>
            </a:solidFill>
            <a:prstDash val="solid"/>
          </a:ln>
        </p:spPr>
      </p:sp>
      <p:sp>
        <p:nvSpPr>
          <p:cNvPr id="9" name="Text 5"/>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+1,017</a:t>
            </a:r>
            <a:endParaRPr lang="en-US" sz="3000" dirty="0"/>
          </a:p>
        </p:txBody>
      </p:sp>
      <p:sp>
        <p:nvSpPr>
          <p:cNvPr id="10" name="Text 6"/>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60M so với 30M Phase 2 (n=45, seed bắt cặp); cao hơn ở 36/45 đề, t = 6,53.</a:t>
            </a:r>
            <a:endParaRPr lang="en-US" sz="1350" dirty="0"/>
          </a:p>
        </p:txBody>
      </p:sp>
      <p:sp>
        <p:nvSpPr>
          <p:cNvPr id="11" name="Text 7"/>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8,55</a:t>
            </a:r>
            <a:endParaRPr lang="en-US" sz="3000" dirty="0"/>
          </a:p>
        </p:txBody>
      </p:sp>
      <p:sp>
        <p:nvSpPr>
          <p:cNvPr id="12" name="Text 8"/>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Best-of-3 từ trung bình một lần sinh 7,72: mô hình đã chứa mẫu tốt nhưng phân bố chưa ổn định.</a:t>
            </a:r>
            <a:endParaRPr lang="en-US" sz="1350" dirty="0"/>
          </a:p>
        </p:txBody>
      </p:sp>
      <p:sp>
        <p:nvSpPr>
          <p:cNvPr id="13" name="Text 9"/>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3,30</a:t>
            </a:r>
            <a:endParaRPr lang="en-US" sz="3000" dirty="0"/>
          </a:p>
        </p:txBody>
      </p:sp>
      <p:sp>
        <p:nvSpPr>
          <p:cNvPr id="14" name="Text 10"/>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runner không truyền token &lt;|story|&gt;, tạo đầu vào lệch hợp đồng prompt.</a:t>
            </a:r>
            <a:endParaRPr lang="en-US" sz="1350" dirty="0"/>
          </a:p>
        </p:txBody>
      </p:sp>
      <p:sp>
        <p:nvSpPr>
          <p:cNvPr id="15" name="Text 11"/>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6" name="Text 12"/>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Trong phạm vi E1, mở rộng quy mô tiền huấn luyện hiệu quả hơn mọi cấu hình hậu huấn luyện đã thử. Chênh lệch giữa 8,96 nội bộ và 3,30 vòng chung phản ánh độ nhạy với định dạng prompt, không phải năng lực kém.</a:t>
            </a:r>
            <a:endParaRPr lang="en-US" sz="1250" dirty="0"/>
          </a:p>
        </p:txBody>
      </p:sp>
      <p:sp>
        <p:nvSpPr>
          <p:cNvPr id="17" name="Text 13"/>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60M thay đổi đồng thời tham số, ngữ cảnh và ngân sách token — chưa cô lập riêng ảnh hưởng của dung lượng.</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E2</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E2 · GPT-2 63M từ đầu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10</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Transformer decoder-only kiểu GPT-2 (GPT2LMHeadModel), 7 khối, huấn luyện từ đầu.</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Khối LayerNorm → multi-head attention → residual → LayerNorm → GELU MLP → residual, với bảng vị trí học được và weight tying vào/ra.</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Bộ tách từ Metaspace BPE 16.384; điều kiện đóng thẻ character/moral/story, loss phần prompt bị mask.</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Chọn GPT-2 decoder-only train từ khởi tạo ngẫu nhiên để kiểm tra chất lượng biểu diễn token và khả năng dùng character + moral làm điều kiện.</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Tham số</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62,99M</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7 / 768</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MHA 12 head, 64 chiều</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FFN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GELU-new 3.072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Tokenizer</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Metaspace BPE 16k</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Cross-entropy next-token, mask phần prompt (label -100), chỉ tính loss trên thân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Learning rate ba pha 5e-4 → 1e-4 → 3e-6, weight decay 0,1, lịch warmup-decay (tên optimizer không nêu trong báo cáo).</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Tiền HL 2 epoch/15.625 bước; điều kiện hóa 1.611 bước; pha chỉ-nhân-quả 3 epoch/624 bước.</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Colab, một GPU A100; ba pha V16 chạy khoảng 100 phút.</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Mask prompt (-100), weight decay 0,1; dropout và gradient clip không nêu số.</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Học: nhận gradient trên token truyện sau &lt;story&gt;; Sinh: nối token truyện cho tới khi gặp &lt;/story&gt;.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E2</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E2 · GPT-2 63M từ đầu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11</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Chuỗi thí nghiệm nối tiếp theo giả thuyết: sửa tokenizer, bám trường đầu vào, rồi nhiều hướng nhằm tạo lập kế hoạch nhân quả.</a:t>
            </a:r>
            <a:endParaRPr lang="en-US" sz="14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V1–V3</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Sửa ranh giới từ; khớp đủ hai trường 3%→55%; kết thúc sạch 0%→100%.</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V7–V10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Chưng cất plan+story, trộn replay nhân quả; giữ trôi chảy, causal-pass ~2%.</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V11–V13</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Thẻ moral_class, tăng layer 63M→98M, DPO; causal-pass không đổi.</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V15</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Loss phụ liên kết story–moral: matching 75,4% nhưng không thành khả năng sinh.</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V16</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Tăng tiền huấn luyện 200k→500k: fluency tăng, liên kết nhân quả vẫn không tăng.</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figures/tracks/e2_v10_causal_replay.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V10 — replay nhân quả: loss validation nhân quả giảm 3,404→2,968 nhưng causal-pass giữ ở mức ~2%.</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E2</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E2 · GPT-2 63M từ đầu — Các bước phương pháp (V1 đến V16)</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12</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nghiên cứu: sửa biểu diễn token, bám trường đầu vào, rồi nhiều nỗ lực tạo lập kế hoạch nhân quả; kết luận loss thấp và matching cao vẫn không đủ để điều kiện chi phối diễn biến.</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V1-V2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Thiết kế lại tokenizer</a:t>
            </a:r>
            <a:endParaRPr lang="en-US" sz="1150" dirty="0"/>
          </a:p>
        </p:txBody>
      </p:sp>
      <p:sp>
        <p:nvSpPr>
          <p:cNvPr id="10" name="Text 7"/>
          <p:cNvSpPr/>
          <p:nvPr/>
        </p:nvSpPr>
        <p:spPr>
          <a:xfrm>
            <a:off x="62179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Metaspace BPE 16.384 xóa lỗi vỡ từ; Distinct-1 +33%, Self-BLEU giảm 64%.</a:t>
            </a:r>
            <a:endParaRPr lang="en-US" sz="95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V3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Điều kiện hóa có mask</a:t>
            </a:r>
            <a:endParaRPr lang="en-US" sz="1150" dirty="0"/>
          </a:p>
        </p:txBody>
      </p:sp>
      <p:sp>
        <p:nvSpPr>
          <p:cNvPr id="14" name="Text 11"/>
          <p:cNvSpPr/>
          <p:nvPr/>
        </p:nvSpPr>
        <p:spPr>
          <a:xfrm>
            <a:off x="455371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Khớp cả hai trường 3% lên 55%, kết thúc &lt;/story&gt; 0% lên 100%, fluency 6,21.</a:t>
            </a:r>
            <a:endParaRPr lang="en-US" sz="95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E97132"/>
            </a:solidFill>
            <a:prstDash val="solid"/>
          </a:ln>
        </p:spPr>
      </p:sp>
      <p:sp>
        <p:nvSpPr>
          <p:cNvPr id="16" name="Shape 13"/>
          <p:cNvSpPr/>
          <p:nvPr/>
        </p:nvSpPr>
        <p:spPr>
          <a:xfrm>
            <a:off x="8266176" y="2148840"/>
            <a:ext cx="109728" cy="1207008"/>
          </a:xfrm>
          <a:prstGeom prst="roundRect">
            <a:avLst>
              <a:gd name="adj" fmla="val 16667"/>
            </a:avLst>
          </a:prstGeom>
          <a:solidFill>
            <a:srgbClr val="E97132"/>
          </a:solidFill>
          <a:ln/>
        </p:spPr>
      </p:sp>
      <p:sp>
        <p:nvSpPr>
          <p:cNvPr id="17" name="Text 14"/>
          <p:cNvSpPr/>
          <p:nvPr/>
        </p:nvSpPr>
        <p:spPr>
          <a:xfrm>
            <a:off x="8485632" y="2249424"/>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Chẩn đoán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Phát hiện lỗ hổng nhân quả</a:t>
            </a:r>
            <a:endParaRPr lang="en-US" sz="1150" dirty="0"/>
          </a:p>
        </p:txBody>
      </p:sp>
      <p:sp>
        <p:nvSpPr>
          <p:cNvPr id="18" name="Text 15"/>
          <p:cNvSpPr/>
          <p:nvPr/>
        </p:nvSpPr>
        <p:spPr>
          <a:xfrm>
            <a:off x="848563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V3 đúng nhân vật 96% nhưng trait chi phối lựa chọn 1%, plot suy ra bài học 0%.</a:t>
            </a:r>
            <a:endParaRPr lang="en-US" sz="95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3D8DFF"/>
            </a:solidFill>
            <a:prstDash val="solid"/>
          </a:ln>
        </p:spPr>
      </p:sp>
      <p:sp>
        <p:nvSpPr>
          <p:cNvPr id="20" name="Shape 17"/>
          <p:cNvSpPr/>
          <p:nvPr/>
        </p:nvSpPr>
        <p:spPr>
          <a:xfrm>
            <a:off x="8266176" y="3639312"/>
            <a:ext cx="109728" cy="1207008"/>
          </a:xfrm>
          <a:prstGeom prst="roundRect">
            <a:avLst>
              <a:gd name="adj" fmla="val 16667"/>
            </a:avLst>
          </a:prstGeom>
          <a:solidFill>
            <a:srgbClr val="3D8DFF"/>
          </a:solidFill>
          <a:ln/>
        </p:spPr>
      </p:sp>
      <p:sp>
        <p:nvSpPr>
          <p:cNvPr id="21" name="Text 18"/>
          <p:cNvSpPr/>
          <p:nvPr/>
        </p:nvSpPr>
        <p:spPr>
          <a:xfrm>
            <a:off x="848563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V4-V8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Chưng cất teacher</a:t>
            </a:r>
            <a:endParaRPr lang="en-US" sz="1150" dirty="0"/>
          </a:p>
        </p:txBody>
      </p:sp>
      <p:sp>
        <p:nvSpPr>
          <p:cNvPr id="22" name="Text 19"/>
          <p:cNvSpPr/>
          <p:nvPr/>
        </p:nvSpPr>
        <p:spPr>
          <a:xfrm>
            <a:off x="848563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Dữ liệu bổ sung không cải thiện; V8 chưng cất teacher chỉ fluency 4,65, causal 0%.</a:t>
            </a:r>
            <a:endParaRPr lang="en-US" sz="95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V9-V11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Replay và thẻ lớp</a:t>
            </a:r>
            <a:endParaRPr lang="en-US" sz="1150" dirty="0"/>
          </a:p>
        </p:txBody>
      </p:sp>
      <p:sp>
        <p:nvSpPr>
          <p:cNvPr id="26" name="Text 23"/>
          <p:cNvSpPr/>
          <p:nvPr/>
        </p:nvSpPr>
        <p:spPr>
          <a:xfrm>
            <a:off x="455371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Replay giữ trôi chảy, causal-pass chỉ 2%; thẻ moral_class chọn kiểu truyện.</a:t>
            </a:r>
            <a:endParaRPr lang="en-US" sz="95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3D8DFF"/>
            </a:solidFill>
            <a:prstDash val="solid"/>
          </a:ln>
        </p:spPr>
      </p:sp>
      <p:sp>
        <p:nvSpPr>
          <p:cNvPr id="28" name="Shape 25"/>
          <p:cNvSpPr/>
          <p:nvPr/>
        </p:nvSpPr>
        <p:spPr>
          <a:xfrm>
            <a:off x="402336" y="3639312"/>
            <a:ext cx="109728" cy="1207008"/>
          </a:xfrm>
          <a:prstGeom prst="roundRect">
            <a:avLst>
              <a:gd name="adj" fmla="val 16667"/>
            </a:avLst>
          </a:prstGeom>
          <a:solidFill>
            <a:srgbClr val="3D8DFF"/>
          </a:solidFill>
          <a:ln/>
        </p:spPr>
      </p:sp>
      <p:sp>
        <p:nvSpPr>
          <p:cNvPr id="29" name="Text 26"/>
          <p:cNvSpPr/>
          <p:nvPr/>
        </p:nvSpPr>
        <p:spPr>
          <a:xfrm>
            <a:off x="62179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V12-V13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Tăng quy mô và DPO</a:t>
            </a:r>
            <a:endParaRPr lang="en-US" sz="1150" dirty="0"/>
          </a:p>
        </p:txBody>
      </p:sp>
      <p:sp>
        <p:nvSpPr>
          <p:cNvPr id="30" name="Text 27"/>
          <p:cNvSpPr/>
          <p:nvPr/>
        </p:nvSpPr>
        <p:spPr>
          <a:xfrm>
            <a:off x="62179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63M lên 98M chỉ +1% causal (CI chạm 0); DPO đạt 54,4%, gần mức ngẫu nhiên.</a:t>
            </a:r>
            <a:endParaRPr lang="en-US" sz="95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3D8DFF"/>
            </a:solidFill>
            <a:prstDash val="solid"/>
          </a:ln>
        </p:spPr>
      </p:sp>
      <p:sp>
        <p:nvSpPr>
          <p:cNvPr id="32" name="Shape 29"/>
          <p:cNvSpPr/>
          <p:nvPr/>
        </p:nvSpPr>
        <p:spPr>
          <a:xfrm>
            <a:off x="402336" y="5129784"/>
            <a:ext cx="109728" cy="1207008"/>
          </a:xfrm>
          <a:prstGeom prst="roundRect">
            <a:avLst>
              <a:gd name="adj" fmla="val 16667"/>
            </a:avLst>
          </a:prstGeom>
          <a:solidFill>
            <a:srgbClr val="3D8DFF"/>
          </a:solidFill>
          <a:ln/>
        </p:spPr>
      </p:sp>
      <p:sp>
        <p:nvSpPr>
          <p:cNvPr id="33" name="Text 30"/>
          <p:cNvSpPr/>
          <p:nvPr/>
        </p:nvSpPr>
        <p:spPr>
          <a:xfrm>
            <a:off x="621792" y="5230368"/>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V14-V15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Ép nhân quả và loss phụ</a:t>
            </a:r>
            <a:endParaRPr lang="en-US" sz="1150" dirty="0"/>
          </a:p>
        </p:txBody>
      </p:sp>
      <p:sp>
        <p:nvSpPr>
          <p:cNvPr id="34" name="Text 31"/>
          <p:cNvSpPr/>
          <p:nvPr/>
        </p:nvSpPr>
        <p:spPr>
          <a:xfrm>
            <a:off x="62179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8 epoch causal làm fluency giảm; V15 matching 75,4% không thành khả năng sinh.</a:t>
            </a:r>
            <a:endParaRPr lang="en-US" sz="95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3D8DFF"/>
            </a:solidFill>
            <a:prstDash val="solid"/>
          </a:ln>
        </p:spPr>
      </p:sp>
      <p:sp>
        <p:nvSpPr>
          <p:cNvPr id="36" name="Shape 33"/>
          <p:cNvSpPr/>
          <p:nvPr/>
        </p:nvSpPr>
        <p:spPr>
          <a:xfrm>
            <a:off x="4334256" y="5129784"/>
            <a:ext cx="109728" cy="1207008"/>
          </a:xfrm>
          <a:prstGeom prst="roundRect">
            <a:avLst>
              <a:gd name="adj" fmla="val 16667"/>
            </a:avLst>
          </a:prstGeom>
          <a:solidFill>
            <a:srgbClr val="3D8DFF"/>
          </a:solidFill>
          <a:ln/>
        </p:spPr>
      </p:sp>
      <p:sp>
        <p:nvSpPr>
          <p:cNvPr id="37" name="Text 34"/>
          <p:cNvSpPr/>
          <p:nvPr/>
        </p:nvSpPr>
        <p:spPr>
          <a:xfrm>
            <a:off x="4553712" y="5230368"/>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V16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Tăng tiền huấn luyện</a:t>
            </a:r>
            <a:endParaRPr lang="en-US" sz="1150" dirty="0"/>
          </a:p>
        </p:txBody>
      </p:sp>
      <p:sp>
        <p:nvSpPr>
          <p:cNvPr id="38" name="Text 35"/>
          <p:cNvSpPr/>
          <p:nvPr/>
        </p:nvSpPr>
        <p:spPr>
          <a:xfrm>
            <a:off x="455371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Tăng 200k lên 500k truyện; fluency 5,90 lên 6,85 nhưng causal-pass vẫn 0%.</a:t>
            </a:r>
            <a:endParaRPr lang="en-US" sz="950" dirty="0"/>
          </a:p>
        </p:txBody>
      </p:sp>
      <p:sp>
        <p:nvSpPr>
          <p:cNvPr id="39" name="Shape 36"/>
          <p:cNvSpPr/>
          <p:nvPr/>
        </p:nvSpPr>
        <p:spPr>
          <a:xfrm>
            <a:off x="8266176" y="5129784"/>
            <a:ext cx="3520440" cy="1207008"/>
          </a:xfrm>
          <a:prstGeom prst="roundRect">
            <a:avLst>
              <a:gd name="adj" fmla="val 5303"/>
            </a:avLst>
          </a:prstGeom>
          <a:solidFill>
            <a:srgbClr val="FFFFFF"/>
          </a:solidFill>
          <a:ln w="19050">
            <a:solidFill>
              <a:srgbClr val="196B24"/>
            </a:solidFill>
            <a:prstDash val="solid"/>
          </a:ln>
        </p:spPr>
      </p:sp>
      <p:sp>
        <p:nvSpPr>
          <p:cNvPr id="40" name="Shape 37"/>
          <p:cNvSpPr/>
          <p:nvPr/>
        </p:nvSpPr>
        <p:spPr>
          <a:xfrm>
            <a:off x="8266176" y="5129784"/>
            <a:ext cx="109728" cy="1207008"/>
          </a:xfrm>
          <a:prstGeom prst="roundRect">
            <a:avLst>
              <a:gd name="adj" fmla="val 16667"/>
            </a:avLst>
          </a:prstGeom>
          <a:solidFill>
            <a:srgbClr val="196B24"/>
          </a:solidFill>
          <a:ln/>
        </p:spPr>
      </p:sp>
      <p:sp>
        <p:nvSpPr>
          <p:cNvPr id="41" name="Text 38"/>
          <p:cNvSpPr/>
          <p:nvPr/>
        </p:nvSpPr>
        <p:spPr>
          <a:xfrm>
            <a:off x="848563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Kết luận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Phát hiện cốt lõi</a:t>
            </a:r>
            <a:endParaRPr lang="en-US" sz="1150" dirty="0"/>
          </a:p>
        </p:txBody>
      </p:sp>
      <p:sp>
        <p:nvSpPr>
          <p:cNvPr id="42" name="Text 39"/>
          <p:cNvSpPr/>
          <p:nvPr/>
        </p:nvSpPr>
        <p:spPr>
          <a:xfrm>
            <a:off x="848563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Loss thấp, bám đầu vào cao, matching tốt vẫn không chi phối nhân quả; judge 3,18/10.</a:t>
            </a:r>
            <a:endParaRPr lang="en-US" sz="950" dirty="0"/>
          </a:p>
        </p:txBody>
      </p:sp>
      <p:sp>
        <p:nvSpPr>
          <p:cNvPr id="43" name="Shape 40"/>
          <p:cNvSpPr/>
          <p:nvPr/>
        </p:nvSpPr>
        <p:spPr>
          <a:xfrm>
            <a:off x="3950208" y="2752344"/>
            <a:ext cx="301752" cy="0"/>
          </a:xfrm>
          <a:prstGeom prst="line">
            <a:avLst/>
          </a:prstGeom>
          <a:noFill/>
          <a:ln w="25400">
            <a:solidFill>
              <a:srgbClr val="7A828C"/>
            </a:solidFill>
            <a:prstDash val="solid"/>
            <a:tailEnd type="triangle"/>
          </a:ln>
        </p:spPr>
      </p:sp>
      <p:sp>
        <p:nvSpPr>
          <p:cNvPr id="44" name="Shape 41"/>
          <p:cNvSpPr/>
          <p:nvPr/>
        </p:nvSpPr>
        <p:spPr>
          <a:xfrm>
            <a:off x="7882128" y="2752344"/>
            <a:ext cx="301752" cy="0"/>
          </a:xfrm>
          <a:prstGeom prst="line">
            <a:avLst/>
          </a:prstGeom>
          <a:noFill/>
          <a:ln w="25400">
            <a:solidFill>
              <a:srgbClr val="7A828C"/>
            </a:solidFill>
            <a:prstDash val="solid"/>
            <a:tailEnd type="triangle"/>
          </a:ln>
        </p:spPr>
      </p:sp>
      <p:sp>
        <p:nvSpPr>
          <p:cNvPr id="45" name="Shape 42"/>
          <p:cNvSpPr/>
          <p:nvPr/>
        </p:nvSpPr>
        <p:spPr>
          <a:xfrm>
            <a:off x="10026396" y="3374136"/>
            <a:ext cx="0" cy="246888"/>
          </a:xfrm>
          <a:prstGeom prst="line">
            <a:avLst/>
          </a:prstGeom>
          <a:noFill/>
          <a:ln w="25400">
            <a:solidFill>
              <a:srgbClr val="7A828C"/>
            </a:solidFill>
            <a:prstDash val="solid"/>
            <a:tailEnd type="triangle"/>
          </a:ln>
        </p:spPr>
      </p:sp>
      <p:sp>
        <p:nvSpPr>
          <p:cNvPr id="46" name="Shape 43"/>
          <p:cNvSpPr/>
          <p:nvPr/>
        </p:nvSpPr>
        <p:spPr>
          <a:xfrm>
            <a:off x="7882128" y="4242816"/>
            <a:ext cx="301752" cy="0"/>
          </a:xfrm>
          <a:prstGeom prst="line">
            <a:avLst/>
          </a:prstGeom>
          <a:noFill/>
          <a:ln w="25400">
            <a:solidFill>
              <a:srgbClr val="7A828C"/>
            </a:solidFill>
            <a:prstDash val="solid"/>
            <a:headEnd type="triangle"/>
          </a:ln>
        </p:spPr>
      </p:sp>
      <p:sp>
        <p:nvSpPr>
          <p:cNvPr id="47" name="Shape 44"/>
          <p:cNvSpPr/>
          <p:nvPr/>
        </p:nvSpPr>
        <p:spPr>
          <a:xfrm>
            <a:off x="3950208" y="4242816"/>
            <a:ext cx="301752" cy="0"/>
          </a:xfrm>
          <a:prstGeom prst="line">
            <a:avLst/>
          </a:prstGeom>
          <a:noFill/>
          <a:ln w="25400">
            <a:solidFill>
              <a:srgbClr val="7A828C"/>
            </a:solidFill>
            <a:prstDash val="solid"/>
            <a:headEnd type="triangle"/>
          </a:ln>
        </p:spPr>
      </p:sp>
      <p:sp>
        <p:nvSpPr>
          <p:cNvPr id="48" name="Shape 45"/>
          <p:cNvSpPr/>
          <p:nvPr/>
        </p:nvSpPr>
        <p:spPr>
          <a:xfrm>
            <a:off x="2162556" y="4864608"/>
            <a:ext cx="0" cy="246888"/>
          </a:xfrm>
          <a:prstGeom prst="line">
            <a:avLst/>
          </a:prstGeom>
          <a:noFill/>
          <a:ln w="25400">
            <a:solidFill>
              <a:srgbClr val="7A828C"/>
            </a:solidFill>
            <a:prstDash val="solid"/>
            <a:tailEnd type="triangle"/>
          </a:ln>
        </p:spPr>
      </p:sp>
      <p:sp>
        <p:nvSpPr>
          <p:cNvPr id="49" name="Shape 46"/>
          <p:cNvSpPr/>
          <p:nvPr/>
        </p:nvSpPr>
        <p:spPr>
          <a:xfrm>
            <a:off x="3950208" y="5733288"/>
            <a:ext cx="301752" cy="0"/>
          </a:xfrm>
          <a:prstGeom prst="line">
            <a:avLst/>
          </a:prstGeom>
          <a:noFill/>
          <a:ln w="25400">
            <a:solidFill>
              <a:srgbClr val="7A828C"/>
            </a:solidFill>
            <a:prstDash val="solid"/>
            <a:tailEnd type="triangle"/>
          </a:ln>
        </p:spPr>
      </p:sp>
      <p:sp>
        <p:nvSpPr>
          <p:cNvPr id="50" name="Shape 47"/>
          <p:cNvSpPr/>
          <p:nvPr/>
        </p:nvSpPr>
        <p:spPr>
          <a:xfrm>
            <a:off x="7882128" y="5733288"/>
            <a:ext cx="301752" cy="0"/>
          </a:xfrm>
          <a:prstGeom prst="line">
            <a:avLst/>
          </a:prstGeom>
          <a:noFill/>
          <a:ln w="25400">
            <a:solidFill>
              <a:srgbClr val="7A828C"/>
            </a:solidFill>
            <a:prstDash val="solid"/>
            <a:tailEnd type="triangle"/>
          </a:ln>
        </p:spPr>
      </p:sp>
      <p:sp>
        <p:nvSpPr>
          <p:cNvPr id="51" name="Text 48"/>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Nền tảng &amp; thiết lập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Can thiệp &amp; huấn luyện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&amp; phát hiện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kết quả</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E2</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E2 · GPT-2 63M từ đầu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13</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pic>
        <p:nvPicPr>
          <p:cNvPr id="6" name="Image 1" descr="/Users/trieulh/Documents/Master/20252B_IT5410/Final/figures/tracks/e2_v14_causal_epochs.png">    </p:cNvPr>
          <p:cNvPicPr>
            <a:picLocks noChangeAspect="1"/>
          </p:cNvPicPr>
          <p:nvPr/>
        </p:nvPicPr>
        <p:blipFill>
          <a:blip r:embed="rId2"/>
          <a:srcRect l="0" r="0" t="0" b="0"/>
          <a:stretch/>
        </p:blipFill>
        <p:spPr>
          <a:xfrm>
            <a:off x="402336" y="1737360"/>
            <a:ext cx="5760720" cy="3749040"/>
          </a:xfrm>
          <a:prstGeom prst="rect">
            <a:avLst/>
          </a:prstGeom>
        </p:spPr>
      </p:pic>
      <p:sp>
        <p:nvSpPr>
          <p:cNvPr id="7" name="Text 3"/>
          <p:cNvSpPr/>
          <p:nvPr/>
        </p:nvSpPr>
        <p:spPr>
          <a:xfrm>
            <a:off x="402336" y="5532120"/>
            <a:ext cx="5760720" cy="64008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V14 — tám epoch chỉ dùng dữ liệu nhân quả: fluency giảm, causal-pass vẫn 0–5%.</a:t>
            </a:r>
            <a:endParaRPr lang="en-US" sz="1100" dirty="0"/>
          </a:p>
        </p:txBody>
      </p:sp>
      <p:sp>
        <p:nvSpPr>
          <p:cNvPr id="8" name="Shape 4"/>
          <p:cNvSpPr/>
          <p:nvPr/>
        </p:nvSpPr>
        <p:spPr>
          <a:xfrm>
            <a:off x="6400800" y="1691640"/>
            <a:ext cx="0" cy="4297680"/>
          </a:xfrm>
          <a:prstGeom prst="line">
            <a:avLst/>
          </a:prstGeom>
          <a:noFill/>
          <a:ln w="12700">
            <a:solidFill>
              <a:srgbClr val="B8BCC4"/>
            </a:solidFill>
            <a:prstDash val="solid"/>
          </a:ln>
        </p:spPr>
      </p:sp>
      <p:sp>
        <p:nvSpPr>
          <p:cNvPr id="9" name="Text 5"/>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3% → 55%</a:t>
            </a:r>
            <a:endParaRPr lang="en-US" sz="3000" dirty="0"/>
          </a:p>
        </p:txBody>
      </p:sp>
      <p:sp>
        <p:nvSpPr>
          <p:cNvPr id="10" name="Text 6"/>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Tỷ lệ khớp đủ hai trường đầu vào sau khi sửa tokenizer và masking (V2→V3).</a:t>
            </a:r>
            <a:endParaRPr lang="en-US" sz="1350" dirty="0"/>
          </a:p>
        </p:txBody>
      </p:sp>
      <p:sp>
        <p:nvSpPr>
          <p:cNvPr id="11" name="Text 7"/>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0–5%</a:t>
            </a:r>
            <a:endParaRPr lang="en-US" sz="3000" dirty="0"/>
          </a:p>
        </p:txBody>
      </p:sp>
      <p:sp>
        <p:nvSpPr>
          <p:cNvPr id="12" name="Text 8"/>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Causal-pass giữ nguyên qua mọi can thiệp: tăng depth, DPO và nhiều epoch đều không cải thiện.</a:t>
            </a:r>
            <a:endParaRPr lang="en-US" sz="1350" dirty="0"/>
          </a:p>
        </p:txBody>
      </p:sp>
      <p:sp>
        <p:nvSpPr>
          <p:cNvPr id="13" name="Text 9"/>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3,18</a:t>
            </a:r>
            <a:endParaRPr lang="en-US" sz="3000" dirty="0"/>
          </a:p>
        </p:txBody>
      </p:sp>
      <p:sp>
        <p:nvSpPr>
          <p:cNvPr id="14" name="Text 10"/>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nhắc đúng nhân vật và bài học nhưng chưa lập kế hoạch nhân quả khi sinh.</a:t>
            </a:r>
            <a:endParaRPr lang="en-US" sz="1350" dirty="0"/>
          </a:p>
        </p:txBody>
      </p:sp>
      <p:sp>
        <p:nvSpPr>
          <p:cNvPr id="15" name="Text 11"/>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6" name="Text 12"/>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Cải thiện bộ tách từ và tăng token nâng chất lượng ngôn ngữ và độ bám trường, nhưng khả năng để điều kiện chi phối diễn biến không xuất hiện ở quy mô 63M. Loss và matching không chứng minh được lập kế hoạch khi sinh.</a:t>
            </a:r>
            <a:endParaRPr lang="en-US" sz="1250" dirty="0"/>
          </a:p>
        </p:txBody>
      </p:sp>
      <p:sp>
        <p:nvSpPr>
          <p:cNvPr id="17" name="Text 13"/>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dữ liệu nhân quả bổ sung nhỏ; mỗi biến thể một seed.</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E3</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E3 · SmolLM2-135M + LoRA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14</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SmolLM2-135M decoder-only kiểu Llama (30 tầng) đóng băng, chỉ học adapter LoRA hạng thấp.</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Giữ nguyên trọng số nền đã pretrain, chỉ chèn ma trận low-rank B·A vào các projection; ba nhánh A/B/C khác vị trí đặt adapter.</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SmolLM2 tách riêng q, k, v, o, gate, up, down nên khảo sát được phủ tầng và mở rộng sang MLP.</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Kế thừa prior đã pretrain thay vì train từ đầu; thiết kế single-factor cho phép quy chênh lệch kết quả về đúng vị trí adapter.</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Nền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134,5M (đóng băng)</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30 / 576</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GQA 9 q / 3 kv</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Adapter (C)</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4,88M (3,5%)</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Vocab / ngữ cảnh</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49k / 512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Cross-entropy sinh có điều kiện, completion-only, chỉ tính trên token truyện (mask ngữ cảnh -100).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AdamW, LR 2e-4 cosine, warmup 3%, bf16; LoRA r=16, alpha=32, dropout 0,05.</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Batch hiệu dụng 32 (16 × grad accum 2), 2 epoch (~3.125 bước/nhánh), tập con 50.000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Một GPU Colab L4; vài phút mỗi nhánh (thời gian chi tiết không nêu).</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LoRA dropout 0,05; đóng băng toàn bộ nền; cosine với 3% warmup.</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Học: chỉ tích low-rank B·A cập nhật trên token truyện; Sinh: dự đoán tuần tự từng token theo điều kiện system + đề.</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E3</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E3 · SmolLM2-135M + LoRA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15</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Bốn cấu hình trên cùng nền, cùng dữ liệu và cùng ngân sách; chỉ đổi vị trí đặt adapter qua ba nhánh so với mô hình nền.</a:t>
            </a:r>
            <a:endParaRPr lang="en-US" sz="14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Nền</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Không adapter; PPL 9,52, điểm nội bộ 5,73 — mốc tham chiếu.</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A · q/v toàn tầng</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≈0,92M tham số; PPL 4,82, điểm 6,70; dẫn đầu sáng tạo và độ dễ đọc.</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 · q/v 1/3 tầng cuối</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≈0,31M; PPL 5,46, điểm 5,94; adherence 4,78 &lt; nền 5,08.</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C · mọi lớp tuyến tính</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≈4,88M; PPL 3,84, điểm 6,87; dẫn đầu ngữ pháp, bài học, tuân thủ, overall.</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figures/tracks/e3_train_dynamics.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Động lực huấn luyện: cross-entropy thật trên token truyện; thứ hạng hội tụ C &lt; A &lt; B trùng thứ hạng perplexity held-out.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E3</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E3 · SmolLM2-135M + LoRA — Các bước phương pháp</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16</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nghiên cứu: đóng băng mô hình nền, thiết kế ablation một biến về vị trí adapter, huấn luyện ba nhánh cùng điều kiện rồi so sánh perplexity và giám khảo nội bộ để tìm vị trí tối ưu.</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B1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Chọn nền đóng băng</a:t>
            </a:r>
            <a:endParaRPr lang="en-US" sz="1150" dirty="0"/>
          </a:p>
        </p:txBody>
      </p:sp>
      <p:sp>
        <p:nvSpPr>
          <p:cNvPr id="10" name="Text 7"/>
          <p:cNvSpPr/>
          <p:nvPr/>
        </p:nvSpPr>
        <p:spPr>
          <a:xfrm>
            <a:off x="62179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SmolLM2-135M, 30 tầng, đóng băng toàn bộ trọng số; chỉ học adapter.</a:t>
            </a:r>
            <a:endParaRPr lang="en-US" sz="95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B2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Định dạng sinh có điều kiện</a:t>
            </a:r>
            <a:endParaRPr lang="en-US" sz="1150" dirty="0"/>
          </a:p>
        </p:txBody>
      </p:sp>
      <p:sp>
        <p:nvSpPr>
          <p:cNvPr id="14" name="Text 11"/>
          <p:cNvSpPr/>
          <p:nvPr/>
        </p:nvSpPr>
        <p:spPr>
          <a:xfrm>
            <a:off x="455371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system + đề 5 trường → truyện, loss chỉ trên token truyện (mask -100), seq 512.</a:t>
            </a:r>
            <a:endParaRPr lang="en-US" sz="95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156082"/>
            </a:solidFill>
            <a:prstDash val="solid"/>
          </a:ln>
        </p:spPr>
      </p:sp>
      <p:sp>
        <p:nvSpPr>
          <p:cNvPr id="16" name="Shape 13"/>
          <p:cNvSpPr/>
          <p:nvPr/>
        </p:nvSpPr>
        <p:spPr>
          <a:xfrm>
            <a:off x="8266176" y="2148840"/>
            <a:ext cx="109728" cy="1207008"/>
          </a:xfrm>
          <a:prstGeom prst="roundRect">
            <a:avLst>
              <a:gd name="adj" fmla="val 16667"/>
            </a:avLst>
          </a:prstGeom>
          <a:solidFill>
            <a:srgbClr val="156082"/>
          </a:solidFill>
          <a:ln/>
        </p:spPr>
      </p:sp>
      <p:sp>
        <p:nvSpPr>
          <p:cNvPr id="17" name="Text 14"/>
          <p:cNvSpPr/>
          <p:nvPr/>
        </p:nvSpPr>
        <p:spPr>
          <a:xfrm>
            <a:off x="848563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Thiết kế ablation một biến</a:t>
            </a:r>
            <a:endParaRPr lang="en-US" sz="1150" dirty="0"/>
          </a:p>
        </p:txBody>
      </p:sp>
      <p:sp>
        <p:nvSpPr>
          <p:cNvPr id="18" name="Text 15"/>
          <p:cNvSpPr/>
          <p:nvPr/>
        </p:nvSpPr>
        <p:spPr>
          <a:xfrm>
            <a:off x="848563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Tách trục độ sâu (A vs B) và độ rộng module (A vs C); giữ r=16, α=32, dropout 0,05.</a:t>
            </a:r>
            <a:endParaRPr lang="en-US" sz="95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156082"/>
            </a:solidFill>
            <a:prstDash val="solid"/>
          </a:ln>
        </p:spPr>
      </p:sp>
      <p:sp>
        <p:nvSpPr>
          <p:cNvPr id="20" name="Shape 17"/>
          <p:cNvSpPr/>
          <p:nvPr/>
        </p:nvSpPr>
        <p:spPr>
          <a:xfrm>
            <a:off x="8266176" y="3639312"/>
            <a:ext cx="109728" cy="1207008"/>
          </a:xfrm>
          <a:prstGeom prst="roundRect">
            <a:avLst>
              <a:gd name="adj" fmla="val 16667"/>
            </a:avLst>
          </a:prstGeom>
          <a:solidFill>
            <a:srgbClr val="156082"/>
          </a:solidFill>
          <a:ln/>
        </p:spPr>
      </p:sp>
      <p:sp>
        <p:nvSpPr>
          <p:cNvPr id="21" name="Text 18"/>
          <p:cNvSpPr/>
          <p:nvPr/>
        </p:nvSpPr>
        <p:spPr>
          <a:xfrm>
            <a:off x="8485632" y="3739896"/>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B4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Thiết lập baseline nền</a:t>
            </a:r>
            <a:endParaRPr lang="en-US" sz="1150" dirty="0"/>
          </a:p>
        </p:txBody>
      </p:sp>
      <p:sp>
        <p:nvSpPr>
          <p:cNvPr id="22" name="Text 19"/>
          <p:cNvSpPr/>
          <p:nvPr/>
        </p:nvSpPr>
        <p:spPr>
          <a:xfrm>
            <a:off x="848563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Nền không adapter làm mốc: PPL 9,52 và Flesch -66, gần như không đọc được.</a:t>
            </a:r>
            <a:endParaRPr lang="en-US" sz="95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B5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Huấn luyện ba nhánh A/B/C</a:t>
            </a:r>
            <a:endParaRPr lang="en-US" sz="1150" dirty="0"/>
          </a:p>
        </p:txBody>
      </p:sp>
      <p:sp>
        <p:nvSpPr>
          <p:cNvPr id="26" name="Text 23"/>
          <p:cNvSpPr/>
          <p:nvPr/>
        </p:nvSpPr>
        <p:spPr>
          <a:xfrm>
            <a:off x="455371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Cùng 50k truyện, 2 epoch; adapter 0,92M (A) / 0,31M (B) / 4,88M (C, tức 3,5%).</a:t>
            </a:r>
            <a:endParaRPr lang="en-US" sz="95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E97132"/>
            </a:solidFill>
            <a:prstDash val="solid"/>
          </a:ln>
        </p:spPr>
      </p:sp>
      <p:sp>
        <p:nvSpPr>
          <p:cNvPr id="28" name="Shape 25"/>
          <p:cNvSpPr/>
          <p:nvPr/>
        </p:nvSpPr>
        <p:spPr>
          <a:xfrm>
            <a:off x="402336" y="3639312"/>
            <a:ext cx="109728" cy="1207008"/>
          </a:xfrm>
          <a:prstGeom prst="roundRect">
            <a:avLst>
              <a:gd name="adj" fmla="val 16667"/>
            </a:avLst>
          </a:prstGeom>
          <a:solidFill>
            <a:srgbClr val="E97132"/>
          </a:solidFill>
          <a:ln/>
        </p:spPr>
      </p:sp>
      <p:sp>
        <p:nvSpPr>
          <p:cNvPr id="29" name="Text 26"/>
          <p:cNvSpPr/>
          <p:nvPr/>
        </p:nvSpPr>
        <p:spPr>
          <a:xfrm>
            <a:off x="621792" y="3739896"/>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B6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Đo perplexity held-out</a:t>
            </a:r>
            <a:endParaRPr lang="en-US" sz="1150" dirty="0"/>
          </a:p>
        </p:txBody>
      </p:sp>
      <p:sp>
        <p:nvSpPr>
          <p:cNvPr id="30" name="Text 27"/>
          <p:cNvSpPr/>
          <p:nvPr/>
        </p:nvSpPr>
        <p:spPr>
          <a:xfrm>
            <a:off x="62179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Trên 500 dòng cố định: C 3,84 &lt; A 4,82 &lt; B 5,46, thấp hơn nền 9,52 khoảng 60%.</a:t>
            </a:r>
            <a:endParaRPr lang="en-US" sz="95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E97132"/>
            </a:solidFill>
            <a:prstDash val="solid"/>
          </a:ln>
        </p:spPr>
      </p:sp>
      <p:sp>
        <p:nvSpPr>
          <p:cNvPr id="32" name="Shape 29"/>
          <p:cNvSpPr/>
          <p:nvPr/>
        </p:nvSpPr>
        <p:spPr>
          <a:xfrm>
            <a:off x="402336" y="5129784"/>
            <a:ext cx="109728" cy="1207008"/>
          </a:xfrm>
          <a:prstGeom prst="roundRect">
            <a:avLst>
              <a:gd name="adj" fmla="val 16667"/>
            </a:avLst>
          </a:prstGeom>
          <a:solidFill>
            <a:srgbClr val="E97132"/>
          </a:solidFill>
          <a:ln/>
        </p:spPr>
      </p:sp>
      <p:sp>
        <p:nvSpPr>
          <p:cNvPr id="33" name="Text 30"/>
          <p:cNvSpPr/>
          <p:nvPr/>
        </p:nvSpPr>
        <p:spPr>
          <a:xfrm>
            <a:off x="621792" y="5230368"/>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B7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Kiểm chứng judge nội bộ</a:t>
            </a:r>
            <a:endParaRPr lang="en-US" sz="1150" dirty="0"/>
          </a:p>
        </p:txBody>
      </p:sp>
      <p:sp>
        <p:nvSpPr>
          <p:cNvPr id="34" name="Text 31"/>
          <p:cNvSpPr/>
          <p:nvPr/>
        </p:nvSpPr>
        <p:spPr>
          <a:xfrm>
            <a:off x="62179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Qwen2.5-7B, 4 trục, n=50/nhánh: C 6,87 &gt; A 6,70 &gt; B 5,94 &gt; nền 5,73, đúng thứ hạng PPL.</a:t>
            </a:r>
            <a:endParaRPr lang="en-US" sz="95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196B24"/>
            </a:solidFill>
            <a:prstDash val="solid"/>
          </a:ln>
        </p:spPr>
      </p:sp>
      <p:sp>
        <p:nvSpPr>
          <p:cNvPr id="36" name="Shape 33"/>
          <p:cNvSpPr/>
          <p:nvPr/>
        </p:nvSpPr>
        <p:spPr>
          <a:xfrm>
            <a:off x="4334256" y="5129784"/>
            <a:ext cx="109728" cy="1207008"/>
          </a:xfrm>
          <a:prstGeom prst="roundRect">
            <a:avLst>
              <a:gd name="adj" fmla="val 16667"/>
            </a:avLst>
          </a:prstGeom>
          <a:solidFill>
            <a:srgbClr val="196B24"/>
          </a:solidFill>
          <a:ln/>
        </p:spPr>
      </p:sp>
      <p:sp>
        <p:nvSpPr>
          <p:cNvPr id="37" name="Text 34"/>
          <p:cNvSpPr/>
          <p:nvPr/>
        </p:nvSpPr>
        <p:spPr>
          <a:xfrm>
            <a:off x="455371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B8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Kết luận vị trí tối ưu</a:t>
            </a:r>
            <a:endParaRPr lang="en-US" sz="1150" dirty="0"/>
          </a:p>
        </p:txBody>
      </p:sp>
      <p:sp>
        <p:nvSpPr>
          <p:cNvPr id="38" name="Text 35"/>
          <p:cNvSpPr/>
          <p:nvPr/>
        </p:nvSpPr>
        <p:spPr>
          <a:xfrm>
            <a:off x="455371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Độ rộng module lấn át độ sâu tầng; C all-linear tốt nhất, B adherence 4,78 tụt dưới nền.</a:t>
            </a:r>
            <a:endParaRPr lang="en-US" sz="950" dirty="0"/>
          </a:p>
        </p:txBody>
      </p:sp>
      <p:sp>
        <p:nvSpPr>
          <p:cNvPr id="39" name="Shape 36"/>
          <p:cNvSpPr/>
          <p:nvPr/>
        </p:nvSpPr>
        <p:spPr>
          <a:xfrm>
            <a:off x="8266176" y="5129784"/>
            <a:ext cx="3520440" cy="1207008"/>
          </a:xfrm>
          <a:prstGeom prst="roundRect">
            <a:avLst>
              <a:gd name="adj" fmla="val 5303"/>
            </a:avLst>
          </a:prstGeom>
          <a:solidFill>
            <a:srgbClr val="FFFFFF"/>
          </a:solidFill>
          <a:ln w="19050">
            <a:solidFill>
              <a:srgbClr val="196B24"/>
            </a:solidFill>
            <a:prstDash val="solid"/>
          </a:ln>
        </p:spPr>
      </p:sp>
      <p:sp>
        <p:nvSpPr>
          <p:cNvPr id="40" name="Shape 37"/>
          <p:cNvSpPr/>
          <p:nvPr/>
        </p:nvSpPr>
        <p:spPr>
          <a:xfrm>
            <a:off x="8266176" y="5129784"/>
            <a:ext cx="109728" cy="1207008"/>
          </a:xfrm>
          <a:prstGeom prst="roundRect">
            <a:avLst>
              <a:gd name="adj" fmla="val 16667"/>
            </a:avLst>
          </a:prstGeom>
          <a:solidFill>
            <a:srgbClr val="196B24"/>
          </a:solidFill>
          <a:ln/>
        </p:spPr>
      </p:sp>
      <p:sp>
        <p:nvSpPr>
          <p:cNvPr id="41" name="Text 38"/>
          <p:cNvSpPr/>
          <p:nvPr/>
        </p:nvSpPr>
        <p:spPr>
          <a:xfrm>
            <a:off x="848563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B9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Hạn chế và mở rộng</a:t>
            </a:r>
            <a:endParaRPr lang="en-US" sz="1150" dirty="0"/>
          </a:p>
        </p:txBody>
      </p:sp>
      <p:sp>
        <p:nvSpPr>
          <p:cNvPr id="42" name="Text 39"/>
          <p:cNvSpPr/>
          <p:nvPr/>
        </p:nvSpPr>
        <p:spPr>
          <a:xfrm>
            <a:off x="848563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Một seed không CI, một judge chưa đo nhiễu, thiếu ô all-linear × 1/3 tầng cuối.</a:t>
            </a:r>
            <a:endParaRPr lang="en-US" sz="950" dirty="0"/>
          </a:p>
        </p:txBody>
      </p:sp>
      <p:sp>
        <p:nvSpPr>
          <p:cNvPr id="43" name="Shape 40"/>
          <p:cNvSpPr/>
          <p:nvPr/>
        </p:nvSpPr>
        <p:spPr>
          <a:xfrm>
            <a:off x="3950208" y="2752344"/>
            <a:ext cx="301752" cy="0"/>
          </a:xfrm>
          <a:prstGeom prst="line">
            <a:avLst/>
          </a:prstGeom>
          <a:noFill/>
          <a:ln w="25400">
            <a:solidFill>
              <a:srgbClr val="7A828C"/>
            </a:solidFill>
            <a:prstDash val="solid"/>
            <a:tailEnd type="triangle"/>
          </a:ln>
        </p:spPr>
      </p:sp>
      <p:sp>
        <p:nvSpPr>
          <p:cNvPr id="44" name="Shape 41"/>
          <p:cNvSpPr/>
          <p:nvPr/>
        </p:nvSpPr>
        <p:spPr>
          <a:xfrm>
            <a:off x="7882128" y="2752344"/>
            <a:ext cx="301752" cy="0"/>
          </a:xfrm>
          <a:prstGeom prst="line">
            <a:avLst/>
          </a:prstGeom>
          <a:noFill/>
          <a:ln w="25400">
            <a:solidFill>
              <a:srgbClr val="7A828C"/>
            </a:solidFill>
            <a:prstDash val="solid"/>
            <a:tailEnd type="triangle"/>
          </a:ln>
        </p:spPr>
      </p:sp>
      <p:sp>
        <p:nvSpPr>
          <p:cNvPr id="45" name="Shape 42"/>
          <p:cNvSpPr/>
          <p:nvPr/>
        </p:nvSpPr>
        <p:spPr>
          <a:xfrm>
            <a:off x="10026396" y="3374136"/>
            <a:ext cx="0" cy="246888"/>
          </a:xfrm>
          <a:prstGeom prst="line">
            <a:avLst/>
          </a:prstGeom>
          <a:noFill/>
          <a:ln w="25400">
            <a:solidFill>
              <a:srgbClr val="7A828C"/>
            </a:solidFill>
            <a:prstDash val="solid"/>
            <a:tailEnd type="triangle"/>
          </a:ln>
        </p:spPr>
      </p:sp>
      <p:sp>
        <p:nvSpPr>
          <p:cNvPr id="46" name="Shape 43"/>
          <p:cNvSpPr/>
          <p:nvPr/>
        </p:nvSpPr>
        <p:spPr>
          <a:xfrm>
            <a:off x="7882128" y="4242816"/>
            <a:ext cx="301752" cy="0"/>
          </a:xfrm>
          <a:prstGeom prst="line">
            <a:avLst/>
          </a:prstGeom>
          <a:noFill/>
          <a:ln w="25400">
            <a:solidFill>
              <a:srgbClr val="7A828C"/>
            </a:solidFill>
            <a:prstDash val="solid"/>
            <a:headEnd type="triangle"/>
          </a:ln>
        </p:spPr>
      </p:sp>
      <p:sp>
        <p:nvSpPr>
          <p:cNvPr id="47" name="Shape 44"/>
          <p:cNvSpPr/>
          <p:nvPr/>
        </p:nvSpPr>
        <p:spPr>
          <a:xfrm>
            <a:off x="3950208" y="4242816"/>
            <a:ext cx="301752" cy="0"/>
          </a:xfrm>
          <a:prstGeom prst="line">
            <a:avLst/>
          </a:prstGeom>
          <a:noFill/>
          <a:ln w="25400">
            <a:solidFill>
              <a:srgbClr val="7A828C"/>
            </a:solidFill>
            <a:prstDash val="solid"/>
            <a:headEnd type="triangle"/>
          </a:ln>
        </p:spPr>
      </p:sp>
      <p:sp>
        <p:nvSpPr>
          <p:cNvPr id="48" name="Shape 45"/>
          <p:cNvSpPr/>
          <p:nvPr/>
        </p:nvSpPr>
        <p:spPr>
          <a:xfrm>
            <a:off x="2162556" y="4864608"/>
            <a:ext cx="0" cy="246888"/>
          </a:xfrm>
          <a:prstGeom prst="line">
            <a:avLst/>
          </a:prstGeom>
          <a:noFill/>
          <a:ln w="25400">
            <a:solidFill>
              <a:srgbClr val="7A828C"/>
            </a:solidFill>
            <a:prstDash val="solid"/>
            <a:tailEnd type="triangle"/>
          </a:ln>
        </p:spPr>
      </p:sp>
      <p:sp>
        <p:nvSpPr>
          <p:cNvPr id="49" name="Shape 46"/>
          <p:cNvSpPr/>
          <p:nvPr/>
        </p:nvSpPr>
        <p:spPr>
          <a:xfrm>
            <a:off x="3950208" y="5733288"/>
            <a:ext cx="301752" cy="0"/>
          </a:xfrm>
          <a:prstGeom prst="line">
            <a:avLst/>
          </a:prstGeom>
          <a:noFill/>
          <a:ln w="25400">
            <a:solidFill>
              <a:srgbClr val="7A828C"/>
            </a:solidFill>
            <a:prstDash val="solid"/>
            <a:tailEnd type="triangle"/>
          </a:ln>
        </p:spPr>
      </p:sp>
      <p:sp>
        <p:nvSpPr>
          <p:cNvPr id="50" name="Shape 47"/>
          <p:cNvSpPr/>
          <p:nvPr/>
        </p:nvSpPr>
        <p:spPr>
          <a:xfrm>
            <a:off x="7882128" y="5733288"/>
            <a:ext cx="301752" cy="0"/>
          </a:xfrm>
          <a:prstGeom prst="line">
            <a:avLst/>
          </a:prstGeom>
          <a:noFill/>
          <a:ln w="25400">
            <a:solidFill>
              <a:srgbClr val="7A828C"/>
            </a:solidFill>
            <a:prstDash val="solid"/>
            <a:tailEnd type="triangle"/>
          </a:ln>
        </p:spPr>
      </p:sp>
      <p:sp>
        <p:nvSpPr>
          <p:cNvPr id="51" name="Text 48"/>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Nền tảng &amp; thiết lập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Can thiệp &amp; huấn luyện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&amp; phát hiện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kết quả</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E3</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E3 · SmolLM2-135M + LoRA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17</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pic>
        <p:nvPicPr>
          <p:cNvPr id="6" name="Image 1" descr="/Users/trieulh/Documents/Master/20252B_IT5410/Final/figures/tracks/e3_lora_ablation.png">    </p:cNvPr>
          <p:cNvPicPr>
            <a:picLocks noChangeAspect="1"/>
          </p:cNvPicPr>
          <p:nvPr/>
        </p:nvPicPr>
        <p:blipFill>
          <a:blip r:embed="rId2"/>
          <a:srcRect l="0" r="0" t="0" b="0"/>
          <a:stretch/>
        </p:blipFill>
        <p:spPr>
          <a:xfrm>
            <a:off x="402336" y="1737360"/>
            <a:ext cx="5760720" cy="3749040"/>
          </a:xfrm>
          <a:prstGeom prst="rect">
            <a:avLst/>
          </a:prstGeom>
        </p:spPr>
      </p:pic>
      <p:sp>
        <p:nvSpPr>
          <p:cNvPr id="7" name="Text 3"/>
          <p:cNvSpPr/>
          <p:nvPr/>
        </p:nvSpPr>
        <p:spPr>
          <a:xfrm>
            <a:off x="402336" y="5532120"/>
            <a:ext cx="5760720" cy="64008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Thí nghiệm loại trừ vị trí LoRA: perplexity (trái) và điểm giám khảo nội bộ (phải); nhánh C dẫn đầu cả hai.</a:t>
            </a:r>
            <a:endParaRPr lang="en-US" sz="1100" dirty="0"/>
          </a:p>
        </p:txBody>
      </p:sp>
      <p:sp>
        <p:nvSpPr>
          <p:cNvPr id="8" name="Shape 4"/>
          <p:cNvSpPr/>
          <p:nvPr/>
        </p:nvSpPr>
        <p:spPr>
          <a:xfrm>
            <a:off x="6400800" y="1691640"/>
            <a:ext cx="0" cy="4297680"/>
          </a:xfrm>
          <a:prstGeom prst="line">
            <a:avLst/>
          </a:prstGeom>
          <a:noFill/>
          <a:ln w="12700">
            <a:solidFill>
              <a:srgbClr val="B8BCC4"/>
            </a:solidFill>
            <a:prstDash val="solid"/>
          </a:ln>
        </p:spPr>
      </p:sp>
      <p:sp>
        <p:nvSpPr>
          <p:cNvPr id="9" name="Text 5"/>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3,84</a:t>
            </a:r>
            <a:endParaRPr lang="en-US" sz="3000" dirty="0"/>
          </a:p>
        </p:txBody>
      </p:sp>
      <p:sp>
        <p:nvSpPr>
          <p:cNvPr id="10" name="Text 6"/>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Perplexity held-out của nhánh C — thấp nhất trong bốn cấu hình.</a:t>
            </a:r>
            <a:endParaRPr lang="en-US" sz="1350" dirty="0"/>
          </a:p>
        </p:txBody>
      </p:sp>
      <p:sp>
        <p:nvSpPr>
          <p:cNvPr id="11" name="Text 7"/>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C &gt; A &gt; B</a:t>
            </a:r>
            <a:endParaRPr lang="en-US" sz="3000" dirty="0"/>
          </a:p>
        </p:txBody>
      </p:sp>
      <p:sp>
        <p:nvSpPr>
          <p:cNvPr id="12" name="Text 8"/>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Cùng thứ tự trên cả perplexity lẫn điểm giám khảo nội bộ (Qwen2.5-7B, n=50/nhánh).</a:t>
            </a:r>
            <a:endParaRPr lang="en-US" sz="1350" dirty="0"/>
          </a:p>
        </p:txBody>
      </p:sp>
      <p:sp>
        <p:nvSpPr>
          <p:cNvPr id="13" name="Text 9"/>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2,81</a:t>
            </a:r>
            <a:endParaRPr lang="en-US" sz="3000" dirty="0"/>
          </a:p>
        </p:txBody>
      </p:sp>
      <p:sp>
        <p:nvSpPr>
          <p:cNvPr id="14" name="Text 10"/>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runner thiếu system message khiến truyện đổi nhân vật hoặc kết sớm.</a:t>
            </a:r>
            <a:endParaRPr lang="en-US" sz="1350" dirty="0"/>
          </a:p>
        </p:txBody>
      </p:sp>
      <p:sp>
        <p:nvSpPr>
          <p:cNvPr id="15" name="Text 11"/>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6" name="Text 12"/>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Phủ toàn bộ tầng tốt hơn chỉ đặt ở tầng cuối, và mở rộng adapter sang MLP là mức tăng lớn nhất — với chỉ 3,5% tham số được huấn luyện. Đây là bằng chứng phản bác cách hiểu "fine-tune luôn không hiệu quả".</a:t>
            </a:r>
            <a:endParaRPr lang="en-US" sz="1250" dirty="0"/>
          </a:p>
        </p:txBody>
      </p:sp>
      <p:sp>
        <p:nvSpPr>
          <p:cNvPr id="17" name="Text 13"/>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thiếu cấu hình all-linear × 1/3 tầng cuối; mỗi nhánh chỉ một seed.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E4</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E4 · Llama 3.2 3B + Repair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18</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Llama 3.2 3B Instruct (Q4_K_M) + pipeline kiểm soát đầu ra (sinh, validate, repair).</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Hệ đại diện bao quanh mô hình nền: sinh một lần, validator soát hình thức và độ dài, chỉ repair khi lỗi nghiêm trọng, rồi chuẩn hóa đúng một dòng Moral.</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Không tạo checkpoint fine-tune mới; các biến thể SFT/LoRA chỉ dùng để so sánh.</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Ba hướng fine-tune đều bất lợi (SFT giảm trôi chảy, LoRA không sửa được bài học); kiểm soát tại suy luận tăng độ tin cậy mà giữ năng lực kể chuyện của nền 3B.</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Nền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3,21B (Q4_K_M)</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28 / 3.072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GQA 24 q / 8 kv</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FFN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SwiGLU 8.192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Ngữ cảnh chạy</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2.048</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Hệ đại diện không huấn luyện mới; biến thể SFT/QLoRA không nêu hàm mất mát.</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Chỉ suy luận; biến thể Failure-LoRA: QLoRA 4-bit r=16/α=16, LR 1e-4, warmup 5%, fp16.</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Failure-LoRA: batch hiệu dụng 8, 3 epoch, 300 mẫu (270/30); Fluency-SFT 9.000/1.000.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Suy luận qua Ollama, GGUF Q4_K_M, ngữ cảnh 2.048; latency trung bình ~81,6 giây.</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Validator hình thức/độ dài, repair khi lỗi nặng, chuẩn hóa một dòng Moral, seed 5410.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Sinh assistant tối đa 400 token; validator soát, nếu lỗi nặng sinh lại tối đa 500 token rồi chuẩn hóa một dòng Moral.</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E4</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E4 · Llama 3.2 3B + Repair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19</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Đánh giá nhân lực trên năm cấu hình, và bóc tách đóng góp của bước sửa lỗi so với đầu ra thô của mô hình nền.</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Base + Repair</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Điểm nhân lực 4,32/5 — cao nhất trong các cấu hình E4.</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Strict + post</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Prompt nghiêm ngặt kèm hậu xử lý: 4,20/5.</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Fluency-SFT</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SFT 10k mẫu độ trôi chảy: 3,84/5.</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Repair (bóc tách)</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Bài học đúng nguyên văn 20%→100%; nhất quán yêu cầu 9,00→9,64.</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Nhân quả</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trait→choice 92%, choice→outcome 100% — repair không làm thay đổi.</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figures/tracks/e4_human_eval.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Đánh giá nhân lực năm cấu hình E4: Base + Repair đạt điểm cao nhất về độ tin cậy tổng thể.</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E4</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E4 · Llama 3.2 3B + Repair — Các bước phương pháp</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20</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nghiên cứu: thử fine-tune rồi chuyển sang kiểm soát đầu ra (prompt, hậu xử lý, repair), đánh giá nhân lực bảy cấu hình và bóc tách riêng đóng góp của bước repair.</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B1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Chọn mô hình nền 3B</a:t>
            </a:r>
            <a:endParaRPr lang="en-US" sz="1150" dirty="0"/>
          </a:p>
        </p:txBody>
      </p:sp>
      <p:sp>
        <p:nvSpPr>
          <p:cNvPr id="10" name="Text 7"/>
          <p:cNvSpPr/>
          <p:nvPr/>
        </p:nvSpPr>
        <p:spPr>
          <a:xfrm>
            <a:off x="62179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Llama 3.2 3B Instruct Q4_K_M, 3,21 tỷ tham số, ngữ cảnh runner 2.048 token.</a:t>
            </a:r>
            <a:endParaRPr lang="en-US" sz="95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B2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Thử fine-tune SFT/LoRA</a:t>
            </a:r>
            <a:endParaRPr lang="en-US" sz="1150" dirty="0"/>
          </a:p>
        </p:txBody>
      </p:sp>
      <p:sp>
        <p:nvSpPr>
          <p:cNvPr id="14" name="Text 11"/>
          <p:cNvSpPr/>
          <p:nvPr/>
        </p:nvSpPr>
        <p:spPr>
          <a:xfrm>
            <a:off x="455371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SFT-clean-3k và Failure-LoRA 300 mẫu đều âm, không sửa được dòng bài học.</a:t>
            </a:r>
            <a:endParaRPr lang="en-US" sz="95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3D8DFF"/>
            </a:solidFill>
            <a:prstDash val="solid"/>
          </a:ln>
        </p:spPr>
      </p:sp>
      <p:sp>
        <p:nvSpPr>
          <p:cNvPr id="16" name="Shape 13"/>
          <p:cNvSpPr/>
          <p:nvPr/>
        </p:nvSpPr>
        <p:spPr>
          <a:xfrm>
            <a:off x="8266176" y="2148840"/>
            <a:ext cx="109728" cy="1207008"/>
          </a:xfrm>
          <a:prstGeom prst="roundRect">
            <a:avLst>
              <a:gd name="adj" fmla="val 16667"/>
            </a:avLst>
          </a:prstGeom>
          <a:solidFill>
            <a:srgbClr val="3D8DFF"/>
          </a:solidFill>
          <a:ln/>
        </p:spPr>
      </p:sp>
      <p:sp>
        <p:nvSpPr>
          <p:cNvPr id="17" name="Text 14"/>
          <p:cNvSpPr/>
          <p:nvPr/>
        </p:nvSpPr>
        <p:spPr>
          <a:xfrm>
            <a:off x="8485632" y="2249424"/>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Prompt nghiêm ngặt</a:t>
            </a:r>
            <a:endParaRPr lang="en-US" sz="1150" dirty="0"/>
          </a:p>
        </p:txBody>
      </p:sp>
      <p:sp>
        <p:nvSpPr>
          <p:cNvPr id="18" name="Text 15"/>
          <p:cNvSpPr/>
          <p:nvPr/>
        </p:nvSpPr>
        <p:spPr>
          <a:xfrm>
            <a:off x="848563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Exact-character lên 0,92, kết thúc sạch 0,96, nhưng bài học chưa đủ tin cậy.</a:t>
            </a:r>
            <a:endParaRPr lang="en-US" sz="95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3D8DFF"/>
            </a:solidFill>
            <a:prstDash val="solid"/>
          </a:ln>
        </p:spPr>
      </p:sp>
      <p:sp>
        <p:nvSpPr>
          <p:cNvPr id="20" name="Shape 17"/>
          <p:cNvSpPr/>
          <p:nvPr/>
        </p:nvSpPr>
        <p:spPr>
          <a:xfrm>
            <a:off x="8266176" y="3639312"/>
            <a:ext cx="109728" cy="1207008"/>
          </a:xfrm>
          <a:prstGeom prst="roundRect">
            <a:avLst>
              <a:gd name="adj" fmla="val 16667"/>
            </a:avLst>
          </a:prstGeom>
          <a:solidFill>
            <a:srgbClr val="3D8DFF"/>
          </a:solidFill>
          <a:ln/>
        </p:spPr>
      </p:sp>
      <p:sp>
        <p:nvSpPr>
          <p:cNvPr id="21" name="Text 18"/>
          <p:cNvSpPr/>
          <p:nvPr/>
        </p:nvSpPr>
        <p:spPr>
          <a:xfrm>
            <a:off x="848563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B4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Hậu xử lý chuẩn hóa Moral</a:t>
            </a:r>
            <a:endParaRPr lang="en-US" sz="1150" dirty="0"/>
          </a:p>
        </p:txBody>
      </p:sp>
      <p:sp>
        <p:nvSpPr>
          <p:cNvPr id="22" name="Text 19"/>
          <p:cNvSpPr/>
          <p:nvPr/>
        </p:nvSpPr>
        <p:spPr>
          <a:xfrm>
            <a:off x="848563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Chuẩn hóa đúng một dòng Moral; exact-moral và clean-ending lên 1,00.</a:t>
            </a:r>
            <a:endParaRPr lang="en-US" sz="95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B5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Pipeline Base + Repair</a:t>
            </a:r>
            <a:endParaRPr lang="en-US" sz="1150" dirty="0"/>
          </a:p>
        </p:txBody>
      </p:sp>
      <p:sp>
        <p:nvSpPr>
          <p:cNvPr id="26" name="Text 23"/>
          <p:cNvSpPr/>
          <p:nvPr/>
        </p:nvSpPr>
        <p:spPr>
          <a:xfrm>
            <a:off x="455371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Sinh, validate rồi repair; chỉ gọi lại mô hình khi validator báo lỗi nghiêm trọng.</a:t>
            </a:r>
            <a:endParaRPr lang="en-US" sz="95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E97132"/>
            </a:solidFill>
            <a:prstDash val="solid"/>
          </a:ln>
        </p:spPr>
      </p:sp>
      <p:sp>
        <p:nvSpPr>
          <p:cNvPr id="28" name="Shape 25"/>
          <p:cNvSpPr/>
          <p:nvPr/>
        </p:nvSpPr>
        <p:spPr>
          <a:xfrm>
            <a:off x="402336" y="3639312"/>
            <a:ext cx="109728" cy="1207008"/>
          </a:xfrm>
          <a:prstGeom prst="roundRect">
            <a:avLst>
              <a:gd name="adj" fmla="val 16667"/>
            </a:avLst>
          </a:prstGeom>
          <a:solidFill>
            <a:srgbClr val="E97132"/>
          </a:solidFill>
          <a:ln/>
        </p:spPr>
      </p:sp>
      <p:sp>
        <p:nvSpPr>
          <p:cNvPr id="29" name="Text 26"/>
          <p:cNvSpPr/>
          <p:nvPr/>
        </p:nvSpPr>
        <p:spPr>
          <a:xfrm>
            <a:off x="621792" y="3739896"/>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B6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Kiểm chứng Fluency-SFT 10k</a:t>
            </a:r>
            <a:endParaRPr lang="en-US" sz="1150" dirty="0"/>
          </a:p>
        </p:txBody>
      </p:sp>
      <p:sp>
        <p:nvSpPr>
          <p:cNvPr id="30" name="Text 27"/>
          <p:cNvSpPr/>
          <p:nvPr/>
        </p:nvSpPr>
        <p:spPr>
          <a:xfrm>
            <a:off x="62179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SFT 10.000 mẫu đã lọc vẫn cho Moral rỗng 0,76 và clean-ending 0,12, không cải thiện.</a:t>
            </a:r>
            <a:endParaRPr lang="en-US" sz="95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E97132"/>
            </a:solidFill>
            <a:prstDash val="solid"/>
          </a:ln>
        </p:spPr>
      </p:sp>
      <p:sp>
        <p:nvSpPr>
          <p:cNvPr id="32" name="Shape 29"/>
          <p:cNvSpPr/>
          <p:nvPr/>
        </p:nvSpPr>
        <p:spPr>
          <a:xfrm>
            <a:off x="402336" y="5129784"/>
            <a:ext cx="109728" cy="1207008"/>
          </a:xfrm>
          <a:prstGeom prst="roundRect">
            <a:avLst>
              <a:gd name="adj" fmla="val 16667"/>
            </a:avLst>
          </a:prstGeom>
          <a:solidFill>
            <a:srgbClr val="E97132"/>
          </a:solidFill>
          <a:ln/>
        </p:spPr>
      </p:sp>
      <p:sp>
        <p:nvSpPr>
          <p:cNvPr id="33" name="Text 30"/>
          <p:cNvSpPr/>
          <p:nvPr/>
        </p:nvSpPr>
        <p:spPr>
          <a:xfrm>
            <a:off x="621792" y="5230368"/>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B7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Đánh giá nhân lực 7 cấu hình</a:t>
            </a:r>
            <a:endParaRPr lang="en-US" sz="1150" dirty="0"/>
          </a:p>
        </p:txBody>
      </p:sp>
      <p:sp>
        <p:nvSpPr>
          <p:cNvPr id="34" name="Text 31"/>
          <p:cNvSpPr/>
          <p:nvPr/>
        </p:nvSpPr>
        <p:spPr>
          <a:xfrm>
            <a:off x="62179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Base + Repair đạt 4,32/5, đứng đầu về bám đề, cấu trúc, bài học và an toàn.</a:t>
            </a:r>
            <a:endParaRPr lang="en-US" sz="95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E97132"/>
            </a:solidFill>
            <a:prstDash val="solid"/>
          </a:ln>
        </p:spPr>
      </p:sp>
      <p:sp>
        <p:nvSpPr>
          <p:cNvPr id="36" name="Shape 33"/>
          <p:cNvSpPr/>
          <p:nvPr/>
        </p:nvSpPr>
        <p:spPr>
          <a:xfrm>
            <a:off x="4334256" y="5129784"/>
            <a:ext cx="109728" cy="1207008"/>
          </a:xfrm>
          <a:prstGeom prst="roundRect">
            <a:avLst>
              <a:gd name="adj" fmla="val 16667"/>
            </a:avLst>
          </a:prstGeom>
          <a:solidFill>
            <a:srgbClr val="E97132"/>
          </a:solidFill>
          <a:ln/>
        </p:spPr>
      </p:sp>
      <p:sp>
        <p:nvSpPr>
          <p:cNvPr id="37" name="Text 34"/>
          <p:cNvSpPr/>
          <p:nvPr/>
        </p:nvSpPr>
        <p:spPr>
          <a:xfrm>
            <a:off x="4553712" y="5230368"/>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B8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Bóc tách đóng góp repair</a:t>
            </a:r>
            <a:endParaRPr lang="en-US" sz="1150" dirty="0"/>
          </a:p>
        </p:txBody>
      </p:sp>
      <p:sp>
        <p:nvSpPr>
          <p:cNvPr id="38" name="Text 35"/>
          <p:cNvSpPr/>
          <p:nvPr/>
        </p:nvSpPr>
        <p:spPr>
          <a:xfrm>
            <a:off x="455371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Bài học nguyên văn 20% lên 100%, nhất quán 9,00 lên 9,64; nhân quả giữ 92% và 100%.</a:t>
            </a:r>
            <a:endParaRPr lang="en-US" sz="950" dirty="0"/>
          </a:p>
        </p:txBody>
      </p:sp>
      <p:sp>
        <p:nvSpPr>
          <p:cNvPr id="39" name="Shape 36"/>
          <p:cNvSpPr/>
          <p:nvPr/>
        </p:nvSpPr>
        <p:spPr>
          <a:xfrm>
            <a:off x="8266176" y="5129784"/>
            <a:ext cx="3520440" cy="1207008"/>
          </a:xfrm>
          <a:prstGeom prst="roundRect">
            <a:avLst>
              <a:gd name="adj" fmla="val 5303"/>
            </a:avLst>
          </a:prstGeom>
          <a:solidFill>
            <a:srgbClr val="FFFFFF"/>
          </a:solidFill>
          <a:ln w="19050">
            <a:solidFill>
              <a:srgbClr val="196B24"/>
            </a:solidFill>
            <a:prstDash val="solid"/>
          </a:ln>
        </p:spPr>
      </p:sp>
      <p:sp>
        <p:nvSpPr>
          <p:cNvPr id="40" name="Shape 37"/>
          <p:cNvSpPr/>
          <p:nvPr/>
        </p:nvSpPr>
        <p:spPr>
          <a:xfrm>
            <a:off x="8266176" y="5129784"/>
            <a:ext cx="109728" cy="1207008"/>
          </a:xfrm>
          <a:prstGeom prst="roundRect">
            <a:avLst>
              <a:gd name="adj" fmla="val 16667"/>
            </a:avLst>
          </a:prstGeom>
          <a:solidFill>
            <a:srgbClr val="196B24"/>
          </a:solidFill>
          <a:ln/>
        </p:spPr>
      </p:sp>
      <p:sp>
        <p:nvSpPr>
          <p:cNvPr id="41" name="Text 38"/>
          <p:cNvSpPr/>
          <p:nvPr/>
        </p:nvSpPr>
        <p:spPr>
          <a:xfrm>
            <a:off x="848563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B9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Kết luận toàn hệ thống</a:t>
            </a:r>
            <a:endParaRPr lang="en-US" sz="1150" dirty="0"/>
          </a:p>
        </p:txBody>
      </p:sp>
      <p:sp>
        <p:nvSpPr>
          <p:cNvPr id="42" name="Text 39"/>
          <p:cNvSpPr/>
          <p:nvPr/>
        </p:nvSpPr>
        <p:spPr>
          <a:xfrm>
            <a:off x="848563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Vòng chung 9,20/10, đứng đầu năm hướng; 5/25 đề phải gọi mô hình lần hai.</a:t>
            </a:r>
            <a:endParaRPr lang="en-US" sz="950" dirty="0"/>
          </a:p>
        </p:txBody>
      </p:sp>
      <p:sp>
        <p:nvSpPr>
          <p:cNvPr id="43" name="Shape 40"/>
          <p:cNvSpPr/>
          <p:nvPr/>
        </p:nvSpPr>
        <p:spPr>
          <a:xfrm>
            <a:off x="3950208" y="2752344"/>
            <a:ext cx="301752" cy="0"/>
          </a:xfrm>
          <a:prstGeom prst="line">
            <a:avLst/>
          </a:prstGeom>
          <a:noFill/>
          <a:ln w="25400">
            <a:solidFill>
              <a:srgbClr val="7A828C"/>
            </a:solidFill>
            <a:prstDash val="solid"/>
            <a:tailEnd type="triangle"/>
          </a:ln>
        </p:spPr>
      </p:sp>
      <p:sp>
        <p:nvSpPr>
          <p:cNvPr id="44" name="Shape 41"/>
          <p:cNvSpPr/>
          <p:nvPr/>
        </p:nvSpPr>
        <p:spPr>
          <a:xfrm>
            <a:off x="7882128" y="2752344"/>
            <a:ext cx="301752" cy="0"/>
          </a:xfrm>
          <a:prstGeom prst="line">
            <a:avLst/>
          </a:prstGeom>
          <a:noFill/>
          <a:ln w="25400">
            <a:solidFill>
              <a:srgbClr val="7A828C"/>
            </a:solidFill>
            <a:prstDash val="solid"/>
            <a:tailEnd type="triangle"/>
          </a:ln>
        </p:spPr>
      </p:sp>
      <p:sp>
        <p:nvSpPr>
          <p:cNvPr id="45" name="Shape 42"/>
          <p:cNvSpPr/>
          <p:nvPr/>
        </p:nvSpPr>
        <p:spPr>
          <a:xfrm>
            <a:off x="10026396" y="3374136"/>
            <a:ext cx="0" cy="246888"/>
          </a:xfrm>
          <a:prstGeom prst="line">
            <a:avLst/>
          </a:prstGeom>
          <a:noFill/>
          <a:ln w="25400">
            <a:solidFill>
              <a:srgbClr val="7A828C"/>
            </a:solidFill>
            <a:prstDash val="solid"/>
            <a:tailEnd type="triangle"/>
          </a:ln>
        </p:spPr>
      </p:sp>
      <p:sp>
        <p:nvSpPr>
          <p:cNvPr id="46" name="Shape 43"/>
          <p:cNvSpPr/>
          <p:nvPr/>
        </p:nvSpPr>
        <p:spPr>
          <a:xfrm>
            <a:off x="7882128" y="4242816"/>
            <a:ext cx="301752" cy="0"/>
          </a:xfrm>
          <a:prstGeom prst="line">
            <a:avLst/>
          </a:prstGeom>
          <a:noFill/>
          <a:ln w="25400">
            <a:solidFill>
              <a:srgbClr val="7A828C"/>
            </a:solidFill>
            <a:prstDash val="solid"/>
            <a:headEnd type="triangle"/>
          </a:ln>
        </p:spPr>
      </p:sp>
      <p:sp>
        <p:nvSpPr>
          <p:cNvPr id="47" name="Shape 44"/>
          <p:cNvSpPr/>
          <p:nvPr/>
        </p:nvSpPr>
        <p:spPr>
          <a:xfrm>
            <a:off x="3950208" y="4242816"/>
            <a:ext cx="301752" cy="0"/>
          </a:xfrm>
          <a:prstGeom prst="line">
            <a:avLst/>
          </a:prstGeom>
          <a:noFill/>
          <a:ln w="25400">
            <a:solidFill>
              <a:srgbClr val="7A828C"/>
            </a:solidFill>
            <a:prstDash val="solid"/>
            <a:headEnd type="triangle"/>
          </a:ln>
        </p:spPr>
      </p:sp>
      <p:sp>
        <p:nvSpPr>
          <p:cNvPr id="48" name="Shape 45"/>
          <p:cNvSpPr/>
          <p:nvPr/>
        </p:nvSpPr>
        <p:spPr>
          <a:xfrm>
            <a:off x="2162556" y="4864608"/>
            <a:ext cx="0" cy="246888"/>
          </a:xfrm>
          <a:prstGeom prst="line">
            <a:avLst/>
          </a:prstGeom>
          <a:noFill/>
          <a:ln w="25400">
            <a:solidFill>
              <a:srgbClr val="7A828C"/>
            </a:solidFill>
            <a:prstDash val="solid"/>
            <a:tailEnd type="triangle"/>
          </a:ln>
        </p:spPr>
      </p:sp>
      <p:sp>
        <p:nvSpPr>
          <p:cNvPr id="49" name="Shape 46"/>
          <p:cNvSpPr/>
          <p:nvPr/>
        </p:nvSpPr>
        <p:spPr>
          <a:xfrm>
            <a:off x="3950208" y="5733288"/>
            <a:ext cx="301752" cy="0"/>
          </a:xfrm>
          <a:prstGeom prst="line">
            <a:avLst/>
          </a:prstGeom>
          <a:noFill/>
          <a:ln w="25400">
            <a:solidFill>
              <a:srgbClr val="7A828C"/>
            </a:solidFill>
            <a:prstDash val="solid"/>
            <a:tailEnd type="triangle"/>
          </a:ln>
        </p:spPr>
      </p:sp>
      <p:sp>
        <p:nvSpPr>
          <p:cNvPr id="50" name="Shape 47"/>
          <p:cNvSpPr/>
          <p:nvPr/>
        </p:nvSpPr>
        <p:spPr>
          <a:xfrm>
            <a:off x="7882128" y="5733288"/>
            <a:ext cx="301752" cy="0"/>
          </a:xfrm>
          <a:prstGeom prst="line">
            <a:avLst/>
          </a:prstGeom>
          <a:noFill/>
          <a:ln w="25400">
            <a:solidFill>
              <a:srgbClr val="7A828C"/>
            </a:solidFill>
            <a:prstDash val="solid"/>
            <a:tailEnd type="triangle"/>
          </a:ln>
        </p:spPr>
      </p:sp>
      <p:sp>
        <p:nvSpPr>
          <p:cNvPr id="51" name="Text 48"/>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Nền tảng &amp; thiết lập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Can thiệp &amp; huấn luyện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&amp; phát hiện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kết quả</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E4</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E4 · Llama 3.2 3B + Repair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21</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pic>
        <p:nvPicPr>
          <p:cNvPr id="6" name="Image 1" descr="/tmp/deck_assets/automatic_reliability.png">    </p:cNvPr>
          <p:cNvPicPr>
            <a:picLocks noChangeAspect="1"/>
          </p:cNvPicPr>
          <p:nvPr/>
        </p:nvPicPr>
        <p:blipFill>
          <a:blip r:embed="rId2"/>
          <a:srcRect l="0" r="0" t="0" b="0"/>
          <a:stretch/>
        </p:blipFill>
        <p:spPr>
          <a:xfrm>
            <a:off x="402336" y="1737360"/>
            <a:ext cx="5760720" cy="3749040"/>
          </a:xfrm>
          <a:prstGeom prst="rect">
            <a:avLst/>
          </a:prstGeom>
        </p:spPr>
      </p:pic>
      <p:sp>
        <p:nvSpPr>
          <p:cNvPr id="7" name="Text 3"/>
          <p:cNvSpPr/>
          <p:nvPr/>
        </p:nvSpPr>
        <p:spPr>
          <a:xfrm>
            <a:off x="402336" y="5532120"/>
            <a:ext cx="5760720" cy="64008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Độ tin cậy tự động: tỷ lệ đạt các ràng buộc định dạng trước và sau bước repair.</a:t>
            </a:r>
            <a:endParaRPr lang="en-US" sz="1100" dirty="0"/>
          </a:p>
        </p:txBody>
      </p:sp>
      <p:sp>
        <p:nvSpPr>
          <p:cNvPr id="8" name="Shape 4"/>
          <p:cNvSpPr/>
          <p:nvPr/>
        </p:nvSpPr>
        <p:spPr>
          <a:xfrm>
            <a:off x="6400800" y="1691640"/>
            <a:ext cx="0" cy="4297680"/>
          </a:xfrm>
          <a:prstGeom prst="line">
            <a:avLst/>
          </a:prstGeom>
          <a:noFill/>
          <a:ln w="12700">
            <a:solidFill>
              <a:srgbClr val="B8BCC4"/>
            </a:solidFill>
            <a:prstDash val="solid"/>
          </a:ln>
        </p:spPr>
      </p:sp>
      <p:sp>
        <p:nvSpPr>
          <p:cNvPr id="9" name="Text 5"/>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196B24"/>
                </a:solidFill>
                <a:latin typeface="Arial" pitchFamily="34" charset="0"/>
                <a:ea typeface="Arial" pitchFamily="34" charset="-122"/>
                <a:cs typeface="Arial" pitchFamily="34" charset="-120"/>
              </a:rPr>
              <a:t>9,20</a:t>
            </a:r>
            <a:endParaRPr lang="en-US" sz="3000" dirty="0"/>
          </a:p>
        </p:txBody>
      </p:sp>
      <p:sp>
        <p:nvSpPr>
          <p:cNvPr id="10" name="Text 6"/>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 cao nhất trong năm hệ thống đại diện.</a:t>
            </a:r>
            <a:endParaRPr lang="en-US" sz="1350" dirty="0"/>
          </a:p>
        </p:txBody>
      </p:sp>
      <p:sp>
        <p:nvSpPr>
          <p:cNvPr id="11" name="Text 7"/>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20% → 100%</a:t>
            </a:r>
            <a:endParaRPr lang="en-US" sz="3000" dirty="0"/>
          </a:p>
        </p:txBody>
      </p:sp>
      <p:sp>
        <p:nvSpPr>
          <p:cNvPr id="12" name="Text 8"/>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Tỷ lệ bài học đúng nguyên văn sau bước repair, không đổi hai liên kết nhân quả.</a:t>
            </a:r>
            <a:endParaRPr lang="en-US" sz="1350" dirty="0"/>
          </a:p>
        </p:txBody>
      </p:sp>
      <p:sp>
        <p:nvSpPr>
          <p:cNvPr id="13" name="Text 9"/>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5 / 25</a:t>
            </a:r>
            <a:endParaRPr lang="en-US" sz="3000" dirty="0"/>
          </a:p>
        </p:txBody>
      </p:sp>
      <p:sp>
        <p:nvSpPr>
          <p:cNvPr id="14" name="Text 10"/>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Số đề mà pipeline phải gọi mô hình lần hai; chi phí của độ tin cậy.</a:t>
            </a:r>
            <a:endParaRPr lang="en-US" sz="1350" dirty="0"/>
          </a:p>
        </p:txBody>
      </p:sp>
      <p:sp>
        <p:nvSpPr>
          <p:cNvPr id="15" name="Text 11"/>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6" name="Text 12"/>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Kiểm soát khi sinh hiệu quả hơn các lần fine-tune đã thử. Quan hệ nhân quả giữa điều kiện và diễn biến đã có sẵn trong đầu ra thô của mô hình nền 3B; repair chủ yếu sửa hợp đồng đầu ra và các sai lệch cục bộ.</a:t>
            </a:r>
            <a:endParaRPr lang="en-US" sz="1250" dirty="0"/>
          </a:p>
        </p:txBody>
      </p:sp>
      <p:sp>
        <p:nvSpPr>
          <p:cNvPr id="17" name="Text 13"/>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kho mã không lưu trainer_state của các lần SFT nên chưa tái lập được đường huấn luyện.</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E5</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E5 · Llama 3.2 3B + QLoRA — Kiến trúc và huấn luyện</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22</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557784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1 · Kiến trúc</a:t>
            </a:r>
            <a:endParaRPr lang="en-US" sz="1400" dirty="0"/>
          </a:p>
        </p:txBody>
      </p:sp>
      <p:sp>
        <p:nvSpPr>
          <p:cNvPr id="7" name="Text 4"/>
          <p:cNvSpPr/>
          <p:nvPr/>
        </p:nvSpPr>
        <p:spPr>
          <a:xfrm>
            <a:off x="402336" y="1883664"/>
            <a:ext cx="5623560" cy="457200"/>
          </a:xfrm>
          <a:prstGeom prst="rect">
            <a:avLst/>
          </a:prstGeom>
          <a:noFill/>
          <a:ln/>
        </p:spPr>
        <p:txBody>
          <a:bodyPr wrap="square" rtlCol="0" anchor="ctr"/>
          <a:lstStyle/>
          <a:p>
            <a:pPr indent="0" marL="0">
              <a:lnSpc>
                <a:spcPct val="98000"/>
              </a:lnSpc>
              <a:buNone/>
            </a:pPr>
            <a:r>
              <a:rPr lang="en-US" sz="1300" b="1" dirty="0">
                <a:solidFill>
                  <a:srgbClr val="000000"/>
                </a:solidFill>
                <a:latin typeface="Arial" pitchFamily="34" charset="0"/>
                <a:ea typeface="Arial" pitchFamily="34" charset="-122"/>
                <a:cs typeface="Arial" pitchFamily="34" charset="-120"/>
              </a:rPr>
              <a:t>Llama 3.2 3B Instruct decoder-only + QLoRA 4-bit (adapter r=16), merge rồi xuất GGUF Q4_K_M.</a:t>
            </a:r>
            <a:endParaRPr lang="en-US" sz="1300" dirty="0"/>
          </a:p>
        </p:txBody>
      </p:sp>
      <p:sp>
        <p:nvSpPr>
          <p:cNvPr id="8" name="Text 5"/>
          <p:cNvSpPr/>
          <p:nvPr/>
        </p:nvSpPr>
        <p:spPr>
          <a:xfrm>
            <a:off x="402336" y="2377440"/>
            <a:ext cx="5623560" cy="1417320"/>
          </a:xfrm>
          <a:prstGeom prst="rect">
            <a:avLst/>
          </a:prstGeom>
          <a:noFill/>
          <a:ln/>
        </p:spPr>
        <p:txBody>
          <a:bodyPr wrap="square" rtlCol="0" anchor="ctr"/>
          <a:lstStyle/>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Nạp nền ở 4-bit qua Unsloth, chỉ học adapter LoRA trên toàn bộ attention và MLP (24,31M tham số, 0,75%).</a:t>
            </a:r>
            <a:endParaRPr lang="en-US" sz="1150" dirty="0"/>
          </a:p>
          <a:p>
            <a:pPr marL="152400" indent="-152400">
              <a:spcAft>
                <a:spcPts val="500"/>
              </a:spcAft>
              <a:buSzPct val="100000"/>
              <a:buChar char="•"/>
            </a:pPr>
            <a:r>
              <a:rPr lang="en-US" sz="1150" dirty="0">
                <a:solidFill>
                  <a:srgbClr val="000000"/>
                </a:solidFill>
                <a:latin typeface="Arial" pitchFamily="34" charset="0"/>
                <a:ea typeface="Arial" pitchFamily="34" charset="-122"/>
                <a:cs typeface="Arial" pitchFamily="34" charset="-120"/>
              </a:rPr>
              <a:t>Sau huấn luyện merge adapter vào nền và lượng tử hóa GGUF Q4_K_M (~2,0GB) để phục vụ Ollama.</a:t>
            </a:r>
            <a:endParaRPr lang="en-US" sz="1150" dirty="0"/>
          </a:p>
        </p:txBody>
      </p:sp>
      <p:sp>
        <p:nvSpPr>
          <p:cNvPr id="9" name="Text 6"/>
          <p:cNvSpPr/>
          <p:nvPr/>
        </p:nvSpPr>
        <p:spPr>
          <a:xfrm>
            <a:off x="402336" y="3822192"/>
            <a:ext cx="5623560" cy="658368"/>
          </a:xfrm>
          <a:prstGeom prst="rect">
            <a:avLst/>
          </a:prstGeom>
          <a:noFill/>
          <a:ln/>
        </p:spPr>
        <p:txBody>
          <a:bodyPr wrap="square" rtlCol="0" anchor="ctr"/>
          <a:lstStyle/>
          <a:p>
            <a:pPr indent="0" marL="0">
              <a:lnSpc>
                <a:spcPct val="100000"/>
              </a:lnSpc>
              <a:buNone/>
            </a:pPr>
            <a:r>
              <a:rPr lang="en-US" sz="1150" b="1" dirty="0">
                <a:solidFill>
                  <a:srgbClr val="156082"/>
                </a:solidFill>
                <a:latin typeface="Arial" pitchFamily="34" charset="0"/>
                <a:ea typeface="Arial" pitchFamily="34" charset="-122"/>
                <a:cs typeface="Arial" pitchFamily="34" charset="-120"/>
              </a:rPr>
              <a:t>Lý do chọn: </a:t>
            </a:r>
            <a:pPr indent="0" marL="0">
              <a:lnSpc>
                <a:spcPct val="100000"/>
              </a:lnSpc>
              <a:buNone/>
            </a:pPr>
            <a:r>
              <a:rPr lang="en-US" sz="1150" dirty="0">
                <a:solidFill>
                  <a:srgbClr val="000000"/>
                </a:solidFill>
                <a:latin typeface="Arial" pitchFamily="34" charset="0"/>
                <a:ea typeface="Arial" pitchFamily="34" charset="-122"/>
                <a:cs typeface="Arial" pitchFamily="34" charset="-120"/>
              </a:rPr>
              <a:t>QLoRA nạp nền 4-bit và chỉ huấn luyện 0,75% tham số, cho phép fine-tune và chạy cục bộ Llama 3B trong ngân sách GPU phổ thông.</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2336" y="4553712"/>
          <a:ext cx="5623560" cy="914400"/>
        </p:xfrm>
        <a:graphic>
          <a:graphicData uri="http://schemas.openxmlformats.org/drawingml/2006/table">
            <a:tbl>
              <a:tblPr/>
              <a:tblGrid>
                <a:gridCol w="2468880"/>
                <a:gridCol w="3154680"/>
              </a:tblGrid>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Nền (sau merge)</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3,21B</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Tham số LoRA</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24,31M (0,75%)</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Khối / hidden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28 / 3.072</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Attention</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GQA 24 q / 8 kv</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37744">
                <a:tc>
                  <a:txBody>
                    <a:bodyPr/>
                    <a:lstStyle/>
                    <a:p>
                      <a:pPr indent="0" marL="0">
                        <a:buNone/>
                      </a:pPr>
                      <a:r>
                        <a:rPr lang="en-US" sz="1100" dirty="0">
                          <a:solidFill>
                            <a:srgbClr val="515761"/>
                          </a:solidFill>
                          <a:latin typeface="Arial" pitchFamily="34" charset="0"/>
                          <a:ea typeface="Arial" pitchFamily="34" charset="-122"/>
                          <a:cs typeface="Arial" pitchFamily="34" charset="-120"/>
                        </a:rPr>
                        <a:t>Artifact</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algn="r" indent="0" marL="0">
                        <a:buNone/>
                      </a:pPr>
                      <a:r>
                        <a:rPr lang="en-US" sz="1100" b="1" dirty="0">
                          <a:solidFill>
                            <a:srgbClr val="000000"/>
                          </a:solidFill>
                          <a:latin typeface="Arial" pitchFamily="34" charset="0"/>
                          <a:ea typeface="Arial" pitchFamily="34" charset="-122"/>
                          <a:cs typeface="Arial" pitchFamily="34" charset="-120"/>
                        </a:rPr>
                        <a:t>GGUF Q4_K_M</a:t>
                      </a:r>
                      <a:endParaRPr lang="en-US" sz="11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1" name="Shape 7"/>
          <p:cNvSpPr/>
          <p:nvPr/>
        </p:nvSpPr>
        <p:spPr>
          <a:xfrm>
            <a:off x="6144768" y="1572768"/>
            <a:ext cx="0" cy="4160520"/>
          </a:xfrm>
          <a:prstGeom prst="line">
            <a:avLst/>
          </a:prstGeom>
          <a:noFill/>
          <a:ln w="12700">
            <a:solidFill>
              <a:srgbClr val="B8BCC4"/>
            </a:solidFill>
            <a:prstDash val="solid"/>
          </a:ln>
        </p:spPr>
      </p:sp>
      <p:sp>
        <p:nvSpPr>
          <p:cNvPr id="12" name="Text 8"/>
          <p:cNvSpPr/>
          <p:nvPr/>
        </p:nvSpPr>
        <p:spPr>
          <a:xfrm>
            <a:off x="6355080" y="1572768"/>
            <a:ext cx="5440680" cy="292608"/>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2 · Thiết lập huấn luyện</a:t>
            </a:r>
            <a:endParaRPr lang="en-US" sz="14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355080" y="1938528"/>
          <a:ext cx="5440680" cy="914400"/>
        </p:xfrm>
        <a:graphic>
          <a:graphicData uri="http://schemas.openxmlformats.org/drawingml/2006/table">
            <a:tbl>
              <a:tblPr/>
              <a:tblGrid>
                <a:gridCol w="1417320"/>
                <a:gridCol w="4023360"/>
              </a:tblGrid>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Hàm mất mát</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Cross-entropy token kế tiếp, áp trên toàn bộ chuỗi chat đã đóng gói (không riêng token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Optimizer</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AdamW 8-bit, LR đỉnh 2e-4 giảm tuyến tính, warmup 5 bước, weight decay 0,001; LoRA r=16, alpha=16, dropout 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Batch / epoch</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Batch hiệu dụng 8 (4×2); Fable-300: 1 epoch ~113 bước; Fable-1000: 3 epoch 339 bước; tập 900/100.</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Phần cứng</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Tesla T4; Fable-1000 khoảng 47 phút, Fable-300 khoảng 15 phút.</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566928">
                <a:tc>
                  <a:txBody>
                    <a:bodyPr/>
                    <a:lstStyle/>
                    <a:p>
                      <a:pPr indent="0" marL="0">
                        <a:buNone/>
                      </a:pPr>
                      <a:r>
                        <a:rPr lang="en-US" sz="1100" b="1" dirty="0">
                          <a:solidFill>
                            <a:srgbClr val="156082"/>
                          </a:solidFill>
                          <a:latin typeface="Arial" pitchFamily="34" charset="0"/>
                          <a:ea typeface="Arial" pitchFamily="34" charset="-122"/>
                          <a:cs typeface="Arial" pitchFamily="34" charset="-120"/>
                        </a:rPr>
                        <a:t>Regularization</a:t>
                      </a:r>
                      <a:endParaRPr lang="en-US" sz="110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solidFill>
                      <a:srgbClr val="F4F6F9"/>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Dropout LoRA 0, weight decay 0,001, gradient checkpointing kiểu Unsloth.</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14" name="Shape 9"/>
          <p:cNvSpPr/>
          <p:nvPr/>
        </p:nvSpPr>
        <p:spPr>
          <a:xfrm>
            <a:off x="402336" y="5815584"/>
            <a:ext cx="10972800" cy="548640"/>
          </a:xfrm>
          <a:prstGeom prst="roundRect">
            <a:avLst>
              <a:gd name="adj" fmla="val 8333"/>
            </a:avLst>
          </a:prstGeom>
          <a:solidFill>
            <a:srgbClr val="F4F6F9"/>
          </a:solidFill>
          <a:ln w="9525">
            <a:solidFill>
              <a:srgbClr val="B8BCC4"/>
            </a:solidFill>
            <a:prstDash val="solid"/>
          </a:ln>
        </p:spPr>
      </p:sp>
      <p:sp>
        <p:nvSpPr>
          <p:cNvPr id="15" name="Text 10"/>
          <p:cNvSpPr/>
          <p:nvPr/>
        </p:nvSpPr>
        <p:spPr>
          <a:xfrm>
            <a:off x="566928" y="5815584"/>
            <a:ext cx="10698480" cy="548640"/>
          </a:xfrm>
          <a:prstGeom prst="rect">
            <a:avLst/>
          </a:prstGeom>
          <a:noFill/>
          <a:ln/>
        </p:spPr>
        <p:txBody>
          <a:bodyPr wrap="square" rtlCol="0" anchor="ctr"/>
          <a:lstStyle/>
          <a:p>
            <a:pPr indent="0" marL="0">
              <a:lnSpc>
                <a:spcPct val="98000"/>
              </a:lnSpc>
              <a:buNone/>
            </a:pPr>
            <a:r>
              <a:rPr lang="en-US" sz="1150" b="1" dirty="0">
                <a:solidFill>
                  <a:srgbClr val="156082"/>
                </a:solidFill>
                <a:latin typeface="Arial" pitchFamily="34" charset="0"/>
                <a:ea typeface="Arial" pitchFamily="34" charset="-122"/>
                <a:cs typeface="Arial" pitchFamily="34" charset="-120"/>
              </a:rPr>
              <a:t>3 · Cách học và sinh token    </a:t>
            </a:r>
            <a:pPr indent="0" marL="0">
              <a:lnSpc>
                <a:spcPct val="98000"/>
              </a:lnSpc>
              <a:buNone/>
            </a:pPr>
            <a:r>
              <a:rPr lang="en-US" sz="1150" dirty="0">
                <a:solidFill>
                  <a:srgbClr val="000000"/>
                </a:solidFill>
                <a:latin typeface="Arial" pitchFamily="34" charset="0"/>
                <a:ea typeface="Arial" pitchFamily="34" charset="-122"/>
                <a:cs typeface="Arial" pitchFamily="34" charset="-120"/>
              </a:rPr>
              <a:t>Học: adapter LoRA cập nhật trên chuỗi chat system/user/assistant; Sinh: sinh tuần tự token truyện tới &lt;|eot_id|&gt;.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E5</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E5 · Llama 3.2 3B + QLoRA — Tiến trình nghiên cứu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23</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72768"/>
            <a:ext cx="11338560" cy="411480"/>
          </a:xfrm>
          <a:prstGeom prst="rect">
            <a:avLst/>
          </a:prstGeom>
          <a:noFill/>
          <a:ln/>
        </p:spPr>
        <p:txBody>
          <a:bodyPr wrap="square" rtlCol="0" anchor="ctr"/>
          <a:lstStyle/>
          <a:p>
            <a:pPr indent="0" marL="0">
              <a:lnSpc>
                <a:spcPct val="100000"/>
              </a:lnSpc>
              <a:buNone/>
            </a:pPr>
            <a:r>
              <a:rPr lang="en-US" sz="1450" i="1" dirty="0">
                <a:solidFill>
                  <a:srgbClr val="515761"/>
                </a:solidFill>
                <a:latin typeface="Arial" pitchFamily="34" charset="0"/>
                <a:ea typeface="Arial" pitchFamily="34" charset="-122"/>
                <a:cs typeface="Arial" pitchFamily="34" charset="-120"/>
              </a:rPr>
              <a:t>Hai lần chạy trên T4: Fable-300 (1 epoch) và Fable-1000 (3 epoch); trainer_state ghi cửa sổ loss giảm nhanh rồi phẳng.</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2336" y="2148840"/>
          <a:ext cx="5486400" cy="914400"/>
        </p:xfrm>
        <a:graphic>
          <a:graphicData uri="http://schemas.openxmlformats.org/drawingml/2006/table">
            <a:tbl>
              <a:tblPr/>
              <a:tblGrid>
                <a:gridCol w="1234440"/>
                <a:gridCol w="4251960"/>
              </a:tblGrid>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Fable-300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1 epoch, ~113 bước, ~15 phút; loss cuối ~0,492.</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Fable-1000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3 epoch, 339 bước, ~47 phút; loss cuối 0,514.</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Bước 10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Loss 1,578; LR đạt đỉnh ~1,98e-4 sau warmup 5 bước.</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Bước 110</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Loss 0,492; validation loss ~0,488 tại hết epoch 1.</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274320">
                <a:tc>
                  <a:txBody>
                    <a:bodyPr/>
                    <a:lstStyle/>
                    <a:p>
                      <a:pPr indent="0" marL="0">
                        <a:buNone/>
                      </a:pPr>
                      <a:r>
                        <a:rPr lang="en-US" sz="1200" b="1" dirty="0">
                          <a:solidFill>
                            <a:srgbClr val="156082"/>
                          </a:solidFill>
                          <a:latin typeface="Arial" pitchFamily="34" charset="0"/>
                          <a:ea typeface="Arial" pitchFamily="34" charset="-122"/>
                          <a:cs typeface="Arial" pitchFamily="34" charset="-120"/>
                        </a:rPr>
                        <a:t>Bước 225</a:t>
                      </a:r>
                      <a:endParaRPr lang="en-US" sz="120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150" dirty="0">
                          <a:solidFill>
                            <a:srgbClr val="000000"/>
                          </a:solidFill>
                          <a:latin typeface="Arial" pitchFamily="34" charset="0"/>
                          <a:ea typeface="Arial" pitchFamily="34" charset="-122"/>
                          <a:cs typeface="Arial" pitchFamily="34" charset="-120"/>
                        </a:rPr>
                        <a:t>Loss 0,428; LR ~6,89e-5 theo lịch giảm tuyến tính.</a:t>
                      </a:r>
                      <a:endParaRPr lang="en-US" sz="1150" dirty="0">
                        <a:latin typeface="Arial" charset="0"/>
                        <a:ea typeface="Arial" charset="0"/>
                        <a:cs typeface="Arial" charset="0"/>
                      </a:endParaRPr>
                    </a:p>
                  </a:txBody>
                  <a:tcPr marL="91440" marR="91440" marT="45720" marB="4572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pic>
        <p:nvPicPr>
          <p:cNvPr id="8" name="Image 1" descr="/Users/trieulh/Documents/Master/20252B_IT5410/Final/figures/tracks/e5_training_curves.png">    </p:cNvPr>
          <p:cNvPicPr>
            <a:picLocks noChangeAspect="1"/>
          </p:cNvPicPr>
          <p:nvPr/>
        </p:nvPicPr>
        <p:blipFill>
          <a:blip r:embed="rId2"/>
          <a:srcRect l="0" r="0" t="0" b="0"/>
          <a:stretch/>
        </p:blipFill>
        <p:spPr>
          <a:xfrm>
            <a:off x="6172200" y="2057400"/>
            <a:ext cx="5669280" cy="3657600"/>
          </a:xfrm>
          <a:prstGeom prst="rect">
            <a:avLst/>
          </a:prstGeom>
        </p:spPr>
      </p:pic>
      <p:sp>
        <p:nvSpPr>
          <p:cNvPr id="9" name="Text 4"/>
          <p:cNvSpPr/>
          <p:nvPr/>
        </p:nvSpPr>
        <p:spPr>
          <a:xfrm>
            <a:off x="6172200" y="5806440"/>
            <a:ext cx="5669280" cy="548640"/>
          </a:xfrm>
          <a:prstGeom prst="rect">
            <a:avLst/>
          </a:prstGeom>
          <a:noFill/>
          <a:ln/>
        </p:spPr>
        <p:txBody>
          <a:bodyPr wrap="square" rtlCol="0" anchor="ctr"/>
          <a:lstStyle/>
          <a:p>
            <a:pPr algn="ctr" indent="0" marL="0">
              <a:lnSpc>
                <a:spcPct val="100000"/>
              </a:lnSpc>
              <a:buNone/>
            </a:pPr>
            <a:r>
              <a:rPr lang="en-US" sz="1100" i="1" dirty="0">
                <a:solidFill>
                  <a:srgbClr val="515761"/>
                </a:solidFill>
                <a:latin typeface="Arial" pitchFamily="34" charset="0"/>
                <a:ea typeface="Arial" pitchFamily="34" charset="-122"/>
                <a:cs typeface="Arial" pitchFamily="34" charset="-120"/>
              </a:rPr>
              <a:t>Đường huấn luyện QLoRA: train loss giảm nhanh trong epoch đầu rồi phẳng dần qua ba epoch.</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E5</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E5 · Llama 3.2 3B + QLoRA — Các bước phương pháp</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24</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11480"/>
          </a:xfrm>
          <a:prstGeom prst="rect">
            <a:avLst/>
          </a:prstGeom>
          <a:noFill/>
          <a:ln/>
        </p:spPr>
        <p:txBody>
          <a:bodyPr wrap="square" rtlCol="0" anchor="ctr"/>
          <a:lstStyle/>
          <a:p>
            <a:pPr indent="0" marL="0">
              <a:lnSpc>
                <a:spcPct val="100000"/>
              </a:lnSpc>
              <a:buNone/>
            </a:pPr>
            <a:r>
              <a:rPr lang="en-US" sz="1250" i="1" dirty="0">
                <a:solidFill>
                  <a:srgbClr val="515761"/>
                </a:solidFill>
                <a:latin typeface="Arial" pitchFamily="34" charset="0"/>
                <a:ea typeface="Arial" pitchFamily="34" charset="-122"/>
                <a:cs typeface="Arial" pitchFamily="34" charset="-120"/>
              </a:rPr>
              <a:t>Mạch nghiên cứu: nạp nền 3B ở 4-bit, cấu hình QLoRA gọn trên attention và MLP, huấn luyện hai lần Fable-300 và Fable-1000, rồi lượng tử hóa GGUF để phục vụ và đánh giá.</a:t>
            </a:r>
            <a:endParaRPr lang="en-US" sz="1250" dirty="0"/>
          </a:p>
        </p:txBody>
      </p:sp>
      <p:sp>
        <p:nvSpPr>
          <p:cNvPr id="7" name="Shape 4"/>
          <p:cNvSpPr/>
          <p:nvPr/>
        </p:nvSpPr>
        <p:spPr>
          <a:xfrm>
            <a:off x="402336" y="2148840"/>
            <a:ext cx="3520440" cy="1207008"/>
          </a:xfrm>
          <a:prstGeom prst="roundRect">
            <a:avLst>
              <a:gd name="adj" fmla="val 5303"/>
            </a:avLst>
          </a:prstGeom>
          <a:solidFill>
            <a:srgbClr val="FFFFFF"/>
          </a:solidFill>
          <a:ln w="19050">
            <a:solidFill>
              <a:srgbClr val="156082"/>
            </a:solidFill>
            <a:prstDash val="solid"/>
          </a:ln>
        </p:spPr>
      </p:sp>
      <p:sp>
        <p:nvSpPr>
          <p:cNvPr id="8" name="Shape 5"/>
          <p:cNvSpPr/>
          <p:nvPr/>
        </p:nvSpPr>
        <p:spPr>
          <a:xfrm>
            <a:off x="402336" y="2148840"/>
            <a:ext cx="109728" cy="1207008"/>
          </a:xfrm>
          <a:prstGeom prst="roundRect">
            <a:avLst>
              <a:gd name="adj" fmla="val 16667"/>
            </a:avLst>
          </a:prstGeom>
          <a:solidFill>
            <a:srgbClr val="156082"/>
          </a:solidFill>
          <a:ln/>
        </p:spPr>
      </p:sp>
      <p:sp>
        <p:nvSpPr>
          <p:cNvPr id="9" name="Text 6"/>
          <p:cNvSpPr/>
          <p:nvPr/>
        </p:nvSpPr>
        <p:spPr>
          <a:xfrm>
            <a:off x="62179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B1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Chọn nền 3B ở 4-bit</a:t>
            </a:r>
            <a:endParaRPr lang="en-US" sz="1150" dirty="0"/>
          </a:p>
        </p:txBody>
      </p:sp>
      <p:sp>
        <p:nvSpPr>
          <p:cNvPr id="10" name="Text 7"/>
          <p:cNvSpPr/>
          <p:nvPr/>
        </p:nvSpPr>
        <p:spPr>
          <a:xfrm>
            <a:off x="62179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Llama 3.2 3B Instruct nạp 4-bit qua Unsloth, chat template, ngữ cảnh 2.048.</a:t>
            </a:r>
            <a:endParaRPr lang="en-US" sz="950" dirty="0"/>
          </a:p>
        </p:txBody>
      </p:sp>
      <p:sp>
        <p:nvSpPr>
          <p:cNvPr id="11" name="Shape 8"/>
          <p:cNvSpPr/>
          <p:nvPr/>
        </p:nvSpPr>
        <p:spPr>
          <a:xfrm>
            <a:off x="4334256" y="2148840"/>
            <a:ext cx="3520440" cy="1207008"/>
          </a:xfrm>
          <a:prstGeom prst="roundRect">
            <a:avLst>
              <a:gd name="adj" fmla="val 5303"/>
            </a:avLst>
          </a:prstGeom>
          <a:solidFill>
            <a:srgbClr val="FFFFFF"/>
          </a:solidFill>
          <a:ln w="19050">
            <a:solidFill>
              <a:srgbClr val="156082"/>
            </a:solidFill>
            <a:prstDash val="solid"/>
          </a:ln>
        </p:spPr>
      </p:sp>
      <p:sp>
        <p:nvSpPr>
          <p:cNvPr id="12" name="Shape 9"/>
          <p:cNvSpPr/>
          <p:nvPr/>
        </p:nvSpPr>
        <p:spPr>
          <a:xfrm>
            <a:off x="4334256" y="2148840"/>
            <a:ext cx="109728" cy="1207008"/>
          </a:xfrm>
          <a:prstGeom prst="roundRect">
            <a:avLst>
              <a:gd name="adj" fmla="val 16667"/>
            </a:avLst>
          </a:prstGeom>
          <a:solidFill>
            <a:srgbClr val="156082"/>
          </a:solidFill>
          <a:ln/>
        </p:spPr>
      </p:sp>
      <p:sp>
        <p:nvSpPr>
          <p:cNvPr id="13" name="Text 10"/>
          <p:cNvSpPr/>
          <p:nvPr/>
        </p:nvSpPr>
        <p:spPr>
          <a:xfrm>
            <a:off x="455371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B2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Cấu hình QLoRA rank 16</a:t>
            </a:r>
            <a:endParaRPr lang="en-US" sz="1150" dirty="0"/>
          </a:p>
        </p:txBody>
      </p:sp>
      <p:sp>
        <p:nvSpPr>
          <p:cNvPr id="14" name="Text 11"/>
          <p:cNvSpPr/>
          <p:nvPr/>
        </p:nvSpPr>
        <p:spPr>
          <a:xfrm>
            <a:off x="455371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r=16, α=16, dropout 0 trên toàn bộ attention + MLP; 24,31M tham số, tức 0,75%.</a:t>
            </a:r>
            <a:endParaRPr lang="en-US" sz="950" dirty="0"/>
          </a:p>
        </p:txBody>
      </p:sp>
      <p:sp>
        <p:nvSpPr>
          <p:cNvPr id="15" name="Shape 12"/>
          <p:cNvSpPr/>
          <p:nvPr/>
        </p:nvSpPr>
        <p:spPr>
          <a:xfrm>
            <a:off x="8266176" y="2148840"/>
            <a:ext cx="3520440" cy="1207008"/>
          </a:xfrm>
          <a:prstGeom prst="roundRect">
            <a:avLst>
              <a:gd name="adj" fmla="val 5303"/>
            </a:avLst>
          </a:prstGeom>
          <a:solidFill>
            <a:srgbClr val="FFFFFF"/>
          </a:solidFill>
          <a:ln w="19050">
            <a:solidFill>
              <a:srgbClr val="156082"/>
            </a:solidFill>
            <a:prstDash val="solid"/>
          </a:ln>
        </p:spPr>
      </p:sp>
      <p:sp>
        <p:nvSpPr>
          <p:cNvPr id="16" name="Shape 13"/>
          <p:cNvSpPr/>
          <p:nvPr/>
        </p:nvSpPr>
        <p:spPr>
          <a:xfrm>
            <a:off x="8266176" y="2148840"/>
            <a:ext cx="109728" cy="1207008"/>
          </a:xfrm>
          <a:prstGeom prst="roundRect">
            <a:avLst>
              <a:gd name="adj" fmla="val 16667"/>
            </a:avLst>
          </a:prstGeom>
          <a:solidFill>
            <a:srgbClr val="156082"/>
          </a:solidFill>
          <a:ln/>
        </p:spPr>
      </p:sp>
      <p:sp>
        <p:nvSpPr>
          <p:cNvPr id="17" name="Text 14"/>
          <p:cNvSpPr/>
          <p:nvPr/>
        </p:nvSpPr>
        <p:spPr>
          <a:xfrm>
            <a:off x="8485632" y="2249424"/>
            <a:ext cx="3136392" cy="457200"/>
          </a:xfrm>
          <a:prstGeom prst="rect">
            <a:avLst/>
          </a:prstGeom>
          <a:noFill/>
          <a:ln/>
        </p:spPr>
        <p:txBody>
          <a:bodyPr wrap="square" rtlCol="0" anchor="ctr"/>
          <a:lstStyle/>
          <a:p>
            <a:pPr indent="0" marL="0">
              <a:lnSpc>
                <a:spcPct val="95000"/>
              </a:lnSpc>
              <a:buNone/>
            </a:pPr>
            <a:r>
              <a:rPr lang="en-US" sz="1150" b="1" dirty="0">
                <a:solidFill>
                  <a:srgbClr val="156082"/>
                </a:solidFill>
                <a:latin typeface="Arial" pitchFamily="34" charset="0"/>
                <a:ea typeface="Arial" pitchFamily="34" charset="-122"/>
                <a:cs typeface="Arial" pitchFamily="34" charset="-120"/>
              </a:rPr>
              <a:t>B3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Chuẩn bị dữ liệu fable</a:t>
            </a:r>
            <a:endParaRPr lang="en-US" sz="1150" dirty="0"/>
          </a:p>
        </p:txBody>
      </p:sp>
      <p:sp>
        <p:nvSpPr>
          <p:cNvPr id="18" name="Text 15"/>
          <p:cNvSpPr/>
          <p:nvPr/>
        </p:nvSpPr>
        <p:spPr>
          <a:xfrm>
            <a:off x="8485632" y="2715768"/>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ds-tf1-en-3m, 1.000 mẫu JSONL năm trường, chia 900 train / 100 val.</a:t>
            </a:r>
            <a:endParaRPr lang="en-US" sz="950" dirty="0"/>
          </a:p>
        </p:txBody>
      </p:sp>
      <p:sp>
        <p:nvSpPr>
          <p:cNvPr id="19" name="Shape 16"/>
          <p:cNvSpPr/>
          <p:nvPr/>
        </p:nvSpPr>
        <p:spPr>
          <a:xfrm>
            <a:off x="8266176" y="3639312"/>
            <a:ext cx="3520440" cy="1207008"/>
          </a:xfrm>
          <a:prstGeom prst="roundRect">
            <a:avLst>
              <a:gd name="adj" fmla="val 5303"/>
            </a:avLst>
          </a:prstGeom>
          <a:solidFill>
            <a:srgbClr val="FFFFFF"/>
          </a:solidFill>
          <a:ln w="19050">
            <a:solidFill>
              <a:srgbClr val="3D8DFF"/>
            </a:solidFill>
            <a:prstDash val="solid"/>
          </a:ln>
        </p:spPr>
      </p:sp>
      <p:sp>
        <p:nvSpPr>
          <p:cNvPr id="20" name="Shape 17"/>
          <p:cNvSpPr/>
          <p:nvPr/>
        </p:nvSpPr>
        <p:spPr>
          <a:xfrm>
            <a:off x="8266176" y="3639312"/>
            <a:ext cx="109728" cy="1207008"/>
          </a:xfrm>
          <a:prstGeom prst="roundRect">
            <a:avLst>
              <a:gd name="adj" fmla="val 16667"/>
            </a:avLst>
          </a:prstGeom>
          <a:solidFill>
            <a:srgbClr val="3D8DFF"/>
          </a:solidFill>
          <a:ln/>
        </p:spPr>
      </p:sp>
      <p:sp>
        <p:nvSpPr>
          <p:cNvPr id="21" name="Text 18"/>
          <p:cNvSpPr/>
          <p:nvPr/>
        </p:nvSpPr>
        <p:spPr>
          <a:xfrm>
            <a:off x="848563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B4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Chạy Fable-300, 1 epoch</a:t>
            </a:r>
            <a:endParaRPr lang="en-US" sz="1150" dirty="0"/>
          </a:p>
        </p:txBody>
      </p:sp>
      <p:sp>
        <p:nvSpPr>
          <p:cNvPr id="22" name="Text 19"/>
          <p:cNvSpPr/>
          <p:nvPr/>
        </p:nvSpPr>
        <p:spPr>
          <a:xfrm>
            <a:off x="848563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Ablation ngắn: khoảng 113 bước, ~15 phút T4, loss cuối ~0,492.</a:t>
            </a:r>
            <a:endParaRPr lang="en-US" sz="950" dirty="0"/>
          </a:p>
        </p:txBody>
      </p:sp>
      <p:sp>
        <p:nvSpPr>
          <p:cNvPr id="23" name="Shape 20"/>
          <p:cNvSpPr/>
          <p:nvPr/>
        </p:nvSpPr>
        <p:spPr>
          <a:xfrm>
            <a:off x="4334256" y="3639312"/>
            <a:ext cx="3520440" cy="1207008"/>
          </a:xfrm>
          <a:prstGeom prst="roundRect">
            <a:avLst>
              <a:gd name="adj" fmla="val 5303"/>
            </a:avLst>
          </a:prstGeom>
          <a:solidFill>
            <a:srgbClr val="FFFFFF"/>
          </a:solidFill>
          <a:ln w="19050">
            <a:solidFill>
              <a:srgbClr val="3D8DFF"/>
            </a:solidFill>
            <a:prstDash val="solid"/>
          </a:ln>
        </p:spPr>
      </p:sp>
      <p:sp>
        <p:nvSpPr>
          <p:cNvPr id="24" name="Shape 21"/>
          <p:cNvSpPr/>
          <p:nvPr/>
        </p:nvSpPr>
        <p:spPr>
          <a:xfrm>
            <a:off x="4334256" y="3639312"/>
            <a:ext cx="109728" cy="1207008"/>
          </a:xfrm>
          <a:prstGeom prst="roundRect">
            <a:avLst>
              <a:gd name="adj" fmla="val 16667"/>
            </a:avLst>
          </a:prstGeom>
          <a:solidFill>
            <a:srgbClr val="3D8DFF"/>
          </a:solidFill>
          <a:ln/>
        </p:spPr>
      </p:sp>
      <p:sp>
        <p:nvSpPr>
          <p:cNvPr id="25" name="Text 22"/>
          <p:cNvSpPr/>
          <p:nvPr/>
        </p:nvSpPr>
        <p:spPr>
          <a:xfrm>
            <a:off x="455371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B5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Chạy Fable-1000, 3 epoch</a:t>
            </a:r>
            <a:endParaRPr lang="en-US" sz="1150" dirty="0"/>
          </a:p>
        </p:txBody>
      </p:sp>
      <p:sp>
        <p:nvSpPr>
          <p:cNvPr id="26" name="Text 23"/>
          <p:cNvSpPr/>
          <p:nvPr/>
        </p:nvSpPr>
        <p:spPr>
          <a:xfrm>
            <a:off x="455371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339 bước, ~47 phút GPU T4, loss cuối 0,514, validation loss ~0,451.</a:t>
            </a:r>
            <a:endParaRPr lang="en-US" sz="950" dirty="0"/>
          </a:p>
        </p:txBody>
      </p:sp>
      <p:sp>
        <p:nvSpPr>
          <p:cNvPr id="27" name="Shape 24"/>
          <p:cNvSpPr/>
          <p:nvPr/>
        </p:nvSpPr>
        <p:spPr>
          <a:xfrm>
            <a:off x="402336" y="3639312"/>
            <a:ext cx="3520440" cy="1207008"/>
          </a:xfrm>
          <a:prstGeom prst="roundRect">
            <a:avLst>
              <a:gd name="adj" fmla="val 5303"/>
            </a:avLst>
          </a:prstGeom>
          <a:solidFill>
            <a:srgbClr val="FFFFFF"/>
          </a:solidFill>
          <a:ln w="19050">
            <a:solidFill>
              <a:srgbClr val="3D8DFF"/>
            </a:solidFill>
            <a:prstDash val="solid"/>
          </a:ln>
        </p:spPr>
      </p:sp>
      <p:sp>
        <p:nvSpPr>
          <p:cNvPr id="28" name="Shape 25"/>
          <p:cNvSpPr/>
          <p:nvPr/>
        </p:nvSpPr>
        <p:spPr>
          <a:xfrm>
            <a:off x="402336" y="3639312"/>
            <a:ext cx="109728" cy="1207008"/>
          </a:xfrm>
          <a:prstGeom prst="roundRect">
            <a:avLst>
              <a:gd name="adj" fmla="val 16667"/>
            </a:avLst>
          </a:prstGeom>
          <a:solidFill>
            <a:srgbClr val="3D8DFF"/>
          </a:solidFill>
          <a:ln/>
        </p:spPr>
      </p:sp>
      <p:sp>
        <p:nvSpPr>
          <p:cNvPr id="29" name="Text 26"/>
          <p:cNvSpPr/>
          <p:nvPr/>
        </p:nvSpPr>
        <p:spPr>
          <a:xfrm>
            <a:off x="621792" y="3739896"/>
            <a:ext cx="3136392" cy="457200"/>
          </a:xfrm>
          <a:prstGeom prst="rect">
            <a:avLst/>
          </a:prstGeom>
          <a:noFill/>
          <a:ln/>
        </p:spPr>
        <p:txBody>
          <a:bodyPr wrap="square" rtlCol="0" anchor="ctr"/>
          <a:lstStyle/>
          <a:p>
            <a:pPr indent="0" marL="0">
              <a:lnSpc>
                <a:spcPct val="95000"/>
              </a:lnSpc>
              <a:buNone/>
            </a:pPr>
            <a:r>
              <a:rPr lang="en-US" sz="1150" b="1" dirty="0">
                <a:solidFill>
                  <a:srgbClr val="3D8DFF"/>
                </a:solidFill>
                <a:latin typeface="Arial" pitchFamily="34" charset="0"/>
                <a:ea typeface="Arial" pitchFamily="34" charset="-122"/>
                <a:cs typeface="Arial" pitchFamily="34" charset="-120"/>
              </a:rPr>
              <a:t>B6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Gộp adapter, lượng tử GGUF</a:t>
            </a:r>
            <a:endParaRPr lang="en-US" sz="1150" dirty="0"/>
          </a:p>
        </p:txBody>
      </p:sp>
      <p:sp>
        <p:nvSpPr>
          <p:cNvPr id="30" name="Text 27"/>
          <p:cNvSpPr/>
          <p:nvPr/>
        </p:nvSpPr>
        <p:spPr>
          <a:xfrm>
            <a:off x="621792" y="4206240"/>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Merge LoRA vào nền, convert llama.cpp sang GGUF Q4_K_M, model chỉ ~2,0GB.</a:t>
            </a:r>
            <a:endParaRPr lang="en-US" sz="950" dirty="0"/>
          </a:p>
        </p:txBody>
      </p:sp>
      <p:sp>
        <p:nvSpPr>
          <p:cNvPr id="31" name="Shape 28"/>
          <p:cNvSpPr/>
          <p:nvPr/>
        </p:nvSpPr>
        <p:spPr>
          <a:xfrm>
            <a:off x="402336" y="5129784"/>
            <a:ext cx="3520440" cy="1207008"/>
          </a:xfrm>
          <a:prstGeom prst="roundRect">
            <a:avLst>
              <a:gd name="adj" fmla="val 5303"/>
            </a:avLst>
          </a:prstGeom>
          <a:solidFill>
            <a:srgbClr val="FFFFFF"/>
          </a:solidFill>
          <a:ln w="19050">
            <a:solidFill>
              <a:srgbClr val="E97132"/>
            </a:solidFill>
            <a:prstDash val="solid"/>
          </a:ln>
        </p:spPr>
      </p:sp>
      <p:sp>
        <p:nvSpPr>
          <p:cNvPr id="32" name="Shape 29"/>
          <p:cNvSpPr/>
          <p:nvPr/>
        </p:nvSpPr>
        <p:spPr>
          <a:xfrm>
            <a:off x="402336" y="5129784"/>
            <a:ext cx="109728" cy="1207008"/>
          </a:xfrm>
          <a:prstGeom prst="roundRect">
            <a:avLst>
              <a:gd name="adj" fmla="val 16667"/>
            </a:avLst>
          </a:prstGeom>
          <a:solidFill>
            <a:srgbClr val="E97132"/>
          </a:solidFill>
          <a:ln/>
        </p:spPr>
      </p:sp>
      <p:sp>
        <p:nvSpPr>
          <p:cNvPr id="33" name="Text 30"/>
          <p:cNvSpPr/>
          <p:nvPr/>
        </p:nvSpPr>
        <p:spPr>
          <a:xfrm>
            <a:off x="621792" y="5230368"/>
            <a:ext cx="3136392" cy="457200"/>
          </a:xfrm>
          <a:prstGeom prst="rect">
            <a:avLst/>
          </a:prstGeom>
          <a:noFill/>
          <a:ln/>
        </p:spPr>
        <p:txBody>
          <a:bodyPr wrap="square" rtlCol="0" anchor="ctr"/>
          <a:lstStyle/>
          <a:p>
            <a:pPr indent="0" marL="0">
              <a:lnSpc>
                <a:spcPct val="95000"/>
              </a:lnSpc>
              <a:buNone/>
            </a:pPr>
            <a:r>
              <a:rPr lang="en-US" sz="1150" b="1" dirty="0">
                <a:solidFill>
                  <a:srgbClr val="E97132"/>
                </a:solidFill>
                <a:latin typeface="Arial" pitchFamily="34" charset="0"/>
                <a:ea typeface="Arial" pitchFamily="34" charset="-122"/>
                <a:cs typeface="Arial" pitchFamily="34" charset="-120"/>
              </a:rPr>
              <a:t>B7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Phục vụ Ollama và đánh giá</a:t>
            </a:r>
            <a:endParaRPr lang="en-US" sz="1150" dirty="0"/>
          </a:p>
        </p:txBody>
      </p:sp>
      <p:sp>
        <p:nvSpPr>
          <p:cNvPr id="34" name="Text 31"/>
          <p:cNvSpPr/>
          <p:nvPr/>
        </p:nvSpPr>
        <p:spPr>
          <a:xfrm>
            <a:off x="62179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Đăng ký các biến thể vào Compare Mode; Quick Eval với giám khảo Llama 3.2 3B.</a:t>
            </a:r>
            <a:endParaRPr lang="en-US" sz="950" dirty="0"/>
          </a:p>
        </p:txBody>
      </p:sp>
      <p:sp>
        <p:nvSpPr>
          <p:cNvPr id="35" name="Shape 32"/>
          <p:cNvSpPr/>
          <p:nvPr/>
        </p:nvSpPr>
        <p:spPr>
          <a:xfrm>
            <a:off x="4334256" y="5129784"/>
            <a:ext cx="3520440" cy="1207008"/>
          </a:xfrm>
          <a:prstGeom prst="roundRect">
            <a:avLst>
              <a:gd name="adj" fmla="val 5303"/>
            </a:avLst>
          </a:prstGeom>
          <a:solidFill>
            <a:srgbClr val="FFFFFF"/>
          </a:solidFill>
          <a:ln w="19050">
            <a:solidFill>
              <a:srgbClr val="196B24"/>
            </a:solidFill>
            <a:prstDash val="solid"/>
          </a:ln>
        </p:spPr>
      </p:sp>
      <p:sp>
        <p:nvSpPr>
          <p:cNvPr id="36" name="Shape 33"/>
          <p:cNvSpPr/>
          <p:nvPr/>
        </p:nvSpPr>
        <p:spPr>
          <a:xfrm>
            <a:off x="4334256" y="5129784"/>
            <a:ext cx="109728" cy="1207008"/>
          </a:xfrm>
          <a:prstGeom prst="roundRect">
            <a:avLst>
              <a:gd name="adj" fmla="val 16667"/>
            </a:avLst>
          </a:prstGeom>
          <a:solidFill>
            <a:srgbClr val="196B24"/>
          </a:solidFill>
          <a:ln/>
        </p:spPr>
      </p:sp>
      <p:sp>
        <p:nvSpPr>
          <p:cNvPr id="37" name="Text 34"/>
          <p:cNvSpPr/>
          <p:nvPr/>
        </p:nvSpPr>
        <p:spPr>
          <a:xfrm>
            <a:off x="4553712" y="5230368"/>
            <a:ext cx="3136392" cy="457200"/>
          </a:xfrm>
          <a:prstGeom prst="rect">
            <a:avLst/>
          </a:prstGeom>
          <a:noFill/>
          <a:ln/>
        </p:spPr>
        <p:txBody>
          <a:bodyPr wrap="square" rtlCol="0" anchor="ctr"/>
          <a:lstStyle/>
          <a:p>
            <a:pPr indent="0" marL="0">
              <a:lnSpc>
                <a:spcPct val="95000"/>
              </a:lnSpc>
              <a:buNone/>
            </a:pPr>
            <a:r>
              <a:rPr lang="en-US" sz="1150" b="1" dirty="0">
                <a:solidFill>
                  <a:srgbClr val="196B24"/>
                </a:solidFill>
                <a:latin typeface="Arial" pitchFamily="34" charset="0"/>
                <a:ea typeface="Arial" pitchFamily="34" charset="-122"/>
                <a:cs typeface="Arial" pitchFamily="34" charset="-120"/>
              </a:rPr>
              <a:t>B8  </a:t>
            </a:r>
            <a:pPr indent="0" marL="0">
              <a:lnSpc>
                <a:spcPct val="95000"/>
              </a:lnSpc>
              <a:buNone/>
            </a:pPr>
            <a:r>
              <a:rPr lang="en-US" sz="1150" b="1" dirty="0">
                <a:solidFill>
                  <a:srgbClr val="000000"/>
                </a:solidFill>
                <a:latin typeface="Arial" pitchFamily="34" charset="0"/>
                <a:ea typeface="Arial" pitchFamily="34" charset="-122"/>
                <a:cs typeface="Arial" pitchFamily="34" charset="-120"/>
              </a:rPr>
              <a:t>Kết quả vòng chung</a:t>
            </a:r>
            <a:endParaRPr lang="en-US" sz="1150" dirty="0"/>
          </a:p>
        </p:txBody>
      </p:sp>
      <p:sp>
        <p:nvSpPr>
          <p:cNvPr id="38" name="Text 35"/>
          <p:cNvSpPr/>
          <p:nvPr/>
        </p:nvSpPr>
        <p:spPr>
          <a:xfrm>
            <a:off x="4553712" y="5696712"/>
            <a:ext cx="3136392" cy="585216"/>
          </a:xfrm>
          <a:prstGeom prst="rect">
            <a:avLst/>
          </a:prstGeom>
          <a:noFill/>
          <a:ln/>
        </p:spPr>
        <p:txBody>
          <a:bodyPr wrap="square" rtlCol="0" anchor="ctr"/>
          <a:lstStyle/>
          <a:p>
            <a:pPr indent="0" marL="0">
              <a:lnSpc>
                <a:spcPct val="97000"/>
              </a:lnSpc>
              <a:buNone/>
            </a:pPr>
            <a:r>
              <a:rPr lang="en-US" sz="950" dirty="0">
                <a:solidFill>
                  <a:srgbClr val="515761"/>
                </a:solidFill>
                <a:latin typeface="Arial" pitchFamily="34" charset="0"/>
                <a:ea typeface="Arial" pitchFamily="34" charset="-122"/>
                <a:cs typeface="Arial" pitchFamily="34" charset="-120"/>
              </a:rPr>
              <a:t>Vòng chung 8,44; counterfactual 10/10 đổi diễn biến đúng hướng, chỉ 0,75% tham số.</a:t>
            </a:r>
            <a:endParaRPr lang="en-US" sz="950" dirty="0"/>
          </a:p>
        </p:txBody>
      </p:sp>
      <p:sp>
        <p:nvSpPr>
          <p:cNvPr id="39" name="Shape 36"/>
          <p:cNvSpPr/>
          <p:nvPr/>
        </p:nvSpPr>
        <p:spPr>
          <a:xfrm>
            <a:off x="3950208" y="2752344"/>
            <a:ext cx="301752" cy="0"/>
          </a:xfrm>
          <a:prstGeom prst="line">
            <a:avLst/>
          </a:prstGeom>
          <a:noFill/>
          <a:ln w="25400">
            <a:solidFill>
              <a:srgbClr val="7A828C"/>
            </a:solidFill>
            <a:prstDash val="solid"/>
            <a:tailEnd type="triangle"/>
          </a:ln>
        </p:spPr>
      </p:sp>
      <p:sp>
        <p:nvSpPr>
          <p:cNvPr id="40" name="Shape 37"/>
          <p:cNvSpPr/>
          <p:nvPr/>
        </p:nvSpPr>
        <p:spPr>
          <a:xfrm>
            <a:off x="7882128" y="2752344"/>
            <a:ext cx="301752" cy="0"/>
          </a:xfrm>
          <a:prstGeom prst="line">
            <a:avLst/>
          </a:prstGeom>
          <a:noFill/>
          <a:ln w="25400">
            <a:solidFill>
              <a:srgbClr val="7A828C"/>
            </a:solidFill>
            <a:prstDash val="solid"/>
            <a:tailEnd type="triangle"/>
          </a:ln>
        </p:spPr>
      </p:sp>
      <p:sp>
        <p:nvSpPr>
          <p:cNvPr id="41" name="Shape 38"/>
          <p:cNvSpPr/>
          <p:nvPr/>
        </p:nvSpPr>
        <p:spPr>
          <a:xfrm>
            <a:off x="10026396" y="3374136"/>
            <a:ext cx="0" cy="246888"/>
          </a:xfrm>
          <a:prstGeom prst="line">
            <a:avLst/>
          </a:prstGeom>
          <a:noFill/>
          <a:ln w="25400">
            <a:solidFill>
              <a:srgbClr val="7A828C"/>
            </a:solidFill>
            <a:prstDash val="solid"/>
            <a:tailEnd type="triangle"/>
          </a:ln>
        </p:spPr>
      </p:sp>
      <p:sp>
        <p:nvSpPr>
          <p:cNvPr id="42" name="Shape 39"/>
          <p:cNvSpPr/>
          <p:nvPr/>
        </p:nvSpPr>
        <p:spPr>
          <a:xfrm>
            <a:off x="7882128" y="4242816"/>
            <a:ext cx="301752" cy="0"/>
          </a:xfrm>
          <a:prstGeom prst="line">
            <a:avLst/>
          </a:prstGeom>
          <a:noFill/>
          <a:ln w="25400">
            <a:solidFill>
              <a:srgbClr val="7A828C"/>
            </a:solidFill>
            <a:prstDash val="solid"/>
            <a:headEnd type="triangle"/>
          </a:ln>
        </p:spPr>
      </p:sp>
      <p:sp>
        <p:nvSpPr>
          <p:cNvPr id="43" name="Shape 40"/>
          <p:cNvSpPr/>
          <p:nvPr/>
        </p:nvSpPr>
        <p:spPr>
          <a:xfrm>
            <a:off x="3950208" y="4242816"/>
            <a:ext cx="301752" cy="0"/>
          </a:xfrm>
          <a:prstGeom prst="line">
            <a:avLst/>
          </a:prstGeom>
          <a:noFill/>
          <a:ln w="25400">
            <a:solidFill>
              <a:srgbClr val="7A828C"/>
            </a:solidFill>
            <a:prstDash val="solid"/>
            <a:headEnd type="triangle"/>
          </a:ln>
        </p:spPr>
      </p:sp>
      <p:sp>
        <p:nvSpPr>
          <p:cNvPr id="44" name="Shape 41"/>
          <p:cNvSpPr/>
          <p:nvPr/>
        </p:nvSpPr>
        <p:spPr>
          <a:xfrm>
            <a:off x="2162556" y="4864608"/>
            <a:ext cx="0" cy="246888"/>
          </a:xfrm>
          <a:prstGeom prst="line">
            <a:avLst/>
          </a:prstGeom>
          <a:noFill/>
          <a:ln w="25400">
            <a:solidFill>
              <a:srgbClr val="7A828C"/>
            </a:solidFill>
            <a:prstDash val="solid"/>
            <a:tailEnd type="triangle"/>
          </a:ln>
        </p:spPr>
      </p:sp>
      <p:sp>
        <p:nvSpPr>
          <p:cNvPr id="45" name="Shape 42"/>
          <p:cNvSpPr/>
          <p:nvPr/>
        </p:nvSpPr>
        <p:spPr>
          <a:xfrm>
            <a:off x="3950208" y="5733288"/>
            <a:ext cx="301752" cy="0"/>
          </a:xfrm>
          <a:prstGeom prst="line">
            <a:avLst/>
          </a:prstGeom>
          <a:noFill/>
          <a:ln w="25400">
            <a:solidFill>
              <a:srgbClr val="7A828C"/>
            </a:solidFill>
            <a:prstDash val="solid"/>
            <a:tailEnd type="triangle"/>
          </a:ln>
        </p:spPr>
      </p:sp>
      <p:sp>
        <p:nvSpPr>
          <p:cNvPr id="46" name="Text 43"/>
          <p:cNvSpPr/>
          <p:nvPr/>
        </p:nvSpPr>
        <p:spPr>
          <a:xfrm>
            <a:off x="402336" y="6419088"/>
            <a:ext cx="11384280" cy="274320"/>
          </a:xfrm>
          <a:prstGeom prst="rect">
            <a:avLst/>
          </a:prstGeom>
          <a:noFill/>
          <a:ln/>
        </p:spPr>
        <p:txBody>
          <a:bodyPr wrap="square" rtlCol="0" anchor="ctr"/>
          <a:lstStyle/>
          <a:p>
            <a:pPr algn="ctr" indent="0" marL="0">
              <a:buNone/>
            </a:pPr>
            <a:r>
              <a:rPr lang="en-US" sz="1000" dirty="0">
                <a:solidFill>
                  <a:srgbClr val="15608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Nền tảng &amp; thiết lập      </a:t>
            </a:r>
            <a:pPr algn="ctr" indent="0" marL="0">
              <a:buNone/>
            </a:pPr>
            <a:r>
              <a:rPr lang="en-US" sz="1000" dirty="0">
                <a:solidFill>
                  <a:srgbClr val="3D8DFF"/>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Can thiệp &amp; huấn luyện      </a:t>
            </a:r>
            <a:pPr algn="ctr" indent="0" marL="0">
              <a:buNone/>
            </a:pPr>
            <a:r>
              <a:rPr lang="en-US" sz="1000" dirty="0">
                <a:solidFill>
                  <a:srgbClr val="E97132"/>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Đo lường &amp; phát hiện      </a:t>
            </a:r>
            <a:pPr algn="ctr" indent="0" marL="0">
              <a:buNone/>
            </a:pPr>
            <a:r>
              <a:rPr lang="en-US" sz="1000" dirty="0">
                <a:solidFill>
                  <a:srgbClr val="196B24"/>
                </a:solidFill>
                <a:latin typeface="Arial" pitchFamily="34" charset="0"/>
                <a:ea typeface="Arial" pitchFamily="34" charset="-122"/>
                <a:cs typeface="Arial" pitchFamily="34" charset="-120"/>
              </a:rPr>
              <a:t>■ </a:t>
            </a:r>
            <a:pPr algn="ctr" indent="0" marL="0">
              <a:buNone/>
            </a:pPr>
            <a:r>
              <a:rPr lang="en-US" sz="1000" dirty="0">
                <a:solidFill>
                  <a:srgbClr val="515761"/>
                </a:solidFill>
                <a:latin typeface="Arial" pitchFamily="34" charset="0"/>
                <a:ea typeface="Arial" pitchFamily="34" charset="-122"/>
                <a:cs typeface="Arial" pitchFamily="34" charset="-120"/>
              </a:rPr>
              <a:t>Kết luận &amp; kết quả</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E5</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E5 · Llama 3.2 3B + QLoRA — Kết quả và phân tích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25</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Shape 3"/>
          <p:cNvSpPr/>
          <p:nvPr/>
        </p:nvSpPr>
        <p:spPr>
          <a:xfrm>
            <a:off x="6400800" y="1691640"/>
            <a:ext cx="0" cy="4297680"/>
          </a:xfrm>
          <a:prstGeom prst="line">
            <a:avLst/>
          </a:prstGeom>
          <a:noFill/>
          <a:ln w="12700">
            <a:solidFill>
              <a:srgbClr val="B8BCC4"/>
            </a:solidFill>
            <a:prstDash val="solid"/>
          </a:ln>
        </p:spPr>
      </p:sp>
      <p:sp>
        <p:nvSpPr>
          <p:cNvPr id="7" name="Text 4"/>
          <p:cNvSpPr/>
          <p:nvPr/>
        </p:nvSpPr>
        <p:spPr>
          <a:xfrm>
            <a:off x="6675120" y="1737360"/>
            <a:ext cx="4937760" cy="548640"/>
          </a:xfrm>
          <a:prstGeom prst="rect">
            <a:avLst/>
          </a:prstGeom>
          <a:noFill/>
          <a:ln/>
        </p:spPr>
        <p:txBody>
          <a:bodyPr wrap="square" rtlCol="0" anchor="ctr"/>
          <a:lstStyle/>
          <a:p>
            <a:pPr indent="0" marL="0">
              <a:buNone/>
            </a:pPr>
            <a:r>
              <a:rPr lang="en-US" sz="3000" b="1" dirty="0">
                <a:solidFill>
                  <a:srgbClr val="196B24"/>
                </a:solidFill>
                <a:latin typeface="Arial" pitchFamily="34" charset="0"/>
                <a:ea typeface="Arial" pitchFamily="34" charset="-122"/>
                <a:cs typeface="Arial" pitchFamily="34" charset="-120"/>
              </a:rPr>
              <a:t>8,44</a:t>
            </a:r>
            <a:endParaRPr lang="en-US" sz="3000" dirty="0"/>
          </a:p>
        </p:txBody>
      </p:sp>
      <p:sp>
        <p:nvSpPr>
          <p:cNvPr id="8" name="Text 5"/>
          <p:cNvSpPr/>
          <p:nvPr/>
        </p:nvSpPr>
        <p:spPr>
          <a:xfrm>
            <a:off x="6675120" y="226771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Điểm vòng chung — mạnh nhất trong các mô hình sinh trực tiếp một lượt.</a:t>
            </a:r>
            <a:endParaRPr lang="en-US" sz="1350" dirty="0"/>
          </a:p>
        </p:txBody>
      </p:sp>
      <p:sp>
        <p:nvSpPr>
          <p:cNvPr id="9" name="Text 6"/>
          <p:cNvSpPr/>
          <p:nvPr/>
        </p:nvSpPr>
        <p:spPr>
          <a:xfrm>
            <a:off x="6675120" y="2971800"/>
            <a:ext cx="49377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10 / 10</a:t>
            </a:r>
            <a:endParaRPr lang="en-US" sz="3000" dirty="0"/>
          </a:p>
        </p:txBody>
      </p:sp>
      <p:sp>
        <p:nvSpPr>
          <p:cNvPr id="10" name="Text 7"/>
          <p:cNvSpPr/>
          <p:nvPr/>
        </p:nvSpPr>
        <p:spPr>
          <a:xfrm>
            <a:off x="6675120" y="350215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Số cặp counterfactual đổi diễn biến đúng hướng khi thay một điều kiện (9,40/10).</a:t>
            </a:r>
            <a:endParaRPr lang="en-US" sz="1350" dirty="0"/>
          </a:p>
        </p:txBody>
      </p:sp>
      <p:sp>
        <p:nvSpPr>
          <p:cNvPr id="11" name="Text 8"/>
          <p:cNvSpPr/>
          <p:nvPr/>
        </p:nvSpPr>
        <p:spPr>
          <a:xfrm>
            <a:off x="6675120" y="4206240"/>
            <a:ext cx="49377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0,75%</a:t>
            </a:r>
            <a:endParaRPr lang="en-US" sz="3000" dirty="0"/>
          </a:p>
        </p:txBody>
      </p:sp>
      <p:sp>
        <p:nvSpPr>
          <p:cNvPr id="12" name="Text 9"/>
          <p:cNvSpPr/>
          <p:nvPr/>
        </p:nvSpPr>
        <p:spPr>
          <a:xfrm>
            <a:off x="6675120" y="4736592"/>
            <a:ext cx="49377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Tỷ lệ tham số được huấn luyện; 339 bước, 47,3 phút trên một GPU T4.</a:t>
            </a:r>
            <a:endParaRPr lang="en-US" sz="1350" dirty="0"/>
          </a:p>
        </p:txBody>
      </p:sp>
      <p:sp>
        <p:nvSpPr>
          <p:cNvPr id="13" name="Text 10"/>
          <p:cNvSpPr/>
          <p:nvPr/>
        </p:nvSpPr>
        <p:spPr>
          <a:xfrm>
            <a:off x="6675120" y="5458968"/>
            <a:ext cx="4937760" cy="320040"/>
          </a:xfrm>
          <a:prstGeom prst="rect">
            <a:avLst/>
          </a:prstGeom>
          <a:noFill/>
          <a:ln/>
        </p:spPr>
        <p:txBody>
          <a:bodyPr wrap="square" rtlCol="0" anchor="ctr"/>
          <a:lstStyle/>
          <a:p>
            <a:pPr indent="0" marL="0">
              <a:buNone/>
            </a:pPr>
            <a:r>
              <a:rPr lang="en-US" sz="1400" b="1" dirty="0">
                <a:solidFill>
                  <a:srgbClr val="156082"/>
                </a:solidFill>
                <a:latin typeface="Arial" pitchFamily="34" charset="0"/>
                <a:ea typeface="Arial" pitchFamily="34" charset="-122"/>
                <a:cs typeface="Arial" pitchFamily="34" charset="-120"/>
              </a:rPr>
              <a:t>Phân tích và giới hạn</a:t>
            </a:r>
            <a:endParaRPr lang="en-US" sz="1400" dirty="0"/>
          </a:p>
        </p:txBody>
      </p:sp>
      <p:sp>
        <p:nvSpPr>
          <p:cNvPr id="14" name="Text 11"/>
          <p:cNvSpPr/>
          <p:nvPr/>
        </p:nvSpPr>
        <p:spPr>
          <a:xfrm>
            <a:off x="6675120" y="5824728"/>
            <a:ext cx="4937760" cy="914400"/>
          </a:xfrm>
          <a:prstGeom prst="rect">
            <a:avLst/>
          </a:prstGeom>
          <a:noFill/>
          <a:ln/>
        </p:spPr>
        <p:txBody>
          <a:bodyPr wrap="square" rtlCol="0" anchor="ctr"/>
          <a:lstStyle/>
          <a:p>
            <a:pPr indent="0" marL="0">
              <a:lnSpc>
                <a:spcPct val="103000"/>
              </a:lnSpc>
              <a:buNone/>
            </a:pPr>
            <a:r>
              <a:rPr lang="en-US" sz="1250" dirty="0">
                <a:solidFill>
                  <a:srgbClr val="000000"/>
                </a:solidFill>
                <a:latin typeface="Arial" pitchFamily="34" charset="0"/>
                <a:ea typeface="Arial" pitchFamily="34" charset="-122"/>
                <a:cs typeface="Arial" pitchFamily="34" charset="-120"/>
              </a:rPr>
              <a:t>Với chi phí thích nghi tối thiểu, QLoRA tạo được một artifact sinh trực tiếp dùng điều kiện để thay đổi diễn biến. Đây là bằng chứng mạnh nhất trong nhóm về khả năng kết hợp điều kiện ngay trong một lượt sinh.</a:t>
            </a:r>
            <a:endParaRPr lang="en-US" sz="1250" dirty="0"/>
          </a:p>
        </p:txBody>
      </p:sp>
      <p:sp>
        <p:nvSpPr>
          <p:cNvPr id="15" name="Text 12"/>
          <p:cNvSpPr/>
          <p:nvPr/>
        </p:nvSpPr>
        <p:spPr>
          <a:xfrm>
            <a:off x="402336" y="6172200"/>
            <a:ext cx="5760720" cy="457200"/>
          </a:xfrm>
          <a:prstGeom prst="rect">
            <a:avLst/>
          </a:prstGeom>
          <a:noFill/>
          <a:ln/>
        </p:spPr>
        <p:txBody>
          <a:bodyPr wrap="square" rtlCol="0" anchor="ctr"/>
          <a:lstStyle/>
          <a:p>
            <a:pPr indent="0" marL="0">
              <a:lnSpc>
                <a:spcPct val="100000"/>
              </a:lnSpc>
              <a:buNone/>
            </a:pPr>
            <a:r>
              <a:rPr lang="en-US" sz="1150" i="1" dirty="0">
                <a:solidFill>
                  <a:srgbClr val="515761"/>
                </a:solidFill>
                <a:latin typeface="Arial" pitchFamily="34" charset="0"/>
                <a:ea typeface="Arial" pitchFamily="34" charset="-122"/>
                <a:cs typeface="Arial" pitchFamily="34" charset="-120"/>
              </a:rPr>
              <a:t>Giới hạn: chưa cô lập ảnh hưởng của mô hình nền so với QLoRA, hoặc một so với ba epoch; loss chấm trên toàn chuỗi chat, không riêng token truyện.</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ĐÁNH GIÁ CHUNG</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Công nghệ chấm điểm vòng chung cho năm mô hình</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26</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Text 3"/>
          <p:cNvSpPr/>
          <p:nvPr/>
        </p:nvSpPr>
        <p:spPr>
          <a:xfrm>
            <a:off x="402336" y="1536192"/>
            <a:ext cx="11384280" cy="457200"/>
          </a:xfrm>
          <a:prstGeom prst="rect">
            <a:avLst/>
          </a:prstGeom>
          <a:noFill/>
          <a:ln/>
        </p:spPr>
        <p:txBody>
          <a:bodyPr wrap="square" rtlCol="0" anchor="ctr"/>
          <a:lstStyle/>
          <a:p>
            <a:pPr indent="0" marL="0">
              <a:lnSpc>
                <a:spcPct val="100000"/>
              </a:lnSpc>
              <a:buNone/>
            </a:pPr>
            <a:r>
              <a:rPr lang="en-US" sz="1300" i="1" dirty="0">
                <a:solidFill>
                  <a:srgbClr val="515761"/>
                </a:solidFill>
                <a:latin typeface="Arial" pitchFamily="34" charset="0"/>
                <a:ea typeface="Arial" pitchFamily="34" charset="-122"/>
                <a:cs typeface="Arial" pitchFamily="34" charset="-120"/>
              </a:rPr>
              <a:t>Đánh giá chung dùng một giám khảo LLM thống nhất, chấm mù trên cùng bộ đề, tách biệt với các giám khảo nội bộ của từng hướng; chỉ điểm vòng chung mới dùng để so sánh năm hệ thống.</a:t>
            </a:r>
            <a:endParaRPr lang="en-US" sz="1300" dirty="0"/>
          </a:p>
        </p:txBody>
      </p:sp>
      <p:sp>
        <p:nvSpPr>
          <p:cNvPr id="7" name="Shape 4"/>
          <p:cNvSpPr/>
          <p:nvPr/>
        </p:nvSpPr>
        <p:spPr>
          <a:xfrm>
            <a:off x="402336" y="2084832"/>
            <a:ext cx="3520440" cy="1298448"/>
          </a:xfrm>
          <a:prstGeom prst="roundRect">
            <a:avLst>
              <a:gd name="adj" fmla="val 4930"/>
            </a:avLst>
          </a:prstGeom>
          <a:solidFill>
            <a:srgbClr val="FFFFFF"/>
          </a:solidFill>
          <a:ln w="19050">
            <a:solidFill>
              <a:srgbClr val="156082"/>
            </a:solidFill>
            <a:prstDash val="solid"/>
          </a:ln>
        </p:spPr>
      </p:sp>
      <p:sp>
        <p:nvSpPr>
          <p:cNvPr id="8" name="Shape 5"/>
          <p:cNvSpPr/>
          <p:nvPr/>
        </p:nvSpPr>
        <p:spPr>
          <a:xfrm>
            <a:off x="402336" y="2084832"/>
            <a:ext cx="109728" cy="1298448"/>
          </a:xfrm>
          <a:prstGeom prst="roundRect">
            <a:avLst>
              <a:gd name="adj" fmla="val 16667"/>
            </a:avLst>
          </a:prstGeom>
          <a:solidFill>
            <a:srgbClr val="156082"/>
          </a:solidFill>
          <a:ln/>
        </p:spPr>
      </p:sp>
      <p:sp>
        <p:nvSpPr>
          <p:cNvPr id="9" name="Text 6"/>
          <p:cNvSpPr/>
          <p:nvPr/>
        </p:nvSpPr>
        <p:spPr>
          <a:xfrm>
            <a:off x="621792" y="2176272"/>
            <a:ext cx="3154680" cy="292608"/>
          </a:xfrm>
          <a:prstGeom prst="rect">
            <a:avLst/>
          </a:prstGeom>
          <a:noFill/>
          <a:ln/>
        </p:spPr>
        <p:txBody>
          <a:bodyPr wrap="square" rtlCol="0" anchor="ctr"/>
          <a:lstStyle/>
          <a:p>
            <a:pPr indent="0" marL="0">
              <a:buNone/>
            </a:pPr>
            <a:r>
              <a:rPr lang="en-US" sz="1200" b="1" dirty="0">
                <a:solidFill>
                  <a:srgbClr val="156082"/>
                </a:solidFill>
                <a:latin typeface="Arial" pitchFamily="34" charset="0"/>
                <a:ea typeface="Arial" pitchFamily="34" charset="-122"/>
                <a:cs typeface="Arial" pitchFamily="34" charset="-120"/>
              </a:rPr>
              <a:t>1  </a:t>
            </a:r>
            <a:pPr indent="0" marL="0">
              <a:buNone/>
            </a:pPr>
            <a:r>
              <a:rPr lang="en-US" sz="1200" b="1" dirty="0">
                <a:solidFill>
                  <a:srgbClr val="000000"/>
                </a:solidFill>
                <a:latin typeface="Arial" pitchFamily="34" charset="0"/>
                <a:ea typeface="Arial" pitchFamily="34" charset="-122"/>
                <a:cs typeface="Arial" pitchFamily="34" charset="-120"/>
              </a:rPr>
              <a:t>Sinh đầu ra</a:t>
            </a:r>
            <a:endParaRPr lang="en-US" sz="1200" dirty="0"/>
          </a:p>
        </p:txBody>
      </p:sp>
      <p:sp>
        <p:nvSpPr>
          <p:cNvPr id="10" name="Text 7"/>
          <p:cNvSpPr/>
          <p:nvPr/>
        </p:nvSpPr>
        <p:spPr>
          <a:xfrm>
            <a:off x="621792" y="2523744"/>
            <a:ext cx="3154680" cy="786384"/>
          </a:xfrm>
          <a:prstGeom prst="rect">
            <a:avLst/>
          </a:prstGeom>
          <a:noFill/>
          <a:ln/>
        </p:spPr>
        <p:txBody>
          <a:bodyPr wrap="square" rtlCol="0" anchor="ctr"/>
          <a:lstStyle/>
          <a:p>
            <a:pPr indent="0" marL="0">
              <a:lnSpc>
                <a:spcPct val="98000"/>
              </a:lnSpc>
              <a:buNone/>
            </a:pPr>
            <a:r>
              <a:rPr lang="en-US" sz="980" dirty="0">
                <a:solidFill>
                  <a:srgbClr val="515761"/>
                </a:solidFill>
                <a:latin typeface="Arial" pitchFamily="34" charset="0"/>
                <a:ea typeface="Arial" pitchFamily="34" charset="-122"/>
                <a:cs typeface="Arial" pitchFamily="34" charset="-120"/>
              </a:rPr>
              <a:t>Năm hệ đại diện chạy cùng 25 đề mới = 125 truyện. seed 5410 + chỉ số đề, temperature 0,7, top-p 0,9, repetition penalty 1,1, tối đa 400 token, 1 mẫu.</a:t>
            </a:r>
            <a:endParaRPr lang="en-US" sz="980" dirty="0"/>
          </a:p>
        </p:txBody>
      </p:sp>
      <p:sp>
        <p:nvSpPr>
          <p:cNvPr id="11" name="Shape 8"/>
          <p:cNvSpPr/>
          <p:nvPr/>
        </p:nvSpPr>
        <p:spPr>
          <a:xfrm>
            <a:off x="4334256" y="2084832"/>
            <a:ext cx="3520440" cy="1298448"/>
          </a:xfrm>
          <a:prstGeom prst="roundRect">
            <a:avLst>
              <a:gd name="adj" fmla="val 4930"/>
            </a:avLst>
          </a:prstGeom>
          <a:solidFill>
            <a:srgbClr val="FFFFFF"/>
          </a:solidFill>
          <a:ln w="19050">
            <a:solidFill>
              <a:srgbClr val="3D8DFF"/>
            </a:solidFill>
            <a:prstDash val="solid"/>
          </a:ln>
        </p:spPr>
      </p:sp>
      <p:sp>
        <p:nvSpPr>
          <p:cNvPr id="12" name="Shape 9"/>
          <p:cNvSpPr/>
          <p:nvPr/>
        </p:nvSpPr>
        <p:spPr>
          <a:xfrm>
            <a:off x="4334256" y="2084832"/>
            <a:ext cx="109728" cy="1298448"/>
          </a:xfrm>
          <a:prstGeom prst="roundRect">
            <a:avLst>
              <a:gd name="adj" fmla="val 16667"/>
            </a:avLst>
          </a:prstGeom>
          <a:solidFill>
            <a:srgbClr val="3D8DFF"/>
          </a:solidFill>
          <a:ln/>
        </p:spPr>
      </p:sp>
      <p:sp>
        <p:nvSpPr>
          <p:cNvPr id="13" name="Text 10"/>
          <p:cNvSpPr/>
          <p:nvPr/>
        </p:nvSpPr>
        <p:spPr>
          <a:xfrm>
            <a:off x="4553712" y="2176272"/>
            <a:ext cx="3154680" cy="292608"/>
          </a:xfrm>
          <a:prstGeom prst="rect">
            <a:avLst/>
          </a:prstGeom>
          <a:noFill/>
          <a:ln/>
        </p:spPr>
        <p:txBody>
          <a:bodyPr wrap="square" rtlCol="0" anchor="ctr"/>
          <a:lstStyle/>
          <a:p>
            <a:pPr indent="0" marL="0">
              <a:buNone/>
            </a:pPr>
            <a:r>
              <a:rPr lang="en-US" sz="1200" b="1" dirty="0">
                <a:solidFill>
                  <a:srgbClr val="3D8DFF"/>
                </a:solidFill>
                <a:latin typeface="Arial" pitchFamily="34" charset="0"/>
                <a:ea typeface="Arial" pitchFamily="34" charset="-122"/>
                <a:cs typeface="Arial" pitchFamily="34" charset="-120"/>
              </a:rPr>
              <a:t>2  </a:t>
            </a:r>
            <a:pPr indent="0" marL="0">
              <a:buNone/>
            </a:pPr>
            <a:r>
              <a:rPr lang="en-US" sz="1200" b="1" dirty="0">
                <a:solidFill>
                  <a:srgbClr val="000000"/>
                </a:solidFill>
                <a:latin typeface="Arial" pitchFamily="34" charset="0"/>
                <a:ea typeface="Arial" pitchFamily="34" charset="-122"/>
                <a:cs typeface="Arial" pitchFamily="34" charset="-120"/>
              </a:rPr>
              <a:t>Làm mù (blind)</a:t>
            </a:r>
            <a:endParaRPr lang="en-US" sz="1200" dirty="0"/>
          </a:p>
        </p:txBody>
      </p:sp>
      <p:sp>
        <p:nvSpPr>
          <p:cNvPr id="14" name="Text 11"/>
          <p:cNvSpPr/>
          <p:nvPr/>
        </p:nvSpPr>
        <p:spPr>
          <a:xfrm>
            <a:off x="4553712" y="2523744"/>
            <a:ext cx="3154680" cy="786384"/>
          </a:xfrm>
          <a:prstGeom prst="rect">
            <a:avLst/>
          </a:prstGeom>
          <a:noFill/>
          <a:ln/>
        </p:spPr>
        <p:txBody>
          <a:bodyPr wrap="square" rtlCol="0" anchor="ctr"/>
          <a:lstStyle/>
          <a:p>
            <a:pPr indent="0" marL="0">
              <a:lnSpc>
                <a:spcPct val="98000"/>
              </a:lnSpc>
              <a:buNone/>
            </a:pPr>
            <a:r>
              <a:rPr lang="en-US" sz="980" dirty="0">
                <a:solidFill>
                  <a:srgbClr val="515761"/>
                </a:solidFill>
                <a:latin typeface="Arial" pitchFamily="34" charset="0"/>
                <a:ea typeface="Arial" pitchFamily="34" charset="-122"/>
                <a:cs typeface="Arial" pitchFamily="34" charset="-120"/>
              </a:rPr>
              <a:t>Xáo 125 cặp (seed 20260726) thành B001–B125. Giám khảo chỉ thấy đề và truyện, ẩn mô hình, backend, latency và cờ repair; ánh xạ để riêng.</a:t>
            </a:r>
            <a:endParaRPr lang="en-US" sz="980" dirty="0"/>
          </a:p>
        </p:txBody>
      </p:sp>
      <p:sp>
        <p:nvSpPr>
          <p:cNvPr id="15" name="Shape 12"/>
          <p:cNvSpPr/>
          <p:nvPr/>
        </p:nvSpPr>
        <p:spPr>
          <a:xfrm>
            <a:off x="8266176" y="2084832"/>
            <a:ext cx="3520440" cy="1298448"/>
          </a:xfrm>
          <a:prstGeom prst="roundRect">
            <a:avLst>
              <a:gd name="adj" fmla="val 4930"/>
            </a:avLst>
          </a:prstGeom>
          <a:solidFill>
            <a:srgbClr val="FFFFFF"/>
          </a:solidFill>
          <a:ln w="19050">
            <a:solidFill>
              <a:srgbClr val="196B24"/>
            </a:solidFill>
            <a:prstDash val="solid"/>
          </a:ln>
        </p:spPr>
      </p:sp>
      <p:sp>
        <p:nvSpPr>
          <p:cNvPr id="16" name="Shape 13"/>
          <p:cNvSpPr/>
          <p:nvPr/>
        </p:nvSpPr>
        <p:spPr>
          <a:xfrm>
            <a:off x="8266176" y="2084832"/>
            <a:ext cx="109728" cy="1298448"/>
          </a:xfrm>
          <a:prstGeom prst="roundRect">
            <a:avLst>
              <a:gd name="adj" fmla="val 16667"/>
            </a:avLst>
          </a:prstGeom>
          <a:solidFill>
            <a:srgbClr val="196B24"/>
          </a:solidFill>
          <a:ln/>
        </p:spPr>
      </p:sp>
      <p:sp>
        <p:nvSpPr>
          <p:cNvPr id="17" name="Text 14"/>
          <p:cNvSpPr/>
          <p:nvPr/>
        </p:nvSpPr>
        <p:spPr>
          <a:xfrm>
            <a:off x="8485632" y="2176272"/>
            <a:ext cx="3154680" cy="292608"/>
          </a:xfrm>
          <a:prstGeom prst="rect">
            <a:avLst/>
          </a:prstGeom>
          <a:noFill/>
          <a:ln/>
        </p:spPr>
        <p:txBody>
          <a:bodyPr wrap="square" rtlCol="0" anchor="ctr"/>
          <a:lstStyle/>
          <a:p>
            <a:pPr indent="0" marL="0">
              <a:buNone/>
            </a:pPr>
            <a:r>
              <a:rPr lang="en-US" sz="1200" b="1" dirty="0">
                <a:solidFill>
                  <a:srgbClr val="196B24"/>
                </a:solidFill>
                <a:latin typeface="Arial" pitchFamily="34" charset="0"/>
                <a:ea typeface="Arial" pitchFamily="34" charset="-122"/>
                <a:cs typeface="Arial" pitchFamily="34" charset="-120"/>
              </a:rPr>
              <a:t>3  </a:t>
            </a:r>
            <a:pPr indent="0" marL="0">
              <a:buNone/>
            </a:pPr>
            <a:r>
              <a:rPr lang="en-US" sz="1200" b="1" dirty="0">
                <a:solidFill>
                  <a:srgbClr val="000000"/>
                </a:solidFill>
                <a:latin typeface="Arial" pitchFamily="34" charset="0"/>
                <a:ea typeface="Arial" pitchFamily="34" charset="-122"/>
                <a:cs typeface="Arial" pitchFamily="34" charset="-120"/>
              </a:rPr>
              <a:t>Chấm bằng Gemma</a:t>
            </a:r>
            <a:endParaRPr lang="en-US" sz="1200" dirty="0"/>
          </a:p>
        </p:txBody>
      </p:sp>
      <p:sp>
        <p:nvSpPr>
          <p:cNvPr id="18" name="Text 15"/>
          <p:cNvSpPr/>
          <p:nvPr/>
        </p:nvSpPr>
        <p:spPr>
          <a:xfrm>
            <a:off x="8485632" y="2523744"/>
            <a:ext cx="3154680" cy="786384"/>
          </a:xfrm>
          <a:prstGeom prst="rect">
            <a:avLst/>
          </a:prstGeom>
          <a:noFill/>
          <a:ln/>
        </p:spPr>
        <p:txBody>
          <a:bodyPr wrap="square" rtlCol="0" anchor="ctr"/>
          <a:lstStyle/>
          <a:p>
            <a:pPr indent="0" marL="0">
              <a:lnSpc>
                <a:spcPct val="98000"/>
              </a:lnSpc>
              <a:buNone/>
            </a:pPr>
            <a:r>
              <a:rPr lang="en-US" sz="980" dirty="0">
                <a:solidFill>
                  <a:srgbClr val="515761"/>
                </a:solidFill>
                <a:latin typeface="Arial" pitchFamily="34" charset="0"/>
                <a:ea typeface="Arial" pitchFamily="34" charset="-122"/>
                <a:cs typeface="Arial" pitchFamily="34" charset="-120"/>
              </a:rPr>
              <a:t>gemma-4-26b-a4b-it qua Google GenAI, temperature 0, seed 20260726, thinking MINIMAL; trả JSON bốn số nguyên 1–10 cho mỗi truyện.</a:t>
            </a:r>
            <a:endParaRPr lang="en-US" sz="980" dirty="0"/>
          </a:p>
        </p:txBody>
      </p:sp>
      <p:sp>
        <p:nvSpPr>
          <p:cNvPr id="19" name="Shape 16"/>
          <p:cNvSpPr/>
          <p:nvPr/>
        </p:nvSpPr>
        <p:spPr>
          <a:xfrm>
            <a:off x="3950208" y="2734056"/>
            <a:ext cx="301752" cy="0"/>
          </a:xfrm>
          <a:prstGeom prst="line">
            <a:avLst/>
          </a:prstGeom>
          <a:noFill/>
          <a:ln w="25400">
            <a:solidFill>
              <a:srgbClr val="7A828C"/>
            </a:solidFill>
            <a:prstDash val="solid"/>
            <a:tailEnd type="triangle"/>
          </a:ln>
        </p:spPr>
      </p:sp>
      <p:sp>
        <p:nvSpPr>
          <p:cNvPr id="20" name="Shape 17"/>
          <p:cNvSpPr/>
          <p:nvPr/>
        </p:nvSpPr>
        <p:spPr>
          <a:xfrm>
            <a:off x="7882128" y="2734056"/>
            <a:ext cx="301752" cy="0"/>
          </a:xfrm>
          <a:prstGeom prst="line">
            <a:avLst/>
          </a:prstGeom>
          <a:noFill/>
          <a:ln w="25400">
            <a:solidFill>
              <a:srgbClr val="7A828C"/>
            </a:solidFill>
            <a:prstDash val="solid"/>
            <a:tailEnd type="triangle"/>
          </a:ln>
        </p:spPr>
      </p:sp>
      <p:sp>
        <p:nvSpPr>
          <p:cNvPr id="21" name="Text 18"/>
          <p:cNvSpPr/>
          <p:nvPr/>
        </p:nvSpPr>
        <p:spPr>
          <a:xfrm>
            <a:off x="402336" y="3675888"/>
            <a:ext cx="5577840" cy="292608"/>
          </a:xfrm>
          <a:prstGeom prst="rect">
            <a:avLst/>
          </a:prstGeom>
          <a:noFill/>
          <a:ln/>
        </p:spPr>
        <p:txBody>
          <a:bodyPr wrap="square" rtlCol="0" anchor="ctr"/>
          <a:lstStyle/>
          <a:p>
            <a:pPr indent="0" marL="0">
              <a:buNone/>
            </a:pPr>
            <a:r>
              <a:rPr lang="en-US" sz="1300" b="1" dirty="0">
                <a:solidFill>
                  <a:srgbClr val="156082"/>
                </a:solidFill>
                <a:latin typeface="Arial" pitchFamily="34" charset="0"/>
                <a:ea typeface="Arial" pitchFamily="34" charset="-122"/>
                <a:cs typeface="Arial" pitchFamily="34" charset="-120"/>
              </a:rPr>
              <a:t>Rubric bốn trục (JSON, mỗi trục 1 đến 10)</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02336" y="4041648"/>
          <a:ext cx="5577840" cy="914400"/>
        </p:xfrm>
        <a:graphic>
          <a:graphicData uri="http://schemas.openxmlformats.org/drawingml/2006/table">
            <a:tbl>
              <a:tblPr/>
              <a:tblGrid>
                <a:gridCol w="1691640"/>
                <a:gridCol w="3886200"/>
              </a:tblGrid>
              <a:tr h="457200">
                <a:tc>
                  <a:txBody>
                    <a:bodyPr/>
                    <a:lstStyle/>
                    <a:p>
                      <a:pPr indent="0" marL="0">
                        <a:buNone/>
                      </a:pPr>
                      <a:r>
                        <a:rPr lang="en-US" sz="1000" b="1" dirty="0">
                          <a:solidFill>
                            <a:srgbClr val="156082"/>
                          </a:solidFill>
                          <a:latin typeface="Courier New" pitchFamily="34" charset="0"/>
                          <a:ea typeface="Courier New" pitchFamily="34" charset="-122"/>
                          <a:cs typeface="Courier New" pitchFamily="34" charset="-120"/>
                        </a:rPr>
                        <a:t>grammar</a:t>
                      </a:r>
                      <a:endParaRPr lang="en-US" sz="1000" dirty="0">
                        <a:latin typeface="Courier New" charset="0"/>
                        <a:ea typeface="Courier New" charset="0"/>
                        <a:cs typeface="Courier New"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Ngữ pháp, mạch lạc, văn phong phù hợp trẻ em</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457200">
                <a:tc>
                  <a:txBody>
                    <a:bodyPr/>
                    <a:lstStyle/>
                    <a:p>
                      <a:pPr indent="0" marL="0">
                        <a:buNone/>
                      </a:pPr>
                      <a:r>
                        <a:rPr lang="en-US" sz="1000" b="1" dirty="0">
                          <a:solidFill>
                            <a:srgbClr val="156082"/>
                          </a:solidFill>
                          <a:latin typeface="Courier New" pitchFamily="34" charset="0"/>
                          <a:ea typeface="Courier New" pitchFamily="34" charset="-122"/>
                          <a:cs typeface="Courier New" pitchFamily="34" charset="-120"/>
                        </a:rPr>
                        <a:t>creativity</a:t>
                      </a:r>
                      <a:endParaRPr lang="en-US" sz="1000" dirty="0">
                        <a:latin typeface="Courier New" charset="0"/>
                        <a:ea typeface="Courier New" charset="0"/>
                        <a:cs typeface="Courier New"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Độ mới và sức sống của truyện</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457200">
                <a:tc>
                  <a:txBody>
                    <a:bodyPr/>
                    <a:lstStyle/>
                    <a:p>
                      <a:pPr indent="0" marL="0">
                        <a:buNone/>
                      </a:pPr>
                      <a:r>
                        <a:rPr lang="en-US" sz="1000" b="1" dirty="0">
                          <a:solidFill>
                            <a:srgbClr val="156082"/>
                          </a:solidFill>
                          <a:latin typeface="Courier New" pitchFamily="34" charset="0"/>
                          <a:ea typeface="Courier New" pitchFamily="34" charset="-122"/>
                          <a:cs typeface="Courier New" pitchFamily="34" charset="-120"/>
                        </a:rPr>
                        <a:t>moral_clarity</a:t>
                      </a:r>
                      <a:endParaRPr lang="en-US" sz="1000" dirty="0">
                        <a:latin typeface="Courier New" charset="0"/>
                        <a:ea typeface="Courier New" charset="0"/>
                        <a:cs typeface="Courier New"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Bài học rõ và được diễn biến chứng minh</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r h="457200">
                <a:tc>
                  <a:txBody>
                    <a:bodyPr/>
                    <a:lstStyle/>
                    <a:p>
                      <a:pPr indent="0" marL="0">
                        <a:buNone/>
                      </a:pPr>
                      <a:r>
                        <a:rPr lang="en-US" sz="1000" b="1" dirty="0">
                          <a:solidFill>
                            <a:srgbClr val="156082"/>
                          </a:solidFill>
                          <a:latin typeface="Courier New" pitchFamily="34" charset="0"/>
                          <a:ea typeface="Courier New" pitchFamily="34" charset="-122"/>
                          <a:cs typeface="Courier New" pitchFamily="34" charset="-120"/>
                        </a:rPr>
                        <a:t>prompt_adherence</a:t>
                      </a:r>
                      <a:endParaRPr lang="en-US" sz="1000" dirty="0">
                        <a:latin typeface="Courier New" charset="0"/>
                        <a:ea typeface="Courier New" charset="0"/>
                        <a:cs typeface="Courier New"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Bám character, setting, challenge, outcome, teaching và dòng Moral</a:t>
                      </a:r>
                      <a:endParaRPr lang="en-US" sz="1050" dirty="0">
                        <a:latin typeface="Arial" charset="0"/>
                        <a:ea typeface="Arial" charset="0"/>
                        <a:cs typeface="Arial" charset="0"/>
                      </a:endParaRPr>
                    </a:p>
                  </a:txBody>
                  <a:tcPr marL="63500" marR="63500" marT="38100" marB="38100" anchor="ctr">
                    <a:lnL w="6350" cap="flat" cmpd="sng" algn="ctr">
                      <a:solidFill>
                        <a:srgbClr val="B8BCC4"/>
                      </a:solidFill>
                      <a:prstDash val="solid"/>
                      <a:round/>
                      <a:headEnd type="none" w="med" len="med"/>
                      <a:tailEnd type="none" w="med" len="med"/>
                    </a:lnL>
                    <a:lnR w="6350" cap="flat" cmpd="sng" algn="ctr">
                      <a:solidFill>
                        <a:srgbClr val="B8BCC4"/>
                      </a:solidFill>
                      <a:prstDash val="solid"/>
                      <a:round/>
                      <a:headEnd type="none" w="med" len="med"/>
                      <a:tailEnd type="none" w="med" len="med"/>
                    </a:lnR>
                    <a:lnT w="6350" cap="flat" cmpd="sng" algn="ctr">
                      <a:solidFill>
                        <a:srgbClr val="B8BCC4"/>
                      </a:solidFill>
                      <a:prstDash val="solid"/>
                      <a:round/>
                      <a:headEnd type="none" w="med" len="med"/>
                      <a:tailEnd type="none" w="med" len="med"/>
                    </a:lnT>
                    <a:lnB w="6350" cap="flat" cmpd="sng" algn="ctr">
                      <a:solidFill>
                        <a:srgbClr val="B8BCC4"/>
                      </a:solidFill>
                      <a:prstDash val="solid"/>
                      <a:round/>
                      <a:headEnd type="none" w="med" len="med"/>
                      <a:tailEnd type="none" w="med" len="med"/>
                    </a:lnB>
                  </a:tcPr>
                </a:tc>
              </a:tr>
            </a:tbl>
          </a:graphicData>
        </a:graphic>
      </p:graphicFrame>
      <p:sp>
        <p:nvSpPr>
          <p:cNvPr id="23" name="Shape 19"/>
          <p:cNvSpPr/>
          <p:nvPr/>
        </p:nvSpPr>
        <p:spPr>
          <a:xfrm>
            <a:off x="6144768" y="3675888"/>
            <a:ext cx="0" cy="2148840"/>
          </a:xfrm>
          <a:prstGeom prst="line">
            <a:avLst/>
          </a:prstGeom>
          <a:noFill/>
          <a:ln w="12700">
            <a:solidFill>
              <a:srgbClr val="B8BCC4"/>
            </a:solidFill>
            <a:prstDash val="solid"/>
          </a:ln>
        </p:spPr>
      </p:sp>
      <p:sp>
        <p:nvSpPr>
          <p:cNvPr id="24" name="Text 20"/>
          <p:cNvSpPr/>
          <p:nvPr/>
        </p:nvSpPr>
        <p:spPr>
          <a:xfrm>
            <a:off x="6355080" y="3675888"/>
            <a:ext cx="5440680" cy="292608"/>
          </a:xfrm>
          <a:prstGeom prst="rect">
            <a:avLst/>
          </a:prstGeom>
          <a:noFill/>
          <a:ln/>
        </p:spPr>
        <p:txBody>
          <a:bodyPr wrap="square" rtlCol="0" anchor="ctr"/>
          <a:lstStyle/>
          <a:p>
            <a:pPr indent="0" marL="0">
              <a:buNone/>
            </a:pPr>
            <a:r>
              <a:rPr lang="en-US" sz="1300" b="1" dirty="0">
                <a:solidFill>
                  <a:srgbClr val="156082"/>
                </a:solidFill>
                <a:latin typeface="Arial" pitchFamily="34" charset="0"/>
                <a:ea typeface="Arial" pitchFamily="34" charset="-122"/>
                <a:cs typeface="Arial" pitchFamily="34" charset="-120"/>
              </a:rPr>
              <a:t>Tổng hợp điểm và thống kê</a:t>
            </a:r>
            <a:endParaRPr lang="en-US" sz="1300" dirty="0"/>
          </a:p>
        </p:txBody>
      </p:sp>
      <p:sp>
        <p:nvSpPr>
          <p:cNvPr id="25" name="Text 21"/>
          <p:cNvSpPr/>
          <p:nvPr/>
        </p:nvSpPr>
        <p:spPr>
          <a:xfrm>
            <a:off x="6355080" y="4041648"/>
            <a:ext cx="5440680" cy="1828800"/>
          </a:xfrm>
          <a:prstGeom prst="rect">
            <a:avLst/>
          </a:prstGeom>
          <a:noFill/>
          <a:ln/>
        </p:spPr>
        <p:txBody>
          <a:bodyPr wrap="square" rtlCol="0" anchor="ctr"/>
          <a:lstStyle/>
          <a:p>
            <a:pPr marL="177800" indent="-177800">
              <a:spcAft>
                <a:spcPts val="700"/>
              </a:spcAft>
              <a:buSzPct val="100000"/>
              <a:buChar char="•"/>
            </a:pPr>
            <a:r>
              <a:rPr lang="en-US" sz="1150" dirty="0">
                <a:solidFill>
                  <a:srgbClr val="000000"/>
                </a:solidFill>
                <a:latin typeface="Arial" pitchFamily="34" charset="0"/>
                <a:ea typeface="Arial" pitchFamily="34" charset="-122"/>
                <a:cs typeface="Arial" pitchFamily="34" charset="-120"/>
              </a:rPr>
              <a:t>Điểm mỗi truyện = trung bình bốn trục; điểm mỗi hệ = trung bình 25 truyện (kể cả hai đầu ra gần rỗng của E1, Gemma chấm 1).</a:t>
            </a:r>
            <a:endParaRPr lang="en-US" sz="1150" dirty="0"/>
          </a:p>
          <a:p>
            <a:pPr marL="177800" indent="-177800">
              <a:spcAft>
                <a:spcPts val="700"/>
              </a:spcAft>
              <a:buSzPct val="100000"/>
              <a:buChar char="•"/>
            </a:pPr>
            <a:r>
              <a:rPr lang="en-US" sz="1150" dirty="0">
                <a:solidFill>
                  <a:srgbClr val="000000"/>
                </a:solidFill>
                <a:latin typeface="Arial" pitchFamily="34" charset="0"/>
                <a:ea typeface="Arial" pitchFamily="34" charset="-122"/>
                <a:cs typeface="Arial" pitchFamily="34" charset="-120"/>
              </a:rPr>
              <a:t>Khoảng tin cậy 95% dùng bootstrap 10.000 lần theo 25 đề; so sánh bắt cặp lấy điểm tổng trên cùng đề (E4 − E5 = +0,76 [0,39; 1,17]).</a:t>
            </a:r>
            <a:endParaRPr lang="en-US" sz="1150" dirty="0"/>
          </a:p>
          <a:p>
            <a:pPr marL="177800" indent="-177800">
              <a:spcAft>
                <a:spcPts val="700"/>
              </a:spcAft>
              <a:buSzPct val="100000"/>
              <a:buChar char="•"/>
            </a:pPr>
            <a:r>
              <a:rPr lang="en-US" sz="1150" dirty="0">
                <a:solidFill>
                  <a:srgbClr val="000000"/>
                </a:solidFill>
                <a:latin typeface="Arial" pitchFamily="34" charset="0"/>
                <a:ea typeface="Arial" pitchFamily="34" charset="-122"/>
                <a:cs typeface="Arial" pitchFamily="34" charset="-120"/>
              </a:rPr>
              <a:t>Đây là lượt chấm mới, tách khỏi giám khảo nội bộ (Qwen của E1/E3, Gemma local của E2); điểm nội bộ không nhập vào bảng chung.</a:t>
            </a:r>
            <a:endParaRPr lang="en-US" sz="1150" dirty="0"/>
          </a:p>
        </p:txBody>
      </p:sp>
      <p:sp>
        <p:nvSpPr>
          <p:cNvPr id="26" name="Shape 22"/>
          <p:cNvSpPr/>
          <p:nvPr/>
        </p:nvSpPr>
        <p:spPr>
          <a:xfrm>
            <a:off x="402336" y="5943600"/>
            <a:ext cx="10972800" cy="457200"/>
          </a:xfrm>
          <a:prstGeom prst="roundRect">
            <a:avLst>
              <a:gd name="adj" fmla="val 10000"/>
            </a:avLst>
          </a:prstGeom>
          <a:solidFill>
            <a:srgbClr val="F4F6F9"/>
          </a:solidFill>
          <a:ln w="9525">
            <a:solidFill>
              <a:srgbClr val="B8BCC4"/>
            </a:solidFill>
            <a:prstDash val="solid"/>
          </a:ln>
        </p:spPr>
      </p:sp>
      <p:sp>
        <p:nvSpPr>
          <p:cNvPr id="27" name="Text 23"/>
          <p:cNvSpPr/>
          <p:nvPr/>
        </p:nvSpPr>
        <p:spPr>
          <a:xfrm>
            <a:off x="566928" y="5943600"/>
            <a:ext cx="10698480" cy="457200"/>
          </a:xfrm>
          <a:prstGeom prst="rect">
            <a:avLst/>
          </a:prstGeom>
          <a:noFill/>
          <a:ln/>
        </p:spPr>
        <p:txBody>
          <a:bodyPr wrap="square" rtlCol="0" anchor="ctr"/>
          <a:lstStyle/>
          <a:p>
            <a:pPr indent="0" marL="0">
              <a:buNone/>
            </a:pPr>
            <a:r>
              <a:rPr lang="en-US" sz="1050" b="1" dirty="0">
                <a:solidFill>
                  <a:srgbClr val="156082"/>
                </a:solidFill>
                <a:latin typeface="Arial" pitchFamily="34" charset="0"/>
                <a:ea typeface="Arial" pitchFamily="34" charset="-122"/>
                <a:cs typeface="Arial" pitchFamily="34" charset="-120"/>
              </a:rPr>
              <a:t>Artifact vòng chung:  </a:t>
            </a:r>
            <a:pPr indent="0" marL="0">
              <a:buNone/>
            </a:pPr>
            <a:r>
              <a:rPr lang="en-US" sz="1050" dirty="0">
                <a:solidFill>
                  <a:srgbClr val="000000"/>
                </a:solidFill>
                <a:latin typeface="Arial" pitchFamily="34" charset="0"/>
                <a:ea typeface="Arial" pitchFamily="34" charset="-122"/>
                <a:cs typeface="Arial" pitchFamily="34" charset="-120"/>
              </a:rPr>
              <a:t>E1/E5 GGUF qua llama.cpp · E2 MLX-LM · E3 Transformers/PEFT · E4 llama.cpp kèm validator/repair; chạy trên Apple M4 Pro 24 GiB.</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Kết quả định lượng trên 25 đề đánh giá thống nhất</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27</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graphicFrame>
        <p:nvGraphicFramePr>
          <p:cNvPr id="6" name="Chart 0" descr=""/>
          <p:cNvGraphicFramePr/>
          <p:nvPr/>
        </p:nvGraphicFramePr>
        <p:xfrm>
          <a:off x="402336" y="1737360"/>
          <a:ext cx="6949440" cy="438912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7680960" y="1828800"/>
            <a:ext cx="4023360" cy="548640"/>
          </a:xfrm>
          <a:prstGeom prst="rect">
            <a:avLst/>
          </a:prstGeom>
          <a:noFill/>
          <a:ln/>
        </p:spPr>
        <p:txBody>
          <a:bodyPr wrap="square" rtlCol="0" anchor="ctr"/>
          <a:lstStyle/>
          <a:p>
            <a:pPr indent="0" marL="0">
              <a:buNone/>
            </a:pPr>
            <a:r>
              <a:rPr lang="en-US" sz="3000" b="1" dirty="0">
                <a:solidFill>
                  <a:srgbClr val="3D8DFF"/>
                </a:solidFill>
                <a:latin typeface="Arial" pitchFamily="34" charset="0"/>
                <a:ea typeface="Arial" pitchFamily="34" charset="-122"/>
                <a:cs typeface="Arial" pitchFamily="34" charset="-120"/>
              </a:rPr>
              <a:t>+0,76</a:t>
            </a:r>
            <a:endParaRPr lang="en-US" sz="3000" dirty="0"/>
          </a:p>
        </p:txBody>
      </p:sp>
      <p:sp>
        <p:nvSpPr>
          <p:cNvPr id="8" name="Text 4"/>
          <p:cNvSpPr/>
          <p:nvPr/>
        </p:nvSpPr>
        <p:spPr>
          <a:xfrm>
            <a:off x="7680960" y="2359152"/>
            <a:ext cx="40233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Chênh lệch E4 − E5 (giám khảo Gemma), khoảng tin cậy [0,39; 1,17].</a:t>
            </a:r>
            <a:endParaRPr lang="en-US" sz="1350" dirty="0"/>
          </a:p>
        </p:txBody>
      </p:sp>
      <p:sp>
        <p:nvSpPr>
          <p:cNvPr id="9" name="Text 5"/>
          <p:cNvSpPr/>
          <p:nvPr/>
        </p:nvSpPr>
        <p:spPr>
          <a:xfrm>
            <a:off x="7680960" y="3063240"/>
            <a:ext cx="4023360" cy="548640"/>
          </a:xfrm>
          <a:prstGeom prst="rect">
            <a:avLst/>
          </a:prstGeom>
          <a:noFill/>
          <a:ln/>
        </p:spPr>
        <p:txBody>
          <a:bodyPr wrap="square" rtlCol="0" anchor="ctr"/>
          <a:lstStyle/>
          <a:p>
            <a:pPr indent="0" marL="0">
              <a:buNone/>
            </a:pPr>
            <a:r>
              <a:rPr lang="en-US" sz="3000" b="1" dirty="0">
                <a:solidFill>
                  <a:srgbClr val="515761"/>
                </a:solidFill>
                <a:latin typeface="Arial" pitchFamily="34" charset="0"/>
                <a:ea typeface="Arial" pitchFamily="34" charset="-122"/>
                <a:cs typeface="Arial" pitchFamily="34" charset="-120"/>
              </a:rPr>
              <a:t>25 đề · 125 truyện</a:t>
            </a:r>
            <a:endParaRPr lang="en-US" sz="3000" dirty="0"/>
          </a:p>
        </p:txBody>
      </p:sp>
      <p:sp>
        <p:nvSpPr>
          <p:cNvPr id="10" name="Text 6"/>
          <p:cNvSpPr/>
          <p:nvPr/>
        </p:nvSpPr>
        <p:spPr>
          <a:xfrm>
            <a:off x="7680960" y="3593592"/>
            <a:ext cx="4023360" cy="640080"/>
          </a:xfrm>
          <a:prstGeom prst="rect">
            <a:avLst/>
          </a:prstGeom>
          <a:noFill/>
          <a:ln/>
        </p:spPr>
        <p:txBody>
          <a:bodyPr wrap="square" rtlCol="0" anchor="ctr"/>
          <a:lstStyle/>
          <a:p>
            <a:pPr indent="0" marL="0">
              <a:lnSpc>
                <a:spcPct val="98000"/>
              </a:lnSpc>
              <a:buNone/>
            </a:pPr>
            <a:r>
              <a:rPr lang="en-US" sz="1350" dirty="0">
                <a:solidFill>
                  <a:srgbClr val="515761"/>
                </a:solidFill>
                <a:latin typeface="Arial" pitchFamily="34" charset="0"/>
                <a:ea typeface="Arial" pitchFamily="34" charset="-122"/>
                <a:cs typeface="Arial" pitchFamily="34" charset="-120"/>
              </a:rPr>
              <a:t>Sinh lại đầu ra hệ thống đại diện, chấm mù 125 lượt bằng cùng một giám khảo.</a:t>
            </a:r>
            <a:endParaRPr lang="en-US" sz="1350" dirty="0"/>
          </a:p>
        </p:txBody>
      </p:sp>
      <p:sp>
        <p:nvSpPr>
          <p:cNvPr id="11" name="Text 7"/>
          <p:cNvSpPr/>
          <p:nvPr/>
        </p:nvSpPr>
        <p:spPr>
          <a:xfrm>
            <a:off x="7680960" y="4434840"/>
            <a:ext cx="4023360" cy="1828800"/>
          </a:xfrm>
          <a:prstGeom prst="rect">
            <a:avLst/>
          </a:prstGeom>
          <a:noFill/>
          <a:ln/>
        </p:spPr>
        <p:txBody>
          <a:bodyPr wrap="square" rtlCol="0" anchor="ctr"/>
          <a:lstStyle/>
          <a:p>
            <a:pPr indent="0" marL="0">
              <a:lnSpc>
                <a:spcPct val="105000"/>
              </a:lnSpc>
              <a:buNone/>
            </a:pPr>
            <a:r>
              <a:rPr lang="en-US" sz="1250" dirty="0">
                <a:solidFill>
                  <a:srgbClr val="000000"/>
                </a:solidFill>
                <a:latin typeface="Arial" pitchFamily="34" charset="0"/>
                <a:ea typeface="Arial" pitchFamily="34" charset="-122"/>
                <a:cs typeface="Arial" pitchFamily="34" charset="-120"/>
              </a:rPr>
              <a:t>Trung bình của E4 phản ánh cả mô hình 3B lẫn chi phí hệ thống (kiểm tra, viết lại, chuẩn hóa). Chênh lệch điểm giữa các hướng không thể quy trực tiếp cho số tham số, vì năm hướng còn khác nhau về dữ liệu, giao diện điều kiện và hậu xử lý. Cùng một seed và một giám khảo — chưa phải thang điểm tuyệt đối.</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02336" y="274320"/>
            <a:ext cx="7315200" cy="274320"/>
          </a:xfrm>
          <a:prstGeom prst="rect">
            <a:avLst/>
          </a:prstGeom>
          <a:noFill/>
          <a:ln/>
        </p:spPr>
        <p:txBody>
          <a:bodyPr wrap="square" rtlCol="0" anchor="ctr"/>
          <a:lstStyle/>
          <a:p>
            <a:pPr indent="0" marL="0">
              <a:buNone/>
            </a:pPr>
            <a:r>
              <a:rPr lang="en-US" sz="1150" spc="100" kern="0" dirty="0">
                <a:solidFill>
                  <a:srgbClr val="515761"/>
                </a:solidFill>
                <a:latin typeface="Arial" pitchFamily="34" charset="0"/>
                <a:ea typeface="Arial" pitchFamily="34" charset="-122"/>
                <a:cs typeface="Arial" pitchFamily="34" charset="-120"/>
              </a:rPr>
              <a:t>TINYSTORY-VN · NHÓM 16 · IT5410</a:t>
            </a:r>
            <a:endParaRPr lang="en-US" sz="1150" dirty="0"/>
          </a:p>
        </p:txBody>
      </p:sp>
      <p:sp>
        <p:nvSpPr>
          <p:cNvPr id="3" name="Text 1"/>
          <p:cNvSpPr/>
          <p:nvPr/>
        </p:nvSpPr>
        <p:spPr>
          <a:xfrm>
            <a:off x="402336" y="566928"/>
            <a:ext cx="9784080" cy="868680"/>
          </a:xfrm>
          <a:prstGeom prst="rect">
            <a:avLst/>
          </a:prstGeom>
          <a:noFill/>
          <a:ln/>
        </p:spPr>
        <p:txBody>
          <a:bodyPr wrap="square" rtlCol="0" anchor="ctr"/>
          <a:lstStyle/>
          <a:p>
            <a:pPr indent="0" marL="0">
              <a:lnSpc>
                <a:spcPct val="98000"/>
              </a:lnSpc>
              <a:buNone/>
            </a:pPr>
            <a:r>
              <a:rPr lang="en-US" sz="2500" b="1" dirty="0">
                <a:solidFill>
                  <a:srgbClr val="000000"/>
                </a:solidFill>
                <a:latin typeface="Arial" pitchFamily="34" charset="0"/>
                <a:ea typeface="Arial" pitchFamily="34" charset="-122"/>
                <a:cs typeface="Arial" pitchFamily="34" charset="-120"/>
              </a:rPr>
              <a:t>Ba lớp bằng chứng không thể thay thế lẫn nhau</a:t>
            </a:r>
            <a:endParaRPr lang="en-US" sz="2500" dirty="0"/>
          </a:p>
        </p:txBody>
      </p:sp>
      <p:sp>
        <p:nvSpPr>
          <p:cNvPr id="4" name="Text 2"/>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28</a:t>
            </a:r>
            <a:endParaRPr lang="en-US" sz="1050" dirty="0"/>
          </a:p>
        </p:txBody>
      </p:sp>
      <p:pic>
        <p:nvPicPr>
          <p:cNvPr id="5" name="Image 0" descr="/Users/trieulh/Documents/Master/20252B_IT5410/Final/output/presentation/assets/hust-logo.png">    </p:cNvPr>
          <p:cNvPicPr>
            <a:picLocks noChangeAspect="1"/>
          </p:cNvPicPr>
          <p:nvPr/>
        </p:nvPicPr>
        <p:blipFill>
          <a:blip r:embed="rId1"/>
          <a:srcRect l="0" r="0" t="0" b="0"/>
          <a:stretch/>
        </p:blipFill>
        <p:spPr>
          <a:xfrm>
            <a:off x="10744200" y="237744"/>
            <a:ext cx="1143000" cy="484632"/>
          </a:xfrm>
          <a:prstGeom prst="rect">
            <a:avLst/>
          </a:prstGeom>
        </p:spPr>
      </p:pic>
      <p:sp>
        <p:nvSpPr>
          <p:cNvPr id="6" name="Shape 3"/>
          <p:cNvSpPr/>
          <p:nvPr/>
        </p:nvSpPr>
        <p:spPr>
          <a:xfrm>
            <a:off x="402336" y="1737360"/>
            <a:ext cx="3611880" cy="3566160"/>
          </a:xfrm>
          <a:prstGeom prst="roundRect">
            <a:avLst>
              <a:gd name="adj" fmla="val 2051"/>
            </a:avLst>
          </a:prstGeom>
          <a:solidFill>
            <a:srgbClr val="F4F6F9"/>
          </a:solidFill>
          <a:ln w="12700">
            <a:solidFill>
              <a:srgbClr val="B8BCC4"/>
            </a:solidFill>
            <a:prstDash val="solid"/>
          </a:ln>
        </p:spPr>
      </p:sp>
      <p:sp>
        <p:nvSpPr>
          <p:cNvPr id="7" name="Text 4"/>
          <p:cNvSpPr/>
          <p:nvPr/>
        </p:nvSpPr>
        <p:spPr>
          <a:xfrm>
            <a:off x="630936" y="1965960"/>
            <a:ext cx="3200400" cy="365760"/>
          </a:xfrm>
          <a:prstGeom prst="rect">
            <a:avLst/>
          </a:prstGeom>
          <a:noFill/>
          <a:ln/>
        </p:spPr>
        <p:txBody>
          <a:bodyPr wrap="square" rtlCol="0" anchor="ctr"/>
          <a:lstStyle/>
          <a:p>
            <a:pPr indent="0" marL="0">
              <a:buNone/>
            </a:pPr>
            <a:r>
              <a:rPr lang="en-US" sz="1600" b="1" dirty="0">
                <a:solidFill>
                  <a:srgbClr val="3D8DFF"/>
                </a:solidFill>
                <a:latin typeface="Arial" pitchFamily="34" charset="0"/>
                <a:ea typeface="Arial" pitchFamily="34" charset="-122"/>
                <a:cs typeface="Arial" pitchFamily="34" charset="-120"/>
              </a:rPr>
              <a:t>Độ giống dữ liệu</a:t>
            </a:r>
            <a:endParaRPr lang="en-US" sz="1600" dirty="0"/>
          </a:p>
        </p:txBody>
      </p:sp>
      <p:sp>
        <p:nvSpPr>
          <p:cNvPr id="8" name="Text 5"/>
          <p:cNvSpPr/>
          <p:nvPr/>
        </p:nvSpPr>
        <p:spPr>
          <a:xfrm>
            <a:off x="630936" y="2377440"/>
            <a:ext cx="3200400" cy="320040"/>
          </a:xfrm>
          <a:prstGeom prst="rect">
            <a:avLst/>
          </a:prstGeom>
          <a:noFill/>
          <a:ln/>
        </p:spPr>
        <p:txBody>
          <a:bodyPr wrap="square" rtlCol="0" anchor="ctr"/>
          <a:lstStyle/>
          <a:p>
            <a:pPr indent="0" marL="0">
              <a:buNone/>
            </a:pPr>
            <a:r>
              <a:rPr lang="en-US" sz="1150" i="1" dirty="0">
                <a:solidFill>
                  <a:srgbClr val="515761"/>
                </a:solidFill>
                <a:latin typeface="Arial" pitchFamily="34" charset="0"/>
                <a:ea typeface="Arial" pitchFamily="34" charset="-122"/>
                <a:cs typeface="Arial" pitchFamily="34" charset="-120"/>
              </a:rPr>
              <a:t>Loss · PPL · fluency</a:t>
            </a:r>
            <a:endParaRPr lang="en-US" sz="1150" dirty="0"/>
          </a:p>
        </p:txBody>
      </p:sp>
      <p:sp>
        <p:nvSpPr>
          <p:cNvPr id="9" name="Text 6"/>
          <p:cNvSpPr/>
          <p:nvPr/>
        </p:nvSpPr>
        <p:spPr>
          <a:xfrm>
            <a:off x="630936" y="2788920"/>
            <a:ext cx="3200400" cy="2377440"/>
          </a:xfrm>
          <a:prstGeom prst="rect">
            <a:avLst/>
          </a:prstGeom>
          <a:noFill/>
          <a:ln/>
        </p:spPr>
        <p:txBody>
          <a:bodyPr wrap="square" rtlCol="0" anchor="ctr"/>
          <a:lstStyle/>
          <a:p>
            <a:pPr indent="0" marL="0">
              <a:lnSpc>
                <a:spcPct val="106000"/>
              </a:lnSpc>
              <a:buNone/>
            </a:pPr>
            <a:r>
              <a:rPr lang="en-US" sz="1250" dirty="0">
                <a:solidFill>
                  <a:srgbClr val="000000"/>
                </a:solidFill>
                <a:latin typeface="Arial" pitchFamily="34" charset="0"/>
                <a:ea typeface="Arial" pitchFamily="34" charset="-122"/>
                <a:cs typeface="Arial" pitchFamily="34" charset="-120"/>
              </a:rPr>
              <a:t>E1, E2 và E3 đều cải thiện nội bộ nhưng vẫn có thể không bám yêu cầu khi chuyển sang giao diện chung.</a:t>
            </a:r>
            <a:endParaRPr lang="en-US" sz="1250" dirty="0"/>
          </a:p>
        </p:txBody>
      </p:sp>
      <p:sp>
        <p:nvSpPr>
          <p:cNvPr id="10" name="Shape 7"/>
          <p:cNvSpPr/>
          <p:nvPr/>
        </p:nvSpPr>
        <p:spPr>
          <a:xfrm>
            <a:off x="4288536" y="1737360"/>
            <a:ext cx="3611880" cy="3566160"/>
          </a:xfrm>
          <a:prstGeom prst="roundRect">
            <a:avLst>
              <a:gd name="adj" fmla="val 2051"/>
            </a:avLst>
          </a:prstGeom>
          <a:solidFill>
            <a:srgbClr val="F4F6F9"/>
          </a:solidFill>
          <a:ln w="12700">
            <a:solidFill>
              <a:srgbClr val="B8BCC4"/>
            </a:solidFill>
            <a:prstDash val="solid"/>
          </a:ln>
        </p:spPr>
      </p:sp>
      <p:sp>
        <p:nvSpPr>
          <p:cNvPr id="11" name="Text 8"/>
          <p:cNvSpPr/>
          <p:nvPr/>
        </p:nvSpPr>
        <p:spPr>
          <a:xfrm>
            <a:off x="4517136" y="1965960"/>
            <a:ext cx="3200400" cy="365760"/>
          </a:xfrm>
          <a:prstGeom prst="rect">
            <a:avLst/>
          </a:prstGeom>
          <a:noFill/>
          <a:ln/>
        </p:spPr>
        <p:txBody>
          <a:bodyPr wrap="square" rtlCol="0" anchor="ctr"/>
          <a:lstStyle/>
          <a:p>
            <a:pPr indent="0" marL="0">
              <a:buNone/>
            </a:pPr>
            <a:r>
              <a:rPr lang="en-US" sz="1600" b="1" dirty="0">
                <a:solidFill>
                  <a:srgbClr val="3D8DFF"/>
                </a:solidFill>
                <a:latin typeface="Arial" pitchFamily="34" charset="0"/>
                <a:ea typeface="Arial" pitchFamily="34" charset="-122"/>
                <a:cs typeface="Arial" pitchFamily="34" charset="-120"/>
              </a:rPr>
              <a:t>Mức độ dùng điều kiện</a:t>
            </a:r>
            <a:endParaRPr lang="en-US" sz="1600" dirty="0"/>
          </a:p>
        </p:txBody>
      </p:sp>
      <p:sp>
        <p:nvSpPr>
          <p:cNvPr id="12" name="Text 9"/>
          <p:cNvSpPr/>
          <p:nvPr/>
        </p:nvSpPr>
        <p:spPr>
          <a:xfrm>
            <a:off x="4517136" y="2377440"/>
            <a:ext cx="3200400" cy="320040"/>
          </a:xfrm>
          <a:prstGeom prst="rect">
            <a:avLst/>
          </a:prstGeom>
          <a:noFill/>
          <a:ln/>
        </p:spPr>
        <p:txBody>
          <a:bodyPr wrap="square" rtlCol="0" anchor="ctr"/>
          <a:lstStyle/>
          <a:p>
            <a:pPr indent="0" marL="0">
              <a:buNone/>
            </a:pPr>
            <a:r>
              <a:rPr lang="en-US" sz="1150" i="1" dirty="0">
                <a:solidFill>
                  <a:srgbClr val="515761"/>
                </a:solidFill>
                <a:latin typeface="Arial" pitchFamily="34" charset="0"/>
                <a:ea typeface="Arial" pitchFamily="34" charset="-122"/>
                <a:cs typeface="Arial" pitchFamily="34" charset="-120"/>
              </a:rPr>
              <a:t>Coverage · chuỗi nhân quả · counterfactual</a:t>
            </a:r>
            <a:endParaRPr lang="en-US" sz="1150" dirty="0"/>
          </a:p>
        </p:txBody>
      </p:sp>
      <p:sp>
        <p:nvSpPr>
          <p:cNvPr id="13" name="Text 10"/>
          <p:cNvSpPr/>
          <p:nvPr/>
        </p:nvSpPr>
        <p:spPr>
          <a:xfrm>
            <a:off x="4517136" y="2788920"/>
            <a:ext cx="3200400" cy="2377440"/>
          </a:xfrm>
          <a:prstGeom prst="rect">
            <a:avLst/>
          </a:prstGeom>
          <a:noFill/>
          <a:ln/>
        </p:spPr>
        <p:txBody>
          <a:bodyPr wrap="square" rtlCol="0" anchor="ctr"/>
          <a:lstStyle/>
          <a:p>
            <a:pPr indent="0" marL="0">
              <a:lnSpc>
                <a:spcPct val="106000"/>
              </a:lnSpc>
              <a:buNone/>
            </a:pPr>
            <a:r>
              <a:rPr lang="en-US" sz="1250" dirty="0">
                <a:solidFill>
                  <a:srgbClr val="000000"/>
                </a:solidFill>
                <a:latin typeface="Arial" pitchFamily="34" charset="0"/>
                <a:ea typeface="Arial" pitchFamily="34" charset="-122"/>
                <a:cs typeface="Arial" pitchFamily="34" charset="-120"/>
              </a:rPr>
              <a:t>E5 đổi diễn biến đúng hướng; E2 nhận biết quan hệ truyện–bài học nhưng khi sinh vẫn chưa tự lập kế hoạch.</a:t>
            </a:r>
            <a:endParaRPr lang="en-US" sz="1250" dirty="0"/>
          </a:p>
        </p:txBody>
      </p:sp>
      <p:sp>
        <p:nvSpPr>
          <p:cNvPr id="14" name="Shape 11"/>
          <p:cNvSpPr/>
          <p:nvPr/>
        </p:nvSpPr>
        <p:spPr>
          <a:xfrm>
            <a:off x="8174736" y="1737360"/>
            <a:ext cx="3611880" cy="3566160"/>
          </a:xfrm>
          <a:prstGeom prst="roundRect">
            <a:avLst>
              <a:gd name="adj" fmla="val 2051"/>
            </a:avLst>
          </a:prstGeom>
          <a:solidFill>
            <a:srgbClr val="F4F6F9"/>
          </a:solidFill>
          <a:ln w="12700">
            <a:solidFill>
              <a:srgbClr val="B8BCC4"/>
            </a:solidFill>
            <a:prstDash val="solid"/>
          </a:ln>
        </p:spPr>
      </p:sp>
      <p:sp>
        <p:nvSpPr>
          <p:cNvPr id="15" name="Text 12"/>
          <p:cNvSpPr/>
          <p:nvPr/>
        </p:nvSpPr>
        <p:spPr>
          <a:xfrm>
            <a:off x="8403336" y="1965960"/>
            <a:ext cx="3200400" cy="365760"/>
          </a:xfrm>
          <a:prstGeom prst="rect">
            <a:avLst/>
          </a:prstGeom>
          <a:noFill/>
          <a:ln/>
        </p:spPr>
        <p:txBody>
          <a:bodyPr wrap="square" rtlCol="0" anchor="ctr"/>
          <a:lstStyle/>
          <a:p>
            <a:pPr indent="0" marL="0">
              <a:buNone/>
            </a:pPr>
            <a:r>
              <a:rPr lang="en-US" sz="1600" b="1" dirty="0">
                <a:solidFill>
                  <a:srgbClr val="3D8DFF"/>
                </a:solidFill>
                <a:latin typeface="Arial" pitchFamily="34" charset="0"/>
                <a:ea typeface="Arial" pitchFamily="34" charset="-122"/>
                <a:cs typeface="Arial" pitchFamily="34" charset="-120"/>
              </a:rPr>
              <a:t>Độ tin cậy pipeline</a:t>
            </a:r>
            <a:endParaRPr lang="en-US" sz="1600" dirty="0"/>
          </a:p>
        </p:txBody>
      </p:sp>
      <p:sp>
        <p:nvSpPr>
          <p:cNvPr id="16" name="Text 13"/>
          <p:cNvSpPr/>
          <p:nvPr/>
        </p:nvSpPr>
        <p:spPr>
          <a:xfrm>
            <a:off x="8403336" y="2377440"/>
            <a:ext cx="3200400" cy="320040"/>
          </a:xfrm>
          <a:prstGeom prst="rect">
            <a:avLst/>
          </a:prstGeom>
          <a:noFill/>
          <a:ln/>
        </p:spPr>
        <p:txBody>
          <a:bodyPr wrap="square" rtlCol="0" anchor="ctr"/>
          <a:lstStyle/>
          <a:p>
            <a:pPr indent="0" marL="0">
              <a:buNone/>
            </a:pPr>
            <a:r>
              <a:rPr lang="en-US" sz="1150" i="1" dirty="0">
                <a:solidFill>
                  <a:srgbClr val="515761"/>
                </a:solidFill>
                <a:latin typeface="Arial" pitchFamily="34" charset="0"/>
                <a:ea typeface="Arial" pitchFamily="34" charset="-122"/>
                <a:cs typeface="Arial" pitchFamily="34" charset="-120"/>
              </a:rPr>
              <a:t>Validator · postprocess · repair</a:t>
            </a:r>
            <a:endParaRPr lang="en-US" sz="1150" dirty="0"/>
          </a:p>
        </p:txBody>
      </p:sp>
      <p:sp>
        <p:nvSpPr>
          <p:cNvPr id="17" name="Text 14"/>
          <p:cNvSpPr/>
          <p:nvPr/>
        </p:nvSpPr>
        <p:spPr>
          <a:xfrm>
            <a:off x="8403336" y="2788920"/>
            <a:ext cx="3200400" cy="2377440"/>
          </a:xfrm>
          <a:prstGeom prst="rect">
            <a:avLst/>
          </a:prstGeom>
          <a:noFill/>
          <a:ln/>
        </p:spPr>
        <p:txBody>
          <a:bodyPr wrap="square" rtlCol="0" anchor="ctr"/>
          <a:lstStyle/>
          <a:p>
            <a:pPr indent="0" marL="0">
              <a:lnSpc>
                <a:spcPct val="106000"/>
              </a:lnSpc>
              <a:buNone/>
            </a:pPr>
            <a:r>
              <a:rPr lang="en-US" sz="1250" dirty="0">
                <a:solidFill>
                  <a:srgbClr val="000000"/>
                </a:solidFill>
                <a:latin typeface="Arial" pitchFamily="34" charset="0"/>
                <a:ea typeface="Arial" pitchFamily="34" charset="-122"/>
                <a:cs typeface="Arial" pitchFamily="34" charset="-120"/>
              </a:rPr>
              <a:t>E4 sửa định dạng và lỗi cục bộ; repair không tự tạo ra quan hệ nhân quả trong truyện.</a:t>
            </a:r>
            <a:endParaRPr lang="en-US" sz="1250" dirty="0"/>
          </a:p>
        </p:txBody>
      </p:sp>
      <p:sp>
        <p:nvSpPr>
          <p:cNvPr id="18" name="Text 15"/>
          <p:cNvSpPr/>
          <p:nvPr/>
        </p:nvSpPr>
        <p:spPr>
          <a:xfrm>
            <a:off x="402336" y="5532120"/>
            <a:ext cx="11338560" cy="548640"/>
          </a:xfrm>
          <a:prstGeom prst="rect">
            <a:avLst/>
          </a:prstGeom>
          <a:noFill/>
          <a:ln/>
        </p:spPr>
        <p:txBody>
          <a:bodyPr wrap="square" rtlCol="0" anchor="ctr"/>
          <a:lstStyle/>
          <a:p>
            <a:pPr algn="ctr" indent="0" marL="0">
              <a:buNone/>
            </a:pPr>
            <a:r>
              <a:rPr lang="en-US" sz="1400" i="1" dirty="0">
                <a:solidFill>
                  <a:srgbClr val="515761"/>
                </a:solidFill>
                <a:latin typeface="Arial" pitchFamily="34" charset="0"/>
                <a:ea typeface="Arial" pitchFamily="34" charset="-122"/>
                <a:cs typeface="Arial" pitchFamily="34" charset="-120"/>
              </a:rPr>
              <a:t>Điểm overall chỉ có ý nghĩa khi ba lớp được báo cáo và diễn giải riêng; một con số duy nhất che mất ba loại năng lực khác nhau.</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5486400" cy="365760"/>
          </a:xfrm>
          <a:prstGeom prst="rect">
            <a:avLst/>
          </a:prstGeom>
          <a:noFill/>
          <a:ln/>
        </p:spPr>
        <p:txBody>
          <a:bodyPr wrap="square" rtlCol="0" anchor="ctr"/>
          <a:lstStyle/>
          <a:p>
            <a:pPr indent="0" marL="0">
              <a:buNone/>
            </a:pPr>
            <a:r>
              <a:rPr lang="en-US" sz="1500" spc="100" kern="0" dirty="0">
                <a:solidFill>
                  <a:srgbClr val="515761"/>
                </a:solidFill>
                <a:latin typeface="Arial" pitchFamily="34" charset="0"/>
                <a:ea typeface="Arial" pitchFamily="34" charset="-122"/>
                <a:cs typeface="Arial" pitchFamily="34" charset="-120"/>
              </a:rPr>
              <a:t>KẾT LUẬN</a:t>
            </a:r>
            <a:endParaRPr lang="en-US" sz="1500" dirty="0"/>
          </a:p>
        </p:txBody>
      </p:sp>
      <p:pic>
        <p:nvPicPr>
          <p:cNvPr id="3" name="Image 0" descr="/Users/trieulh/Documents/Master/20252B_IT5410/Final/output/presentation/assets/hust-logo.png">    </p:cNvPr>
          <p:cNvPicPr>
            <a:picLocks noChangeAspect="1"/>
          </p:cNvPicPr>
          <p:nvPr/>
        </p:nvPicPr>
        <p:blipFill>
          <a:blip r:embed="rId1"/>
          <a:srcRect l="0" r="0" t="0" b="0"/>
          <a:stretch/>
        </p:blipFill>
        <p:spPr>
          <a:xfrm>
            <a:off x="10058400" y="548640"/>
            <a:ext cx="1645920" cy="694944"/>
          </a:xfrm>
          <a:prstGeom prst="rect">
            <a:avLst/>
          </a:prstGeom>
        </p:spPr>
      </p:pic>
      <p:sp>
        <p:nvSpPr>
          <p:cNvPr id="4" name="Text 1"/>
          <p:cNvSpPr/>
          <p:nvPr/>
        </p:nvSpPr>
        <p:spPr>
          <a:xfrm>
            <a:off x="640080" y="1737360"/>
            <a:ext cx="10789920" cy="1554480"/>
          </a:xfrm>
          <a:prstGeom prst="rect">
            <a:avLst/>
          </a:prstGeom>
          <a:noFill/>
          <a:ln/>
        </p:spPr>
        <p:txBody>
          <a:bodyPr wrap="square" rtlCol="0" anchor="ctr"/>
          <a:lstStyle/>
          <a:p>
            <a:pPr indent="0" marL="0">
              <a:lnSpc>
                <a:spcPct val="102000"/>
              </a:lnSpc>
              <a:buNone/>
            </a:pPr>
            <a:r>
              <a:rPr lang="en-US" sz="4200" b="1" dirty="0">
                <a:solidFill>
                  <a:srgbClr val="000000"/>
                </a:solidFill>
                <a:latin typeface="Arial" pitchFamily="34" charset="0"/>
                <a:ea typeface="Arial" pitchFamily="34" charset="-122"/>
                <a:cs typeface="Arial" pitchFamily="34" charset="-120"/>
              </a:rPr>
              <a:t>Điều kiện phải chi phối diễn biến,</a:t>
            </a:r>
            <a:endParaRPr lang="en-US" sz="4200" dirty="0"/>
          </a:p>
          <a:p>
            <a:pPr indent="0" marL="0">
              <a:lnSpc>
                <a:spcPct val="102000"/>
              </a:lnSpc>
              <a:buNone/>
            </a:pPr>
            <a:r>
              <a:rPr lang="en-US" sz="4200" b="1" dirty="0">
                <a:solidFill>
                  <a:srgbClr val="000000"/>
                </a:solidFill>
                <a:latin typeface="Arial" pitchFamily="34" charset="0"/>
                <a:ea typeface="Arial" pitchFamily="34" charset="-122"/>
                <a:cs typeface="Arial" pitchFamily="34" charset="-120"/>
              </a:rPr>
              <a:t>không chỉ xuất hiện trong truyện.</a:t>
            </a:r>
            <a:endParaRPr lang="en-US" sz="4200" dirty="0"/>
          </a:p>
        </p:txBody>
      </p:sp>
      <p:sp>
        <p:nvSpPr>
          <p:cNvPr id="5" name="Text 2"/>
          <p:cNvSpPr/>
          <p:nvPr/>
        </p:nvSpPr>
        <p:spPr>
          <a:xfrm>
            <a:off x="640080" y="3657600"/>
            <a:ext cx="10881360" cy="2103120"/>
          </a:xfrm>
          <a:prstGeom prst="rect">
            <a:avLst/>
          </a:prstGeom>
          <a:noFill/>
          <a:ln/>
        </p:spPr>
        <p:txBody>
          <a:bodyPr wrap="square" rtlCol="0" anchor="ctr"/>
          <a:lstStyle/>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Đóng góp chính không nằm ở nhận định "mô hình lớn điểm cao hơn", mà ở việc phân biệt ba mức tuân thủ: nhắc lại trường, tổ chức diễn biến theo toàn bộ điều kiện, và thay đổi diễn biến đúng hướng khi can thiệp một điều kiện.</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E4 là hệ thống đáng tin cậy nhất khi nội dung gốc đã đúng ngữ nghĩa; E5 là mô hình sinh trực tiếp mạnh nhất về khả năng kết hợp điều kiện trong một lượt.</a:t>
            </a:r>
            <a:endParaRPr lang="en-US" sz="1450" dirty="0"/>
          </a:p>
          <a:p>
            <a:pPr marL="177800" indent="-177800">
              <a:spcAft>
                <a:spcPts val="700"/>
              </a:spcAft>
              <a:buSzPct val="100000"/>
              <a:buChar char="•"/>
            </a:pPr>
            <a:r>
              <a:rPr lang="en-US" sz="1450" dirty="0">
                <a:solidFill>
                  <a:srgbClr val="000000"/>
                </a:solidFill>
                <a:latin typeface="Arial" pitchFamily="34" charset="0"/>
                <a:ea typeface="Arial" pitchFamily="34" charset="-122"/>
                <a:cs typeface="Arial" pitchFamily="34" charset="-120"/>
              </a:rPr>
              <a:t>Hai kết quả dẫn tới hai ưu tiên thiết kế khác nhau: cải thiện mô hình/dữ liệu/mục tiêu điều kiện hóa khi diễn biến chưa bị điều kiện chi phối; dùng lớp repair khi diễn biến đã đúng nhưng định dạng chưa ổn định.</a:t>
            </a:r>
            <a:endParaRPr lang="en-US" sz="1450" dirty="0"/>
          </a:p>
        </p:txBody>
      </p:sp>
      <p:sp>
        <p:nvSpPr>
          <p:cNvPr id="6" name="Text 3"/>
          <p:cNvSpPr/>
          <p:nvPr/>
        </p:nvSpPr>
        <p:spPr>
          <a:xfrm>
            <a:off x="640080" y="5943600"/>
            <a:ext cx="10881360" cy="548640"/>
          </a:xfrm>
          <a:prstGeom prst="rect">
            <a:avLst/>
          </a:prstGeom>
          <a:noFill/>
          <a:ln/>
        </p:spPr>
        <p:txBody>
          <a:bodyPr wrap="square" rtlCol="0" anchor="ctr"/>
          <a:lstStyle/>
          <a:p>
            <a:pPr indent="0" marL="0">
              <a:buNone/>
            </a:pPr>
            <a:r>
              <a:rPr lang="en-US" sz="1250" i="1" dirty="0">
                <a:solidFill>
                  <a:srgbClr val="515761"/>
                </a:solidFill>
                <a:latin typeface="Arial" pitchFamily="34" charset="0"/>
                <a:ea typeface="Arial" pitchFamily="34" charset="-122"/>
                <a:cs typeface="Arial" pitchFamily="34" charset="-120"/>
              </a:rPr>
              <a:t>Hạn chế: 25 đề, một seed, một giám khảo. Bước tiếp theo: chấm nhân lực chung, nhiều seed, định dạng prompt thống nhất và thí nghiệm loại trừ base–checkpoint bắt cặp.</a:t>
            </a:r>
            <a:endParaRPr lang="en-US" sz="1250" dirty="0"/>
          </a:p>
        </p:txBody>
      </p:sp>
      <p:sp>
        <p:nvSpPr>
          <p:cNvPr id="7" name="Text 4"/>
          <p:cNvSpPr/>
          <p:nvPr/>
        </p:nvSpPr>
        <p:spPr>
          <a:xfrm>
            <a:off x="11430000" y="6355080"/>
            <a:ext cx="457200" cy="274320"/>
          </a:xfrm>
          <a:prstGeom prst="rect">
            <a:avLst/>
          </a:prstGeom>
          <a:noFill/>
          <a:ln/>
        </p:spPr>
        <p:txBody>
          <a:bodyPr wrap="square" rtlCol="0" anchor="ctr"/>
          <a:lstStyle/>
          <a:p>
            <a:pPr algn="r" indent="0" marL="0">
              <a:buNone/>
            </a:pPr>
            <a:r>
              <a:rPr lang="en-US" sz="1050" dirty="0">
                <a:solidFill>
                  <a:srgbClr val="515761"/>
                </a:solidFill>
                <a:latin typeface="Arial" pitchFamily="34" charset="0"/>
                <a:ea typeface="Arial" pitchFamily="34" charset="-122"/>
                <a:cs typeface="Arial" pitchFamily="34" charset="-120"/>
              </a:rPr>
              <a:t>29</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2026-08-04T15:05:38Z</dcterms:created>
  <dcterms:modified xsi:type="dcterms:W3CDTF">2026-08-04T15:05:38Z</dcterms:modified>
</cp:coreProperties>
</file>