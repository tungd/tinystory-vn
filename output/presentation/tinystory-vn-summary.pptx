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8ba9f129434b36" /><Relationship Type="http://schemas.openxmlformats.org/officeDocument/2006/relationships/extended-properties" Target="/docProps/app.xml" Id="R49186df634ef4b65" /><Relationship Type="http://schemas.openxmlformats.org/officeDocument/2006/relationships/officeDocument" Target="/ppt/presentation.xml" Id="Rccc56009e79b4a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c2f64bff4e41a0"/>
  </p:sldMasterIdLst>
  <p:notesMasterIdLst>
    <p:notesMasterId xmlns:r="http://schemas.openxmlformats.org/officeDocument/2006/relationships" r:id="R87c7afac290c48a5"/>
  </p:notesMasterIdLst>
  <p:sldIdLst>
    <p:sldId xmlns:r="http://schemas.openxmlformats.org/officeDocument/2006/relationships" id="256" r:id="R1091243e3b8a4eec"/>
    <p:sldId xmlns:r="http://schemas.openxmlformats.org/officeDocument/2006/relationships" id="257" r:id="Ra512f78fa3014ed7"/>
    <p:sldId xmlns:r="http://schemas.openxmlformats.org/officeDocument/2006/relationships" id="258" r:id="R9ebdc0076fe84672"/>
    <p:sldId xmlns:r="http://schemas.openxmlformats.org/officeDocument/2006/relationships" id="259" r:id="R5ca43ab8e7c1422e"/>
    <p:sldId xmlns:r="http://schemas.openxmlformats.org/officeDocument/2006/relationships" id="260" r:id="Re3dc61d897244b62"/>
    <p:sldId xmlns:r="http://schemas.openxmlformats.org/officeDocument/2006/relationships" id="261" r:id="Rbc4d162bfc1047b1"/>
    <p:sldId xmlns:r="http://schemas.openxmlformats.org/officeDocument/2006/relationships" id="262" r:id="R52314b38177d4c2c"/>
    <p:sldId xmlns:r="http://schemas.openxmlformats.org/officeDocument/2006/relationships" id="263" r:id="R9a33c883da6a4f8e"/>
    <p:sldId xmlns:r="http://schemas.openxmlformats.org/officeDocument/2006/relationships" id="264" r:id="Rbe194d738f544256"/>
    <p:sldId xmlns:r="http://schemas.openxmlformats.org/officeDocument/2006/relationships" id="265" r:id="R2d3c632a8dea4e00"/>
    <p:sldId xmlns:r="http://schemas.openxmlformats.org/officeDocument/2006/relationships" id="266" r:id="R228bf84cea4f4127"/>
    <p:sldId xmlns:r="http://schemas.openxmlformats.org/officeDocument/2006/relationships" id="267" r:id="R383ff6809e2b4ccf"/>
    <p:sldId xmlns:r="http://schemas.openxmlformats.org/officeDocument/2006/relationships" id="268" r:id="Rb78defdde08845c9"/>
    <p:sldId xmlns:r="http://schemas.openxmlformats.org/officeDocument/2006/relationships" id="269" r:id="R05e05006af7948b0"/>
    <p:sldId xmlns:r="http://schemas.openxmlformats.org/officeDocument/2006/relationships" id="270" r:id="R743107a5e07749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2a2eca249645a1" /><Relationship Type="http://schemas.openxmlformats.org/officeDocument/2006/relationships/slideMaster" Target="/ppt/slideMasters/slideMaster1.xml" Id="R57c2f64bff4e41a0" /><Relationship Type="http://schemas.openxmlformats.org/officeDocument/2006/relationships/notesMaster" Target="/ppt/notesMasters/notesMaster1.xml" Id="R87c7afac290c48a5" /><Relationship Type="http://schemas.openxmlformats.org/officeDocument/2006/relationships/presProps" Target="/ppt/presProps.xml" Id="Rfd7614df5d9e4ca0" /><Relationship Type="http://schemas.openxmlformats.org/officeDocument/2006/relationships/tableStyles" Target="/ppt/tableStyles.xml" Id="R8e399ed21c9240f2" /><Relationship Type="http://schemas.openxmlformats.org/officeDocument/2006/relationships/slide" Target="/ppt/slides/slide1.xml" Id="R1091243e3b8a4eec" /><Relationship Type="http://schemas.openxmlformats.org/officeDocument/2006/relationships/slide" Target="/ppt/slides/slide2.xml" Id="Ra512f78fa3014ed7" /><Relationship Type="http://schemas.openxmlformats.org/officeDocument/2006/relationships/slide" Target="/ppt/slides/slide3.xml" Id="R9ebdc0076fe84672" /><Relationship Type="http://schemas.openxmlformats.org/officeDocument/2006/relationships/slide" Target="/ppt/slides/slide4.xml" Id="R5ca43ab8e7c1422e" /><Relationship Type="http://schemas.openxmlformats.org/officeDocument/2006/relationships/slide" Target="/ppt/slides/slide5.xml" Id="Re3dc61d897244b62" /><Relationship Type="http://schemas.openxmlformats.org/officeDocument/2006/relationships/slide" Target="/ppt/slides/slide6.xml" Id="Rbc4d162bfc1047b1" /><Relationship Type="http://schemas.openxmlformats.org/officeDocument/2006/relationships/slide" Target="/ppt/slides/slide7.xml" Id="R52314b38177d4c2c" /><Relationship Type="http://schemas.openxmlformats.org/officeDocument/2006/relationships/slide" Target="/ppt/slides/slide8.xml" Id="R9a33c883da6a4f8e" /><Relationship Type="http://schemas.openxmlformats.org/officeDocument/2006/relationships/slide" Target="/ppt/slides/slide9.xml" Id="Rbe194d738f544256" /><Relationship Type="http://schemas.openxmlformats.org/officeDocument/2006/relationships/slide" Target="/ppt/slides/slide10.xml" Id="R2d3c632a8dea4e00" /><Relationship Type="http://schemas.openxmlformats.org/officeDocument/2006/relationships/slide" Target="/ppt/slides/slide11.xml" Id="R228bf84cea4f4127" /><Relationship Type="http://schemas.openxmlformats.org/officeDocument/2006/relationships/slide" Target="/ppt/slides/slide12.xml" Id="R383ff6809e2b4ccf" /><Relationship Type="http://schemas.openxmlformats.org/officeDocument/2006/relationships/slide" Target="/ppt/slides/slide13.xml" Id="Rb78defdde08845c9" /><Relationship Type="http://schemas.openxmlformats.org/officeDocument/2006/relationships/slide" Target="/ppt/slides/slide14.xml" Id="R05e05006af7948b0" /><Relationship Type="http://schemas.openxmlformats.org/officeDocument/2006/relationships/slide" Target="/ppt/slides/slide15.xml" Id="R743107a5e07749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1347e74c0348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c01ba64f5a4396" /><Relationship Type="http://schemas.openxmlformats.org/officeDocument/2006/relationships/notesMaster" Target="/ppt/notesMasters/notesMaster1.xml" Id="R8a9a91ccc1014f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bdcc828b2b4007" /><Relationship Type="http://schemas.openxmlformats.org/officeDocument/2006/relationships/notesMaster" Target="/ppt/notesMasters/notesMaster1.xml" Id="Rd08e1b1cc7234e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beea4ee3924157" /><Relationship Type="http://schemas.openxmlformats.org/officeDocument/2006/relationships/notesMaster" Target="/ppt/notesMasters/notesMaster1.xml" Id="R8ae0bb6e9fa74e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e497e400134582" /><Relationship Type="http://schemas.openxmlformats.org/officeDocument/2006/relationships/notesMaster" Target="/ppt/notesMasters/notesMaster1.xml" Id="R848c1806073e4e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7f6e58aa844131" /><Relationship Type="http://schemas.openxmlformats.org/officeDocument/2006/relationships/notesMaster" Target="/ppt/notesMasters/notesMaster1.xml" Id="R789b259f888d4c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71f9bfc8a7424d" /><Relationship Type="http://schemas.openxmlformats.org/officeDocument/2006/relationships/notesMaster" Target="/ppt/notesMasters/notesMaster1.xml" Id="R00931542785047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36978726d8422d" /><Relationship Type="http://schemas.openxmlformats.org/officeDocument/2006/relationships/notesMaster" Target="/ppt/notesMasters/notesMaster1.xml" Id="Rd9e6f237f9fc42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fc93a95e9046c8" /><Relationship Type="http://schemas.openxmlformats.org/officeDocument/2006/relationships/notesMaster" Target="/ppt/notesMasters/notesMaster1.xml" Id="R8dc28e645e3b4e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f15a3930804c53" /><Relationship Type="http://schemas.openxmlformats.org/officeDocument/2006/relationships/notesMaster" Target="/ppt/notesMasters/notesMaster1.xml" Id="R9b3b30eaea9e47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1b12b350e7446d" /><Relationship Type="http://schemas.openxmlformats.org/officeDocument/2006/relationships/notesMaster" Target="/ppt/notesMasters/notesMaster1.xml" Id="R927748afce8b47c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e33bf43049945fe" /><Relationship Type="http://schemas.openxmlformats.org/officeDocument/2006/relationships/notesMaster" Target="/ppt/notesMasters/notesMaster1.xml" Id="Rda6ca677918a4a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1db30abf72041ee" /><Relationship Type="http://schemas.openxmlformats.org/officeDocument/2006/relationships/notesMaster" Target="/ppt/notesMasters/notesMaster1.xml" Id="R964ec07f520d401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a1e20c0bf2f43cc" /><Relationship Type="http://schemas.openxmlformats.org/officeDocument/2006/relationships/notesMaster" Target="/ppt/notesMasters/notesMaster1.xml" Id="Raa77754e53334df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2755290eab14d51" /><Relationship Type="http://schemas.openxmlformats.org/officeDocument/2006/relationships/notesMaster" Target="/ppt/notesMasters/notesMaster1.xml" Id="R1a9de94d3ae04a9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a163f92018b4b72" /><Relationship Type="http://schemas.openxmlformats.org/officeDocument/2006/relationships/notesMaster" Target="/ppt/notesMasters/notesMaster1.xml" Id="R0bf9a4d345fc4d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(Trang bìa - mục tiêu và phạm vi nghiên cứu)</a:t>
            </a:r>
          </a:p>
          <a:p xmlns:a="http://schemas.openxmlformats.org/drawingml/2006/main">
            <a:r>
              <a:t>- /Users/tung/Projects/tungd/tinystory-vn/report.md (trang bìa và phần Tóm tắt)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(§1.3-§1.4 và §4.9)</a:t>
            </a:r>
          </a:p>
          <a:p xmlns:a="http://schemas.openxmlformats.org/drawingml/2006/main">
            <a:r>
              <a:t>- /Users/tung/Projects/tungd/tinystory-vn/results/ablation_judge/summary.json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(§2.1 - hai lần huấn luyện độc lập và sơ đồ kiến trúc)</a:t>
            </a:r>
          </a:p>
          <a:p xmlns:a="http://schemas.openxmlformats.org/drawingml/2006/main">
            <a:r>
              <a:t>- /Users/tung/Projects/tungd/tinystory-vn/figures/llama-vs-gpt2-architecture.svg</a:t>
            </a:r>
          </a:p>
          <a:p xmlns:a="http://schemas.openxmlformats.org/drawingml/2006/main">
            <a:r>
              <a:t>- /Users/tung/Projects/tungd/tinystory-vn/docs/model_architecture_configs.py</a:t>
            </a:r>
          </a:p>
          <a:p xmlns:a="http://schemas.openxmlformats.org/drawingml/2006/main">
            <a:r>
              <a:t>- /Users/tung/Projects/tungd/tinystory-vn/scripts/train_v16.py</a:t>
            </a:r>
          </a:p>
          <a:p xmlns:a="http://schemas.openxmlformats.org/drawingml/2006/main">
            <a:r>
              <a:t>- /Users/tung/Projects/tungd/tinystory-vn/scripts/colab_v16_train.py</a:t>
            </a:r>
          </a:p>
          <a:p xmlns:a="http://schemas.openxmlformats.org/drawingml/2006/main">
            <a:r>
              <a:t>- /Users/tung/Projects/tungd/tinystory-vn/scripts/run_v16_colab.sh</a:t>
            </a:r>
          </a:p>
          <a:p xmlns:a="http://schemas.openxmlformats.org/drawingml/2006/main">
            <a:r>
              <a:t>- /Users/tung/Projects/tungd/tinystory-vn/runs/v16/run.json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(§2.2)</a:t>
            </a:r>
          </a:p>
          <a:p xmlns:a="http://schemas.openxmlformats.org/drawingml/2006/main">
            <a:r>
              <a:t>- /Users/tung/Projects/tungd/tinystory-vn/trieulh/report/figures/01_loss_curve.png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(§2.3 - tokenizer, masking và V16)</a:t>
            </a:r>
          </a:p>
          <a:p xmlns:a="http://schemas.openxmlformats.org/drawingml/2006/main">
            <a:r>
              <a:t>- /Users/tung/Projects/tungd/tinystory-vn/figures/tracks/e2_training_curves.png</a:t>
            </a:r>
          </a:p>
          <a:p xmlns:a="http://schemas.openxmlformats.org/drawingml/2006/main">
            <a:r>
              <a:t>- /Users/tung/Projects/tungd/tinystory-vn/scripts/train_v16.py</a:t>
            </a:r>
          </a:p>
          <a:p xmlns:a="http://schemas.openxmlformats.org/drawingml/2006/main">
            <a:r>
              <a:t>- /Users/tung/Projects/tungd/tinystory-vn/scripts/colab_v16_train.py</a:t>
            </a:r>
          </a:p>
          <a:p xmlns:a="http://schemas.openxmlformats.org/drawingml/2006/main">
            <a:r>
              <a:t>- /Users/tung/Projects/tungd/tinystory-vn/runs/v16/run.json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(§2.3 - V10 đến V15)</a:t>
            </a:r>
          </a:p>
          <a:p xmlns:a="http://schemas.openxmlformats.org/drawingml/2006/main">
            <a:r>
              <a:t>- /Users/tung/Projects/tungd/tinystory-vn/figures/tracks/e2_v10_causal_replay.png</a:t>
            </a:r>
          </a:p>
          <a:p xmlns:a="http://schemas.openxmlformats.org/drawingml/2006/main">
            <a:r>
              <a:t>- /Users/tung/Projects/tungd/tinystory-vn/figures/tracks/e2_v15_representation_transfer.png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(§2.4)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(§2.5 và §4.9)</a:t>
            </a:r>
          </a:p>
          <a:p xmlns:a="http://schemas.openxmlformats.org/drawingml/2006/main">
            <a:r>
              <a:t>- /Users/tung/Projects/tungd/tinystory-vn/lienntp/results/figures/automatic_reliability.svg</a:t>
            </a:r>
          </a:p>
          <a:p xmlns:a="http://schemas.openxmlformats.org/drawingml/2006/main">
            <a:r>
              <a:t>- /Users/tung/Projects/tungd/tinystory-vn/figures/tracks/e4_human_eval.png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(§2.6 và §4.9)</a:t>
            </a:r>
          </a:p>
          <a:p xmlns:a="http://schemas.openxmlformats.org/drawingml/2006/main">
            <a:r>
              <a:t>- /Users/tung/Projects/tungd/tinystory-vn/figures/tracks/e5_training_curves.png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(§2.7 và §4.7)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(§2.7, §4.7 và §4.8)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(§4.1-§4.8)</a:t>
            </a:r>
          </a:p>
          <a:p xmlns:a="http://schemas.openxmlformats.org/drawingml/2006/main">
            <a:r>
              <a:t>- /Users/tung/Projects/tungd/tinystory-vn/results/global_judge/summary.json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(§4.9)</a:t>
            </a:r>
          </a:p>
          <a:p xmlns:a="http://schemas.openxmlformats.org/drawingml/2006/main">
            <a:r>
              <a:t>- /Users/tung/Projects/tungd/tinystory-vn/figures/ablation/21_counterfactual_sensitivity.png</a:t>
            </a:r>
          </a:p>
          <a:p xmlns:a="http://schemas.openxmlformats.org/drawingml/2006/main">
            <a:r>
              <a:t>- /Users/tung/Projects/tungd/tinystory-vn/figures/ablation/22_e4_repair_effect.png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(§5.1)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/Users/tung/Projects/tungd/tinystory-vn/report.md (§5-§6)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43dfe30cf343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e3410a1b1a4f2c" /><Relationship Type="http://schemas.openxmlformats.org/officeDocument/2006/relationships/slideLayout" Target="/ppt/slideLayouts/slideLayout1.xml" Id="R810876c4808144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0876c4808144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2ee8851864358" /><Relationship Type="http://schemas.openxmlformats.org/officeDocument/2006/relationships/notesSlide" Target="/ppt/notesSlides/notesSlide1.xml" Id="R5af8fb1921be4f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6205da02a4fd2" /><Relationship Type="http://schemas.openxmlformats.org/officeDocument/2006/relationships/notesSlide" Target="/ppt/notesSlides/notesSlide2.xml" Id="R061d775fa7694e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db7a6e01e4da6" /><Relationship Type="http://schemas.openxmlformats.org/officeDocument/2006/relationships/image" Target="/ppt/media/image.png" Id="R1a1ac040eea8457a" /><Relationship Type="http://schemas.openxmlformats.org/officeDocument/2006/relationships/notesSlide" Target="/ppt/notesSlides/notesSlide3.xml" Id="R79c46318315149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e203b1b6524b3c" /><Relationship Type="http://schemas.openxmlformats.org/officeDocument/2006/relationships/image" Target="/ppt/media/image2.png" Id="R77413355fc0b498d" /><Relationship Type="http://schemas.openxmlformats.org/officeDocument/2006/relationships/notesSlide" Target="/ppt/notesSlides/notesSlide4.xml" Id="R2c03f8ec4df846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be65a7e5ea44e6" /><Relationship Type="http://schemas.openxmlformats.org/officeDocument/2006/relationships/image" Target="/ppt/media/image3.png" Id="Rf3a8ff5b97574343" /><Relationship Type="http://schemas.openxmlformats.org/officeDocument/2006/relationships/notesSlide" Target="/ppt/notesSlides/notesSlide5.xml" Id="R4cb082c773554e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592b80f5540ea" /><Relationship Type="http://schemas.openxmlformats.org/officeDocument/2006/relationships/image" Target="/ppt/media/image4.png" Id="Rfd315024e5b2404c" /><Relationship Type="http://schemas.openxmlformats.org/officeDocument/2006/relationships/image" Target="/ppt/media/image5.png" Id="Reb86d68b57b244a5" /><Relationship Type="http://schemas.openxmlformats.org/officeDocument/2006/relationships/notesSlide" Target="/ppt/notesSlides/notesSlide6.xml" Id="Rf657e02b04ad4d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8aafd8444b49dc" /><Relationship Type="http://schemas.openxmlformats.org/officeDocument/2006/relationships/chart" Target="/ppt/slides/charts/chart1.xml" Id="Rcdfdecb8e76a4d9f" /><Relationship Type="http://schemas.openxmlformats.org/officeDocument/2006/relationships/notesSlide" Target="/ppt/notesSlides/notesSlide7.xml" Id="Rd042a4ad11d645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755d1b8f8147b7" /><Relationship Type="http://schemas.openxmlformats.org/officeDocument/2006/relationships/image" Target="/ppt/media/image6.png" Id="R331a784ee2744ccf" /><Relationship Type="http://schemas.openxmlformats.org/officeDocument/2006/relationships/image" Target="/ppt/media/image7.png" Id="Rbf02ca721a094966" /><Relationship Type="http://schemas.openxmlformats.org/officeDocument/2006/relationships/notesSlide" Target="/ppt/notesSlides/notesSlide8.xml" Id="Raad1ca4546d349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c191e95ae4d81" /><Relationship Type="http://schemas.openxmlformats.org/officeDocument/2006/relationships/image" Target="/ppt/media/image8.png" Id="R4b158b2acc444304" /><Relationship Type="http://schemas.openxmlformats.org/officeDocument/2006/relationships/notesSlide" Target="/ppt/notesSlides/notesSlide9.xml" Id="R97cc68e49ffd4c8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e1af71f714fd2" /><Relationship Type="http://schemas.openxmlformats.org/officeDocument/2006/relationships/notesSlide" Target="/ppt/notesSlides/notesSlide10.xml" Id="R80dc09079fd84f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68555afeb4cc8" /><Relationship Type="http://schemas.openxmlformats.org/officeDocument/2006/relationships/notesSlide" Target="/ppt/notesSlides/notesSlide11.xml" Id="R1f32419bedde43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c4eac5dc14eed" /><Relationship Type="http://schemas.openxmlformats.org/officeDocument/2006/relationships/chart" Target="/ppt/slides/charts/chart2.xml" Id="R54d83b235ee34ccc" /><Relationship Type="http://schemas.openxmlformats.org/officeDocument/2006/relationships/notesSlide" Target="/ppt/notesSlides/notesSlide12.xml" Id="Rebf4a755caa545c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8142344fc4245" /><Relationship Type="http://schemas.openxmlformats.org/officeDocument/2006/relationships/image" Target="/ppt/media/image9.png" Id="R75bad9f75d1c4102" /><Relationship Type="http://schemas.openxmlformats.org/officeDocument/2006/relationships/image" Target="/ppt/media/image10.png" Id="R77ea4c0b4ec84229" /><Relationship Type="http://schemas.openxmlformats.org/officeDocument/2006/relationships/notesSlide" Target="/ppt/notesSlides/notesSlide13.xml" Id="Rdd9178ccafd7475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c92c213cc4139" /><Relationship Type="http://schemas.openxmlformats.org/officeDocument/2006/relationships/notesSlide" Target="/ppt/notesSlides/notesSlide14.xml" Id="Ree51c219f3794eb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5b1807c394ada" /><Relationship Type="http://schemas.openxmlformats.org/officeDocument/2006/relationships/notesSlide" Target="/ppt/notesSlides/notesSlide15.xml" Id="Ra2b2f8eeb07749f9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Overall /10</c:v>
          </c:tx>
          <c:spPr>
            <a:solidFill xmlns:a="http://schemas.openxmlformats.org/drawingml/2006/main">
              <a:srgbClr val="3D8DF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000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D8DF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cat>
            <c:strLit>
              <c:ptCount val="4"/>
              <c:pt idx="0">
                <c:v>Nền</c:v>
              </c:pt>
              <c:pt idx="1">
                <c:v>A · q/v all</c:v>
              </c:pt>
              <c:pt idx="2">
                <c:v>B · q/v last</c:v>
              </c:pt>
              <c:pt idx="3">
                <c:v>C · all</c:v>
              </c:pt>
            </c:strLit>
          </c:cat>
          <c:val>
            <c:numLit>
              <c:formatCode>General</c:formatCode>
              <c:ptCount val="4"/>
              <c:pt idx="0">
                <c:v>5.73</c:v>
              </c:pt>
              <c:pt idx="1">
                <c:v>6.7</c:v>
              </c:pt>
              <c:pt idx="2">
                <c:v>5.94</c:v>
              </c:pt>
              <c:pt idx="3">
                <c:v>6.87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15761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Overall /10</c:v>
          </c:tx>
          <c:spPr>
            <a:solidFill xmlns:a="http://schemas.openxmlformats.org/drawingml/2006/main">
              <a:srgbClr val="3D8DF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000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D8DF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6DCBF4"/>
              </a:solidFill>
            </c:spPr>
          </c:dPt>
          <c:cat>
            <c:strLit>
              <c:ptCount val="5"/>
              <c:pt idx="0">
                <c:v>E4 · 3B+R</c:v>
              </c:pt>
              <c:pt idx="1">
                <c:v>E5 · 3B Q4</c:v>
              </c:pt>
              <c:pt idx="2">
                <c:v>E1 · 60M</c:v>
              </c:pt>
              <c:pt idx="3">
                <c:v>E2 · 63M</c:v>
              </c:pt>
              <c:pt idx="4">
                <c:v>E3 · 135M</c:v>
              </c:pt>
            </c:strLit>
          </c:cat>
          <c:val>
            <c:numLit>
              <c:formatCode>General</c:formatCode>
              <c:ptCount val="5"/>
              <c:pt idx="0">
                <c:v>9.2</c:v>
              </c:pt>
              <c:pt idx="1">
                <c:v>8.44</c:v>
              </c:pt>
              <c:pt idx="2">
                <c:v>3.3</c:v>
              </c:pt>
              <c:pt idx="3">
                <c:v>3.18</c:v>
              </c:pt>
              <c:pt idx="4">
                <c:v>2.81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00000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15761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upertitle">
            <a:extLst xmlns:a="http://schemas.openxmlformats.org/drawingml/2006/main">
              <a:ext uri="{FF2B5EF4-FFF2-40B4-BE49-F238E27FC236}">
                <a16:creationId xmlns:a16="http://schemas.microsoft.com/office/drawing/2014/main" id="{B27738F5-A31C-4F78-A66F-4909E31D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BÁO CÁO TỔNG HỢP · NHÓM 16 · IT5410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1052C5B-B151-4FA2-AD77-CF8A7896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102870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4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Đánh giá thực nghiệm</a:t>
            </a:r>
          </a:p>
          <a:p xmlns:a="http://schemas.openxmlformats.org/drawingml/2006/main">
            <a:pPr>
              <a:buNone/>
              <a:defRPr sz="4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các mô hình sinh truyện ngụ ngôn</a:t>
            </a:r>
          </a:p>
          <a:p xmlns:a="http://schemas.openxmlformats.org/drawingml/2006/main">
            <a:pPr>
              <a:buNone/>
              <a:defRPr sz="4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theo yêu cầu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C14EA2C-B6FE-4673-8AA0-AC27D276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1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Năm hệ thống độc lập · tiền huấn luyện · PEFT/QLoRA · kiểm soát đầu ra</a:t>
            </a:r>
          </a:p>
        </p:txBody>
      </p:sp>
      <p:sp>
        <p:nvSpPr>
          <p:cNvPr id="4" name="authors-left">
            <a:extLst xmlns:a="http://schemas.openxmlformats.org/drawingml/2006/main">
              <a:ext uri="{FF2B5EF4-FFF2-40B4-BE49-F238E27FC236}">
                <a16:creationId xmlns:a16="http://schemas.microsoft.com/office/drawing/2014/main" id="{A81E2326-78D6-439D-9C55-ED328BD9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95950"/>
            <a:ext cx="4286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20252611M · Lê Hải Triều</a:t>
            </a:r>
          </a:p>
          <a:p xmlns:a="http://schemas.openxmlformats.org/drawingml/2006/main">
            <a:pPr>
              <a:buNone/>
              <a:def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20252612M · Đào Đức Tùng</a:t>
            </a:r>
          </a:p>
          <a:p xmlns:a="http://schemas.openxmlformats.org/drawingml/2006/main">
            <a:pPr>
              <a:buNone/>
              <a:def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20252610M · Nguyễn Công Thanh</a:t>
            </a:r>
          </a:p>
        </p:txBody>
      </p:sp>
      <p:sp>
        <p:nvSpPr>
          <p:cNvPr id="5" name="authors-right">
            <a:extLst xmlns:a="http://schemas.openxmlformats.org/drawingml/2006/main">
              <a:ext uri="{FF2B5EF4-FFF2-40B4-BE49-F238E27FC236}">
                <a16:creationId xmlns:a16="http://schemas.microsoft.com/office/drawing/2014/main" id="{2345AEF1-F642-4D87-A984-F06B1A0E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69595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20252130M · Nguyễn Thị Phương Liên</a:t>
            </a:r>
          </a:p>
          <a:p xmlns:a="http://schemas.openxmlformats.org/drawingml/2006/main">
            <a:pPr>
              <a:buNone/>
              <a:def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20252737M · Nguyễn Đình Lê Hoàng</a:t>
            </a:r>
          </a:p>
        </p:txBody>
      </p:sp>
    </p:spTree>
    <p:extLst>
      <p:ext uri="{BB962C8B-B14F-4D97-AF65-F5344CB8AC3E}">
        <p14:creationId xmlns:p14="http://schemas.microsoft.com/office/powerpoint/2010/main" val="17535377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8C050600-866F-41A0-B802-53CE887F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6F61CA-62D2-42AA-9C4A-75EC346D9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 lớp bằng chứng cho cùng một tác vụ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8A632FD-E5AD-47A9-9B78-88A45B2E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" name="thesis">
            <a:extLst xmlns:a="http://schemas.openxmlformats.org/drawingml/2006/main">
              <a:ext uri="{FF2B5EF4-FFF2-40B4-BE49-F238E27FC236}">
                <a16:creationId xmlns:a16="http://schemas.microsoft.com/office/drawing/2014/main" id="{39358EFC-E93B-452C-8F97-C22AE65B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1104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Một truyện trôi chảy chưa chứng minh các điều kiện đã chi phối diễn biến.</a:t>
            </a:r>
          </a:p>
        </p:txBody>
      </p:sp>
      <p:sp>
        <p:nvSpPr>
          <p:cNvPr id="5" name="callout-1">
            <a:extLst xmlns:a="http://schemas.openxmlformats.org/drawingml/2006/main">
              <a:ext uri="{FF2B5EF4-FFF2-40B4-BE49-F238E27FC236}">
                <a16:creationId xmlns:a16="http://schemas.microsoft.com/office/drawing/2014/main" id="{A9F4CC54-8DF9-482D-9D69-C7DE96D9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52800"/>
            <a:ext cx="36004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allout-title-1">
            <a:extLst xmlns:a="http://schemas.openxmlformats.org/drawingml/2006/main">
              <a:ext uri="{FF2B5EF4-FFF2-40B4-BE49-F238E27FC236}">
                <a16:creationId xmlns:a16="http://schemas.microsoft.com/office/drawing/2014/main" id="{88408FAE-355B-4309-9C99-5F95EF38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3067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Độ giống với dữ liệu</a:t>
            </a:r>
          </a:p>
        </p:txBody>
      </p:sp>
      <p:sp>
        <p:nvSpPr>
          <p:cNvPr id="7" name="callout-body-1">
            <a:extLst xmlns:a="http://schemas.openxmlformats.org/drawingml/2006/main">
              <a:ext uri="{FF2B5EF4-FFF2-40B4-BE49-F238E27FC236}">
                <a16:creationId xmlns:a16="http://schemas.microsoft.com/office/drawing/2014/main" id="{62962D7D-1F0A-4E3C-952F-5E4CB0A6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30670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Loss, PPL, độ trôi chảy và độ đa dạng: mô hình có học được phong cách dữ liệu và tạo văn bản dễ đọc hay không.</a:t>
            </a:r>
          </a:p>
        </p:txBody>
      </p:sp>
      <p:sp>
        <p:nvSpPr>
          <p:cNvPr id="8" name="callout-2">
            <a:extLst xmlns:a="http://schemas.openxmlformats.org/drawingml/2006/main">
              <a:ext uri="{FF2B5EF4-FFF2-40B4-BE49-F238E27FC236}">
                <a16:creationId xmlns:a16="http://schemas.microsoft.com/office/drawing/2014/main" id="{9EBDA31E-7ABE-48D1-B26C-5B5559EB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352800"/>
            <a:ext cx="36004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allout-title-2">
            <a:extLst xmlns:a="http://schemas.openxmlformats.org/drawingml/2006/main">
              <a:ext uri="{FF2B5EF4-FFF2-40B4-BE49-F238E27FC236}">
                <a16:creationId xmlns:a16="http://schemas.microsoft.com/office/drawing/2014/main" id="{6558F744-EB94-4429-B7CE-E83C6655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638550"/>
            <a:ext cx="3067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Mức độ dùng điều kiện</a:t>
            </a:r>
          </a:p>
        </p:txBody>
      </p:sp>
      <p:sp>
        <p:nvSpPr>
          <p:cNvPr id="10" name="callout-body-2">
            <a:extLst xmlns:a="http://schemas.openxmlformats.org/drawingml/2006/main">
              <a:ext uri="{FF2B5EF4-FFF2-40B4-BE49-F238E27FC236}">
                <a16:creationId xmlns:a16="http://schemas.microsoft.com/office/drawing/2014/main" id="{7C5C51A8-DEFE-49F9-9FD8-85F14099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229100"/>
            <a:ext cx="30670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Độ phủ, trait→choice, choice→outcome, plot→moral và mức nhạy với thay đổi một điều kiện.</a:t>
            </a:r>
          </a:p>
        </p:txBody>
      </p:sp>
      <p:sp>
        <p:nvSpPr>
          <p:cNvPr id="11" name="callout-3">
            <a:extLst xmlns:a="http://schemas.openxmlformats.org/drawingml/2006/main">
              <a:ext uri="{FF2B5EF4-FFF2-40B4-BE49-F238E27FC236}">
                <a16:creationId xmlns:a16="http://schemas.microsoft.com/office/drawing/2014/main" id="{6A5BEBB4-FA7F-48C6-B053-468B68DE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36004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allout-title-3">
            <a:extLst xmlns:a="http://schemas.openxmlformats.org/drawingml/2006/main">
              <a:ext uri="{FF2B5EF4-FFF2-40B4-BE49-F238E27FC236}">
                <a16:creationId xmlns:a16="http://schemas.microsoft.com/office/drawing/2014/main" id="{1259A629-995A-4659-8ADA-66F91824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38550"/>
            <a:ext cx="3067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Độ tin cậy hệ thống</a:t>
            </a:r>
          </a:p>
        </p:txBody>
      </p:sp>
      <p:sp>
        <p:nvSpPr>
          <p:cNvPr id="13" name="callout-body-3">
            <a:extLst xmlns:a="http://schemas.openxmlformats.org/drawingml/2006/main">
              <a:ext uri="{FF2B5EF4-FFF2-40B4-BE49-F238E27FC236}">
                <a16:creationId xmlns:a16="http://schemas.microsoft.com/office/drawing/2014/main" id="{F23D8B3A-2944-4E92-8962-E0789E195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29100"/>
            <a:ext cx="30670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Validator, hậu xử lý và repair giúp đầu ra đúng định dạng; chúng không thay thế năng lực sinh của mô hình.</a:t>
            </a:r>
          </a:p>
        </p:txBody>
      </p:sp>
    </p:spTree>
    <p:extLst>
      <p:ext uri="{BB962C8B-B14F-4D97-AF65-F5344CB8AC3E}">
        <p14:creationId xmlns:p14="http://schemas.microsoft.com/office/powerpoint/2010/main" val="11424201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F78B7E24-DEBA-4F4A-9E97-F2F1D7AF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DE0193-C964-4226-AFC9-C648FDA8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Hai lần huấn luyện, hai kiểu kiến trúc: E1 và E2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E530FE1-F1DE-40EB-A0E9-3A50EAC9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5" name="table-note">
            <a:extLst xmlns:a="http://schemas.openxmlformats.org/drawingml/2006/main">
              <a:ext uri="{FF2B5EF4-FFF2-40B4-BE49-F238E27FC236}">
                <a16:creationId xmlns:a16="http://schemas.microsoft.com/office/drawing/2014/main" id="{33E19481-CC60-4399-8DA7-CB242832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Mỗi luồng là một checkpoint riêng. E2 train thật bằng PyTorch/Transformers trên Colab A100; MLX chỉ dùng để serve.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1ac040eea8457a"/>
          <a:stretch xmlns:a="http://schemas.openxmlformats.org/drawingml/2006/main"/>
        </p:blipFill>
        <p:spPr>
          <a:xfrm xmlns:a="http://schemas.openxmlformats.org/drawingml/2006/main">
            <a:off x="1704474" y="1657350"/>
            <a:ext cx="8783053" cy="4171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706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">
            <a:extLst xmlns:a="http://schemas.openxmlformats.org/drawingml/2006/main">
              <a:ext uri="{FF2B5EF4-FFF2-40B4-BE49-F238E27FC236}">
                <a16:creationId xmlns:a16="http://schemas.microsoft.com/office/drawing/2014/main" id="{A8BCBD32-78AC-4424-9E2B-FFE3C98A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75405E-1A75-455B-991E-E0B573AA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349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E1: tăng quy mô tiền huấn luyện hiệu quả hơn các cách hậu huấn luyện đã thử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7DDBBF5-F4BD-4270-9555-4920502C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413355fc0b498d"/>
          <a:stretch xmlns:a="http://schemas.openxmlformats.org/drawingml/2006/main"/>
        </p:blipFill>
        <p:spPr>
          <a:xfrm xmlns:a="http://schemas.openxmlformats.org/drawingml/2006/main">
            <a:off x="400050" y="1839875"/>
            <a:ext cx="6572250" cy="3635450"/>
          </a:xfrm>
          <a:prstGeom xmlns:a="http://schemas.openxmlformats.org/drawingml/2006/main" prst="rect">
            <a:avLst/>
          </a:prstGeom>
        </p:spPr>
      </p:pic>
      <p:sp>
        <p:nvSpPr>
          <p:cNvPr id="5" name="rule">
            <a:extLst xmlns:a="http://schemas.openxmlformats.org/drawingml/2006/main">
              <a:ext uri="{FF2B5EF4-FFF2-40B4-BE49-F238E27FC236}">
                <a16:creationId xmlns:a16="http://schemas.microsoft.com/office/drawing/2014/main" id="{19ACEDA3-CAA4-44A2-9AB2-43221442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95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etric-1">
            <a:extLst xmlns:a="http://schemas.openxmlformats.org/drawingml/2006/main">
              <a:ext uri="{FF2B5EF4-FFF2-40B4-BE49-F238E27FC236}">
                <a16:creationId xmlns:a16="http://schemas.microsoft.com/office/drawing/2014/main" id="{604538B6-7EE0-4320-80D0-3CA53AC2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526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+1,017</a:t>
            </a:r>
          </a:p>
        </p:txBody>
      </p:sp>
      <p:sp>
        <p:nvSpPr>
          <p:cNvPr id="7" name="metric-1-label">
            <a:extLst xmlns:a="http://schemas.openxmlformats.org/drawingml/2006/main">
              <a:ext uri="{FF2B5EF4-FFF2-40B4-BE49-F238E27FC236}">
                <a16:creationId xmlns:a16="http://schemas.microsoft.com/office/drawing/2014/main" id="{E96245B0-3A37-4A75-A1DF-581A978F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2410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60M so với 30M Phase 2 · n=45; cao hơn ở 36/45 đề</a:t>
            </a:r>
          </a:p>
        </p:txBody>
      </p:sp>
      <p:sp>
        <p:nvSpPr>
          <p:cNvPr id="8" name="metric-2">
            <a:extLst xmlns:a="http://schemas.openxmlformats.org/drawingml/2006/main">
              <a:ext uri="{FF2B5EF4-FFF2-40B4-BE49-F238E27FC236}">
                <a16:creationId xmlns:a16="http://schemas.microsoft.com/office/drawing/2014/main" id="{F61D7BE9-9D7F-4E17-87BB-6E63589B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8,55</a:t>
            </a:r>
          </a:p>
        </p:txBody>
      </p:sp>
      <p:sp>
        <p:nvSpPr>
          <p:cNvPr id="9" name="metric-2-label">
            <a:extLst xmlns:a="http://schemas.openxmlformats.org/drawingml/2006/main">
              <a:ext uri="{FF2B5EF4-FFF2-40B4-BE49-F238E27FC236}">
                <a16:creationId xmlns:a16="http://schemas.microsoft.com/office/drawing/2014/main" id="{3DC00C44-5B46-4D14-B72F-8C767E8A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7665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Best-of-3 từ một lần sinh 7,72: có mẫu tốt nhưng phân bố chưa ổn định</a:t>
            </a:r>
          </a:p>
        </p:txBody>
      </p:sp>
      <p:sp>
        <p:nvSpPr>
          <p:cNvPr id="10" name="metric-3">
            <a:extLst xmlns:a="http://schemas.openxmlformats.org/drawingml/2006/main">
              <a:ext uri="{FF2B5EF4-FFF2-40B4-BE49-F238E27FC236}">
                <a16:creationId xmlns:a16="http://schemas.microsoft.com/office/drawing/2014/main" id="{7370C180-2DD6-4A3F-B8B7-CBBACFE1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577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Giới hạn</a:t>
            </a:r>
          </a:p>
        </p:txBody>
      </p:sp>
      <p:sp>
        <p:nvSpPr>
          <p:cNvPr id="11" name="metric-3-label">
            <a:extLst xmlns:a="http://schemas.openxmlformats.org/drawingml/2006/main">
              <a:ext uri="{FF2B5EF4-FFF2-40B4-BE49-F238E27FC236}">
                <a16:creationId xmlns:a16="http://schemas.microsoft.com/office/drawing/2014/main" id="{1D77ADEA-031F-4DEF-92E0-C81573D3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292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60M đồng thời thay đổi tham số, ngữ cảnh và ngân sách token; chưa cô lập riêng ảnh hưởng của năng lực mô hình.</a:t>
            </a:r>
          </a:p>
        </p:txBody>
      </p:sp>
    </p:spTree>
    <p:extLst>
      <p:ext uri="{BB962C8B-B14F-4D97-AF65-F5344CB8AC3E}">
        <p14:creationId xmlns:p14="http://schemas.microsoft.com/office/powerpoint/2010/main" val="8756912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">
            <a:extLst xmlns:a="http://schemas.openxmlformats.org/drawingml/2006/main">
              <a:ext uri="{FF2B5EF4-FFF2-40B4-BE49-F238E27FC236}">
                <a16:creationId xmlns:a16="http://schemas.microsoft.com/office/drawing/2014/main" id="{A8BCBD32-78AC-4424-9E2B-FFE3C98A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75405E-1A75-455B-991E-E0B573AA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461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E2: bám đúng trường đầu vào tăng; lập kế hoạch nhân quả chưa tăng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7DDBBF5-F4BD-4270-9555-4920502C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5" name="rule">
            <a:extLst xmlns:a="http://schemas.openxmlformats.org/drawingml/2006/main">
              <a:ext uri="{FF2B5EF4-FFF2-40B4-BE49-F238E27FC236}">
                <a16:creationId xmlns:a16="http://schemas.microsoft.com/office/drawing/2014/main" id="{19ACEDA3-CAA4-44A2-9AB2-43221442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95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etric-1">
            <a:extLst xmlns:a="http://schemas.openxmlformats.org/drawingml/2006/main">
              <a:ext uri="{FF2B5EF4-FFF2-40B4-BE49-F238E27FC236}">
                <a16:creationId xmlns:a16="http://schemas.microsoft.com/office/drawing/2014/main" id="{604538B6-7EE0-4320-80D0-3CA53AC2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526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V1→V2</a:t>
            </a:r>
          </a:p>
        </p:txBody>
      </p:sp>
      <p:sp>
        <p:nvSpPr>
          <p:cNvPr id="7" name="metric-1-label">
            <a:extLst xmlns:a="http://schemas.openxmlformats.org/drawingml/2006/main">
              <a:ext uri="{FF2B5EF4-FFF2-40B4-BE49-F238E27FC236}">
                <a16:creationId xmlns:a16="http://schemas.microsoft.com/office/drawing/2014/main" id="{E96245B0-3A37-4A75-A1DF-581A978F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2410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Hết lỗi tách vỡ từ; Distinct-1 +33%; Self-BLEU giảm 64%</a:t>
            </a:r>
          </a:p>
        </p:txBody>
      </p:sp>
      <p:sp>
        <p:nvSpPr>
          <p:cNvPr id="8" name="metric-2">
            <a:extLst xmlns:a="http://schemas.openxmlformats.org/drawingml/2006/main">
              <a:ext uri="{FF2B5EF4-FFF2-40B4-BE49-F238E27FC236}">
                <a16:creationId xmlns:a16="http://schemas.microsoft.com/office/drawing/2014/main" id="{F61D7BE9-9D7F-4E17-87BB-6E63589B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V2→V3</a:t>
            </a:r>
          </a:p>
        </p:txBody>
      </p:sp>
      <p:sp>
        <p:nvSpPr>
          <p:cNvPr id="9" name="metric-2-label">
            <a:extLst xmlns:a="http://schemas.openxmlformats.org/drawingml/2006/main">
              <a:ext uri="{FF2B5EF4-FFF2-40B4-BE49-F238E27FC236}">
                <a16:creationId xmlns:a16="http://schemas.microsoft.com/office/drawing/2014/main" id="{3DC00C44-5B46-4D14-B72F-8C767E8A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7665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Khớp đủ hai trường 3%→55%; kết thúc sạch 0%→100%</a:t>
            </a:r>
          </a:p>
        </p:txBody>
      </p:sp>
      <p:sp>
        <p:nvSpPr>
          <p:cNvPr id="10" name="metric-3">
            <a:extLst xmlns:a="http://schemas.openxmlformats.org/drawingml/2006/main">
              <a:ext uri="{FF2B5EF4-FFF2-40B4-BE49-F238E27FC236}">
                <a16:creationId xmlns:a16="http://schemas.microsoft.com/office/drawing/2014/main" id="{7370C180-2DD6-4A3F-B8B7-CBBACFE1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577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V16</a:t>
            </a:r>
          </a:p>
        </p:txBody>
      </p:sp>
      <p:sp>
        <p:nvSpPr>
          <p:cNvPr id="11" name="metric-3-label">
            <a:extLst xmlns:a="http://schemas.openxmlformats.org/drawingml/2006/main">
              <a:ext uri="{FF2B5EF4-FFF2-40B4-BE49-F238E27FC236}">
                <a16:creationId xmlns:a16="http://schemas.microsoft.com/office/drawing/2014/main" id="{1D77ADEA-031F-4DEF-92E0-C81573D3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292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Train bằng PyTorch/Transformers trên Colab A100; MLX chỉ dùng cho artifact phục vụ; causal-pass vẫn 0%.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8ff5b97574343"/>
          <a:stretch xmlns:a="http://schemas.openxmlformats.org/drawingml/2006/main"/>
        </p:blipFill>
        <p:spPr>
          <a:xfrm xmlns:a="http://schemas.openxmlformats.org/drawingml/2006/main" flipH="0" flipV="0">
            <a:off x="400050" y="1839875"/>
            <a:ext cx="6572250" cy="3635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6912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68A008FB-E7D4-4FC6-8439-9D492D03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74A384-7759-4B6B-85E8-23FE2C4E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99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E2: khớp story–moral tốt vẫn chưa tạo lập kế hoạch nhân quả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5E22297-34DB-4D8A-828D-A2A2875D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6" name="counterfactual-note">
            <a:extLst xmlns:a="http://schemas.openxmlformats.org/drawingml/2006/main">
              <a:ext uri="{FF2B5EF4-FFF2-40B4-BE49-F238E27FC236}">
                <a16:creationId xmlns:a16="http://schemas.microsoft.com/office/drawing/2014/main" id="{62BC1ADB-BDE7-4BA4-B9C9-7BC3C01B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V10: loss validation nhân quả 3,404→2,968;</a:t>
            </a:r>
          </a:p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causal-pass vẫn 2%, không hơn V3.</a:t>
            </a:r>
          </a:p>
        </p:txBody>
      </p:sp>
      <p:sp>
        <p:nvSpPr>
          <p:cNvPr id="7" name="repair-note">
            <a:extLst xmlns:a="http://schemas.openxmlformats.org/drawingml/2006/main">
              <a:ext uri="{FF2B5EF4-FFF2-40B4-BE49-F238E27FC236}">
                <a16:creationId xmlns:a16="http://schemas.microsoft.com/office/drawing/2014/main" id="{82147AEF-8484-4BFD-81EC-4807A220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04825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V15: khớp story–moral 75,44%; độ trôi chảy giảm;</a:t>
            </a:r>
          </a:p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causal-pass chỉ 0–5%.</a:t>
            </a:r>
          </a:p>
        </p:txBody>
      </p:sp>
      <p:sp>
        <p:nvSpPr>
          <p:cNvPr id="8" name="ablation-conclusion">
            <a:extLst xmlns:a="http://schemas.openxmlformats.org/drawingml/2006/main">
              <a:ext uri="{FF2B5EF4-FFF2-40B4-BE49-F238E27FC236}">
                <a16:creationId xmlns:a16="http://schemas.microsoft.com/office/drawing/2014/main" id="{21827703-0601-40FF-A792-A910ECC6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Loss và matching không chứng minh được lập kế hoạch khi sinh; tăng depth, DPO và nhiều epoch đều chưa cải thiện causal-pass.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15024e5b2404c"/>
          <a:stretch xmlns:a="http://schemas.openxmlformats.org/drawingml/2006/main"/>
        </p:blipFill>
        <p:spPr>
          <a:xfrm xmlns:a="http://schemas.openxmlformats.org/drawingml/2006/main" flipH="0" flipV="0">
            <a:off x="400050" y="2186705"/>
            <a:ext cx="5334000" cy="216074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86d68b57b244a5"/>
          <a:stretch xmlns:a="http://schemas.openxmlformats.org/drawingml/2006/main"/>
        </p:blipFill>
        <p:spPr>
          <a:xfrm xmlns:a="http://schemas.openxmlformats.org/drawingml/2006/main" flipH="0" flipV="0">
            <a:off x="6457950" y="2186705"/>
            <a:ext cx="5334000" cy="21607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5999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1EF870FC-4A78-4FD7-8CDA-3B7A70B3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427147-207D-47DB-9E95-D6EC7F61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13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E3: LoRA trên toàn bộ tầng + MLP tốt nhất trong ba cấu hình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2F5B507-9662-48B8-BA63-F9432118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00050" y="1657350"/>
          <a:ext xmlns:a="http://schemas.openxmlformats.org/drawingml/2006/main" cx="6858000" cy="4362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fdecb8e76a4d9f"/>
          </a:graphicData>
        </a:graphic>
      </p:graphicFrame>
      <p:sp>
        <p:nvSpPr>
          <p:cNvPr id="5" name="judge-callout-1">
            <a:extLst xmlns:a="http://schemas.openxmlformats.org/drawingml/2006/main">
              <a:ext uri="{FF2B5EF4-FFF2-40B4-BE49-F238E27FC236}">
                <a16:creationId xmlns:a16="http://schemas.microsoft.com/office/drawing/2014/main" id="{A8C4D69E-BFD0-482C-9C20-CDBE885B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3810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judge-delta">
            <a:extLst xmlns:a="http://schemas.openxmlformats.org/drawingml/2006/main">
              <a:ext uri="{FF2B5EF4-FFF2-40B4-BE49-F238E27FC236}">
                <a16:creationId xmlns:a16="http://schemas.microsoft.com/office/drawing/2014/main" id="{7444D220-0472-4F8B-B3E4-BA26D550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025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3,84</a:t>
            </a:r>
          </a:p>
        </p:txBody>
      </p:sp>
      <p:sp>
        <p:nvSpPr>
          <p:cNvPr id="7" name="judge-delta-note">
            <a:extLst xmlns:a="http://schemas.openxmlformats.org/drawingml/2006/main">
              <a:ext uri="{FF2B5EF4-FFF2-40B4-BE49-F238E27FC236}">
                <a16:creationId xmlns:a16="http://schemas.microsoft.com/office/drawing/2014/main" id="{8FDA62C1-87F6-4F3C-A946-16BE2114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57400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PPL nhánh C</a:t>
            </a:r>
          </a:p>
          <a:p xmlns:a="http://schemas.openxmlformats.org/drawingml/2006/main">
            <a:pPr>
              <a:buNone/>
              <a:def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4,88M adapter</a:t>
            </a:r>
          </a:p>
        </p:txBody>
      </p:sp>
      <p:sp>
        <p:nvSpPr>
          <p:cNvPr id="8" name="judge-meaning">
            <a:extLst xmlns:a="http://schemas.openxmlformats.org/drawingml/2006/main">
              <a:ext uri="{FF2B5EF4-FFF2-40B4-BE49-F238E27FC236}">
                <a16:creationId xmlns:a16="http://schemas.microsoft.com/office/drawing/2014/main" id="{E194563F-4855-44AD-B192-138D374E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543300"/>
            <a:ext cx="3810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 dẫn đầu về ngữ pháp, bài học, tuân thủ và overall. A dẫn đầu về sáng tạo và độ dễ đọc.</a:t>
            </a:r>
          </a:p>
        </p:txBody>
      </p:sp>
      <p:sp>
        <p:nvSpPr>
          <p:cNvPr id="9" name="judge-scope">
            <a:extLst xmlns:a="http://schemas.openxmlformats.org/drawingml/2006/main">
              <a:ext uri="{FF2B5EF4-FFF2-40B4-BE49-F238E27FC236}">
                <a16:creationId xmlns:a16="http://schemas.microsoft.com/office/drawing/2014/main" id="{E02FEA3F-585D-4FDB-8042-F4B427E1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81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B giảm PPL nhưng adherence 4,78 &lt; base 5,08.</a:t>
            </a:r>
          </a:p>
          <a:p xmlns:a="http://schemas.openxmlformats.org/drawingml/2006/main">
            <a:pPr>
              <a:buNone/>
              <a:def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Thiếu cấu hình all-linear × last-third; mỗi nhánh chỉ có một seed.</a:t>
            </a:r>
          </a:p>
        </p:txBody>
      </p:sp>
    </p:spTree>
    <p:extLst>
      <p:ext uri="{BB962C8B-B14F-4D97-AF65-F5344CB8AC3E}">
        <p14:creationId xmlns:p14="http://schemas.microsoft.com/office/powerpoint/2010/main" val="4962105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68A008FB-E7D4-4FC6-8439-9D492D03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74A384-7759-4B6B-85E8-23FE2C4E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49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E4: kiểm soát khi sinh hiệu quả hơn các lần fine-tune đã thử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5E22297-34DB-4D8A-828D-A2A2875D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6" name="counterfactual-note">
            <a:extLst xmlns:a="http://schemas.openxmlformats.org/drawingml/2006/main">
              <a:ext uri="{FF2B5EF4-FFF2-40B4-BE49-F238E27FC236}">
                <a16:creationId xmlns:a16="http://schemas.microsoft.com/office/drawing/2014/main" id="{62BC1ADB-BDE7-4BA4-B9C9-7BC3C01B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Base+Repair 4,32/5; Strict+post 4,20;</a:t>
            </a:r>
          </a:p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Fluency-SFT 3,84.</a:t>
            </a:r>
          </a:p>
        </p:txBody>
      </p:sp>
      <p:sp>
        <p:nvSpPr>
          <p:cNvPr id="7" name="repair-note">
            <a:extLst xmlns:a="http://schemas.openxmlformats.org/drawingml/2006/main">
              <a:ext uri="{FF2B5EF4-FFF2-40B4-BE49-F238E27FC236}">
                <a16:creationId xmlns:a16="http://schemas.microsoft.com/office/drawing/2014/main" id="{82147AEF-8484-4BFD-81EC-4807A220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04825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Repair: bài học đúng nguyên văn 20%→100%;</a:t>
            </a:r>
          </a:p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trait→choice 92%, choice→outcome 100% không đổi.</a:t>
            </a:r>
          </a:p>
        </p:txBody>
      </p:sp>
      <p:sp>
        <p:nvSpPr>
          <p:cNvPr id="8" name="ablation-conclusion">
            <a:extLst xmlns:a="http://schemas.openxmlformats.org/drawingml/2006/main">
              <a:ext uri="{FF2B5EF4-FFF2-40B4-BE49-F238E27FC236}">
                <a16:creationId xmlns:a16="http://schemas.microsoft.com/office/drawing/2014/main" id="{21827703-0601-40FF-A792-A910ECC6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Hậu xử lý sửa định dạng; rewrite sửa lỗi cục bộ. Pipeline gọi mô hình lần hai ở 5/25 đề.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a784ee2744ccf"/>
          <a:stretch xmlns:a="http://schemas.openxmlformats.org/drawingml/2006/main"/>
        </p:blipFill>
        <p:spPr>
          <a:xfrm xmlns:a="http://schemas.openxmlformats.org/drawingml/2006/main" flipH="0" flipV="0">
            <a:off x="400050" y="2186705"/>
            <a:ext cx="5334000" cy="216074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02ca721a094966"/>
          <a:stretch xmlns:a="http://schemas.openxmlformats.org/drawingml/2006/main"/>
        </p:blipFill>
        <p:spPr>
          <a:xfrm xmlns:a="http://schemas.openxmlformats.org/drawingml/2006/main" flipH="0" flipV="0">
            <a:off x="6457950" y="2186705"/>
            <a:ext cx="5334000" cy="21607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5999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">
            <a:extLst xmlns:a="http://schemas.openxmlformats.org/drawingml/2006/main">
              <a:ext uri="{FF2B5EF4-FFF2-40B4-BE49-F238E27FC236}">
                <a16:creationId xmlns:a16="http://schemas.microsoft.com/office/drawing/2014/main" id="{A8BCBD32-78AC-4424-9E2B-FFE3C98A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75405E-1A75-455B-991E-E0B573AA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349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E5: QLoRA 0,75% tạo artifact sinh trực tiếp mạnh; chưa cô lập ảnh hưởng của epoch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7DDBBF5-F4BD-4270-9555-4920502C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5" name="rule">
            <a:extLst xmlns:a="http://schemas.openxmlformats.org/drawingml/2006/main">
              <a:ext uri="{FF2B5EF4-FFF2-40B4-BE49-F238E27FC236}">
                <a16:creationId xmlns:a16="http://schemas.microsoft.com/office/drawing/2014/main" id="{19ACEDA3-CAA4-44A2-9AB2-43221442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657350"/>
            <a:ext cx="95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etric-1">
            <a:extLst xmlns:a="http://schemas.openxmlformats.org/drawingml/2006/main">
              <a:ext uri="{FF2B5EF4-FFF2-40B4-BE49-F238E27FC236}">
                <a16:creationId xmlns:a16="http://schemas.microsoft.com/office/drawing/2014/main" id="{604538B6-7EE0-4320-80D0-3CA53AC2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526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24,31M</a:t>
            </a:r>
          </a:p>
        </p:txBody>
      </p:sp>
      <p:sp>
        <p:nvSpPr>
          <p:cNvPr id="7" name="metric-1-label">
            <a:extLst xmlns:a="http://schemas.openxmlformats.org/drawingml/2006/main">
              <a:ext uri="{FF2B5EF4-FFF2-40B4-BE49-F238E27FC236}">
                <a16:creationId xmlns:a16="http://schemas.microsoft.com/office/drawing/2014/main" id="{E96245B0-3A37-4A75-A1DF-581A978F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2410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tham số được huấn luyện / 3,237B (0,75%); 339 bước, 47,3 phút trên T4</a:t>
            </a:r>
          </a:p>
        </p:txBody>
      </p:sp>
      <p:sp>
        <p:nvSpPr>
          <p:cNvPr id="8" name="metric-2">
            <a:extLst xmlns:a="http://schemas.openxmlformats.org/drawingml/2006/main">
              <a:ext uri="{FF2B5EF4-FFF2-40B4-BE49-F238E27FC236}">
                <a16:creationId xmlns:a16="http://schemas.microsoft.com/office/drawing/2014/main" id="{F61D7BE9-9D7F-4E17-87BB-6E63589B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8,44</a:t>
            </a:r>
          </a:p>
        </p:txBody>
      </p:sp>
      <p:sp>
        <p:nvSpPr>
          <p:cNvPr id="9" name="metric-2-label">
            <a:extLst xmlns:a="http://schemas.openxmlformats.org/drawingml/2006/main">
              <a:ext uri="{FF2B5EF4-FFF2-40B4-BE49-F238E27FC236}">
                <a16:creationId xmlns:a16="http://schemas.microsoft.com/office/drawing/2014/main" id="{3DC00C44-5B46-4D14-B72F-8C767E8A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7665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Điểm vòng chung; tốt nhất trong các mô hình sinh một lượt</a:t>
            </a:r>
          </a:p>
        </p:txBody>
      </p:sp>
      <p:sp>
        <p:nvSpPr>
          <p:cNvPr id="10" name="metric-3">
            <a:extLst xmlns:a="http://schemas.openxmlformats.org/drawingml/2006/main">
              <a:ext uri="{FF2B5EF4-FFF2-40B4-BE49-F238E27FC236}">
                <a16:creationId xmlns:a16="http://schemas.microsoft.com/office/drawing/2014/main" id="{7370C180-2DD6-4A3F-B8B7-CBBACFE1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577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10/10</a:t>
            </a:r>
          </a:p>
        </p:txBody>
      </p:sp>
      <p:sp>
        <p:nvSpPr>
          <p:cNvPr id="11" name="metric-3-label">
            <a:extLst xmlns:a="http://schemas.openxmlformats.org/drawingml/2006/main">
              <a:ext uri="{FF2B5EF4-FFF2-40B4-BE49-F238E27FC236}">
                <a16:creationId xmlns:a16="http://schemas.microsoft.com/office/drawing/2014/main" id="{1D77ADEA-031F-4DEF-92E0-C81573D3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292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329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10/10 cặp counterfactual đổi đúng hướng; chưa cô lập base với QLoRA hoặc 1 với 3 epoch.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158b2acc444304"/>
          <a:stretch xmlns:a="http://schemas.openxmlformats.org/drawingml/2006/main"/>
        </p:blipFill>
        <p:spPr>
          <a:xfrm xmlns:a="http://schemas.openxmlformats.org/drawingml/2006/main" flipH="0" flipV="0">
            <a:off x="400050" y="1839875"/>
            <a:ext cx="6572250" cy="3635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6912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0D47DF48-E05F-4345-BAC9-0EA04A01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6B3735-06D6-4000-8F33-89AD244B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Mẫu tốt: E4 và E5 giữ chuỗi sự kiện được yêu cầu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C40FB26-BAFA-45CA-9DFF-F85AA8B1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sample-e3-title">
            <a:extLst xmlns:a="http://schemas.openxmlformats.org/drawingml/2006/main">
              <a:ext uri="{FF2B5EF4-FFF2-40B4-BE49-F238E27FC236}">
                <a16:creationId xmlns:a16="http://schemas.microsoft.com/office/drawing/2014/main" id="{0D5C074B-7D14-4AAD-87DF-E769DC6A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E4 · Base + Repair</a:t>
            </a:r>
          </a:p>
        </p:txBody>
      </p:sp>
      <p:sp>
        <p:nvSpPr>
          <p:cNvPr id="5" name="sample-e3">
            <a:extLst xmlns:a="http://schemas.openxmlformats.org/drawingml/2006/main">
              <a:ext uri="{FF2B5EF4-FFF2-40B4-BE49-F238E27FC236}">
                <a16:creationId xmlns:a16="http://schemas.microsoft.com/office/drawing/2014/main" id="{90B0373D-022A-43A6-A86D-5BBE6611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2197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i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i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“Terry realized it was impossible for just one tiny creature like himself to cross… Together with some frogs… and rabbits carrying sturdy vines… the whole crew got to work.”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500" i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i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“Moral: When friends unite towards one goal with patience in harmony…”</a:t>
            </a:r>
          </a:p>
        </p:txBody>
      </p:sp>
      <p:sp>
        <p:nvSpPr>
          <p:cNvPr id="6" name="sample-e3-note">
            <a:extLst xmlns:a="http://schemas.openxmlformats.org/drawingml/2006/main">
              <a:ext uri="{FF2B5EF4-FFF2-40B4-BE49-F238E27FC236}">
                <a16:creationId xmlns:a16="http://schemas.microsoft.com/office/drawing/2014/main" id="{84E28A2D-E938-49D1-9825-410ACC22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00650"/>
            <a:ext cx="5219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Giữ đúng nhân vật, thử thách, kết quả và bài học; repair bảo đảm định dạng Moral.</a:t>
            </a:r>
          </a:p>
        </p:txBody>
      </p:sp>
      <p:sp>
        <p:nvSpPr>
          <p:cNvPr id="7" name="rule">
            <a:extLst xmlns:a="http://schemas.openxmlformats.org/drawingml/2006/main">
              <a:ext uri="{FF2B5EF4-FFF2-40B4-BE49-F238E27FC236}">
                <a16:creationId xmlns:a16="http://schemas.microsoft.com/office/drawing/2014/main" id="{1CF1CEE2-28D4-4EF6-8554-D8D5E0C4D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57350"/>
            <a:ext cx="9525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ample-e5-title">
            <a:extLst xmlns:a="http://schemas.openxmlformats.org/drawingml/2006/main">
              <a:ext uri="{FF2B5EF4-FFF2-40B4-BE49-F238E27FC236}">
                <a16:creationId xmlns:a16="http://schemas.microsoft.com/office/drawing/2014/main" id="{B3FC96EB-D91D-4A14-914F-626D6D44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6573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E5 · Llama 3.2 3B Q4</a:t>
            </a:r>
          </a:p>
        </p:txBody>
      </p:sp>
      <p:sp>
        <p:nvSpPr>
          <p:cNvPr id="9" name="sample-e5">
            <a:extLst xmlns:a="http://schemas.openxmlformats.org/drawingml/2006/main">
              <a:ext uri="{FF2B5EF4-FFF2-40B4-BE49-F238E27FC236}">
                <a16:creationId xmlns:a16="http://schemas.microsoft.com/office/drawing/2014/main" id="{F40909FD-F009-4BAA-9B9C-A91CA187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8850"/>
            <a:ext cx="52197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i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i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“The old cart path suddenly collapsed… Taking a deep breath, Terry started to test a new route in small steps.”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500" i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i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“Moral: Careful courage makes room for useful change.”</a:t>
            </a:r>
          </a:p>
        </p:txBody>
      </p:sp>
      <p:sp>
        <p:nvSpPr>
          <p:cNvPr id="10" name="sample-e5-note">
            <a:extLst xmlns:a="http://schemas.openxmlformats.org/drawingml/2006/main">
              <a:ext uri="{FF2B5EF4-FFF2-40B4-BE49-F238E27FC236}">
                <a16:creationId xmlns:a16="http://schemas.microsoft.com/office/drawing/2014/main" id="{951909DE-6D85-4D48-A790-E3881586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9650"/>
            <a:ext cx="5219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Đầu ra trực tiếp từ checkpoint, 236 từ, Gemma 9,00 trên GJ20.</a:t>
            </a:r>
          </a:p>
        </p:txBody>
      </p:sp>
    </p:spTree>
    <p:extLst>
      <p:ext uri="{BB962C8B-B14F-4D97-AF65-F5344CB8AC3E}">
        <p14:creationId xmlns:p14="http://schemas.microsoft.com/office/powerpoint/2010/main" val="19358752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yebrow">
            <a:extLst xmlns:a="http://schemas.openxmlformats.org/drawingml/2006/main">
              <a:ext uri="{FF2B5EF4-FFF2-40B4-BE49-F238E27FC236}">
                <a16:creationId xmlns:a16="http://schemas.microsoft.com/office/drawing/2014/main" id="{1C806CD0-46B6-48B3-8916-29922001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C57004-3EE9-499A-A7EA-6B5DC928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 cơ chế lỗi khác nhau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10D0DC0-F100-4B23-B5CE-90E00E7F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2327CA9E-1294-4BEB-B4AE-0B543651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24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bservation-title-1">
            <a:extLst xmlns:a="http://schemas.openxmlformats.org/drawingml/2006/main">
              <a:ext uri="{FF2B5EF4-FFF2-40B4-BE49-F238E27FC236}">
                <a16:creationId xmlns:a16="http://schemas.microsoft.com/office/drawing/2014/main" id="{8682F1C1-120A-4A76-996E-D12B57AE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rPr>
              <a:t>E1 · thay điều kiện bằng motif</a:t>
            </a:r>
          </a:p>
        </p:txBody>
      </p:sp>
      <p:sp>
        <p:nvSpPr>
          <p:cNvPr id="6" name="observation-quote-1">
            <a:extLst xmlns:a="http://schemas.openxmlformats.org/drawingml/2006/main">
              <a:ext uri="{FF2B5EF4-FFF2-40B4-BE49-F238E27FC236}">
                <a16:creationId xmlns:a16="http://schemas.microsoft.com/office/drawing/2014/main" id="{CAA87E43-B8E4-46E3-A181-63A3DDA9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47950"/>
            <a:ext cx="3524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“rivalry in love” → xung đột vì mùi cơ thể</a:t>
            </a:r>
          </a:p>
        </p:txBody>
      </p:sp>
      <p:sp>
        <p:nvSpPr>
          <p:cNvPr id="7" name="observation-body-1">
            <a:extLst xmlns:a="http://schemas.openxmlformats.org/drawingml/2006/main">
              <a:ext uri="{FF2B5EF4-FFF2-40B4-BE49-F238E27FC236}">
                <a16:creationId xmlns:a16="http://schemas.microsoft.com/office/drawing/2014/main" id="{22544995-3568-48C4-96A2-CD321BFD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3524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Câu chuyện tự hợp lý nhưng không thực sự phụ thuộc vào thử thách/kết quả; runner chung còn thiếu token &lt;|story|&gt;.</a:t>
            </a:r>
          </a:p>
        </p:txBody>
      </p:sp>
      <p:sp>
        <p:nvSpPr>
          <p:cNvPr id="8" name="rule">
            <a:extLst xmlns:a="http://schemas.openxmlformats.org/drawingml/2006/main">
              <a:ext uri="{FF2B5EF4-FFF2-40B4-BE49-F238E27FC236}">
                <a16:creationId xmlns:a16="http://schemas.microsoft.com/office/drawing/2014/main" id="{611EB050-B08E-455D-B952-3044DCFF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695450"/>
            <a:ext cx="3524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observation-title-2">
            <a:extLst xmlns:a="http://schemas.openxmlformats.org/drawingml/2006/main">
              <a:ext uri="{FF2B5EF4-FFF2-40B4-BE49-F238E27FC236}">
                <a16:creationId xmlns:a16="http://schemas.microsoft.com/office/drawing/2014/main" id="{4420711C-A7DB-444B-AD44-61876F89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9431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rPr>
              <a:t>E2 · nhắc bài học, thiếu chuỗi</a:t>
            </a:r>
          </a:p>
        </p:txBody>
      </p:sp>
      <p:sp>
        <p:nvSpPr>
          <p:cNvPr id="10" name="observation-quote-2">
            <a:extLst xmlns:a="http://schemas.openxmlformats.org/drawingml/2006/main">
              <a:ext uri="{FF2B5EF4-FFF2-40B4-BE49-F238E27FC236}">
                <a16:creationId xmlns:a16="http://schemas.microsoft.com/office/drawing/2014/main" id="{53485DEF-4C7B-4EDE-AD68-E34AB70A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647950"/>
            <a:ext cx="3524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“With newfound confidence, she spread her wings and soared…”</a:t>
            </a:r>
          </a:p>
        </p:txBody>
      </p:sp>
      <p:sp>
        <p:nvSpPr>
          <p:cNvPr id="11" name="observation-body-2">
            <a:extLst xmlns:a="http://schemas.openxmlformats.org/drawingml/2006/main">
              <a:ext uri="{FF2B5EF4-FFF2-40B4-BE49-F238E27FC236}">
                <a16:creationId xmlns:a16="http://schemas.microsoft.com/office/drawing/2014/main" id="{9EE35929-3742-45C0-B909-AF5AAFBF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981450"/>
            <a:ext cx="3524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Nhắc đúng nhân vật và footer không bảo đảm trait→choice→outcome; codec chung chỉ truyền 2/5 trường.</a:t>
            </a:r>
          </a:p>
        </p:txBody>
      </p:sp>
      <p:sp>
        <p:nvSpPr>
          <p:cNvPr id="12" name="rule">
            <a:extLst xmlns:a="http://schemas.openxmlformats.org/drawingml/2006/main">
              <a:ext uri="{FF2B5EF4-FFF2-40B4-BE49-F238E27FC236}">
                <a16:creationId xmlns:a16="http://schemas.microsoft.com/office/drawing/2014/main" id="{291E5829-53FA-4CB3-AC9F-B65482DB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95450"/>
            <a:ext cx="3524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servation-title-3">
            <a:extLst xmlns:a="http://schemas.openxmlformats.org/drawingml/2006/main">
              <a:ext uri="{FF2B5EF4-FFF2-40B4-BE49-F238E27FC236}">
                <a16:creationId xmlns:a16="http://schemas.microsoft.com/office/drawing/2014/main" id="{070EB6CB-E1AD-4463-A6B4-5708977C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498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rPr>
              <a:t>E3 · PPL tốt, điều kiện đầu vào bị trôi</a:t>
            </a:r>
          </a:p>
        </p:txBody>
      </p:sp>
      <p:sp>
        <p:nvSpPr>
          <p:cNvPr id="14" name="observation-quote-3">
            <a:extLst xmlns:a="http://schemas.openxmlformats.org/drawingml/2006/main">
              <a:ext uri="{FF2B5EF4-FFF2-40B4-BE49-F238E27FC236}">
                <a16:creationId xmlns:a16="http://schemas.microsoft.com/office/drawing/2014/main" id="{F0135E7E-1471-4BC9-A33E-FFEC5D25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524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Vườn cây → xe rơi xuống ao → kho báu → “When we…”</a:t>
            </a:r>
          </a:p>
        </p:txBody>
      </p:sp>
      <p:sp>
        <p:nvSpPr>
          <p:cNvPr id="15" name="observation-body-3">
            <a:extLst xmlns:a="http://schemas.openxmlformats.org/drawingml/2006/main">
              <a:ext uri="{FF2B5EF4-FFF2-40B4-BE49-F238E27FC236}">
                <a16:creationId xmlns:a16="http://schemas.microsoft.com/office/drawing/2014/main" id="{DA99B4A2-4D62-40C2-9B2C-53084106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81450"/>
            <a:ext cx="3524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Adapter C tốt nhất nội bộ nhưng runner thiếu system message; truyện đổi nhân vật, mô-típ hoặc kết thúc sớm.</a:t>
            </a:r>
          </a:p>
        </p:txBody>
      </p:sp>
      <p:sp>
        <p:nvSpPr>
          <p:cNvPr id="16" name="observation-note">
            <a:extLst xmlns:a="http://schemas.openxmlformats.org/drawingml/2006/main">
              <a:ext uri="{FF2B5EF4-FFF2-40B4-BE49-F238E27FC236}">
                <a16:creationId xmlns:a16="http://schemas.microsoft.com/office/drawing/2014/main" id="{1654491A-162A-4669-983B-8CA8942A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Lỗi hợp đồng prompt và lỗi năng lực điều kiện hóa phải được báo cáo riêng.</a:t>
            </a:r>
          </a:p>
        </p:txBody>
      </p:sp>
    </p:spTree>
    <p:extLst>
      <p:ext uri="{BB962C8B-B14F-4D97-AF65-F5344CB8AC3E}">
        <p14:creationId xmlns:p14="http://schemas.microsoft.com/office/powerpoint/2010/main" val="14039419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1EF870FC-4A78-4FD7-8CDA-3B7A70B3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427147-207D-47DB-9E95-D6EC7F61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Kết quả định lượng trên 25 đề đánh giá thống nhất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2F5B507-9662-48B8-BA63-F9432118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00050" y="1657350"/>
          <a:ext xmlns:a="http://schemas.openxmlformats.org/drawingml/2006/main" cx="6858000" cy="4362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d83b235ee34ccc"/>
          </a:graphicData>
        </a:graphic>
      </p:graphicFrame>
      <p:sp>
        <p:nvSpPr>
          <p:cNvPr id="5" name="judge-callout-1">
            <a:extLst xmlns:a="http://schemas.openxmlformats.org/drawingml/2006/main">
              <a:ext uri="{FF2B5EF4-FFF2-40B4-BE49-F238E27FC236}">
                <a16:creationId xmlns:a16="http://schemas.microsoft.com/office/drawing/2014/main" id="{A8C4D69E-BFD0-482C-9C20-CDBE885B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38100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judge-delta">
            <a:extLst xmlns:a="http://schemas.openxmlformats.org/drawingml/2006/main">
              <a:ext uri="{FF2B5EF4-FFF2-40B4-BE49-F238E27FC236}">
                <a16:creationId xmlns:a16="http://schemas.microsoft.com/office/drawing/2014/main" id="{7444D220-0472-4F8B-B3E4-BA26D550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0025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+0,76</a:t>
            </a:r>
          </a:p>
        </p:txBody>
      </p:sp>
      <p:sp>
        <p:nvSpPr>
          <p:cNvPr id="7" name="judge-delta-note">
            <a:extLst xmlns:a="http://schemas.openxmlformats.org/drawingml/2006/main">
              <a:ext uri="{FF2B5EF4-FFF2-40B4-BE49-F238E27FC236}">
                <a16:creationId xmlns:a16="http://schemas.microsoft.com/office/drawing/2014/main" id="{8FDA62C1-87F6-4F3C-A946-16BE2114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57400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E4 − E5</a:t>
            </a:r>
          </a:p>
          <a:p xmlns:a="http://schemas.openxmlformats.org/drawingml/2006/main">
            <a:pPr>
              <a:buNone/>
              <a:def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CI [0,39; 1,17]</a:t>
            </a:r>
          </a:p>
        </p:txBody>
      </p:sp>
      <p:sp>
        <p:nvSpPr>
          <p:cNvPr id="8" name="judge-meaning">
            <a:extLst xmlns:a="http://schemas.openxmlformats.org/drawingml/2006/main">
              <a:ext uri="{FF2B5EF4-FFF2-40B4-BE49-F238E27FC236}">
                <a16:creationId xmlns:a16="http://schemas.microsoft.com/office/drawing/2014/main" id="{E194563F-4855-44AD-B192-138D374E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543300"/>
            <a:ext cx="3810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Trung bình của E4 phản ánh cả mô hình 3B và chi phí hệ thống: kiểm tra + viết lại + chuẩn hóa bài học.</a:t>
            </a:r>
          </a:p>
        </p:txBody>
      </p:sp>
      <p:sp>
        <p:nvSpPr>
          <p:cNvPr id="9" name="judge-scope">
            <a:extLst xmlns:a="http://schemas.openxmlformats.org/drawingml/2006/main">
              <a:ext uri="{FF2B5EF4-FFF2-40B4-BE49-F238E27FC236}">
                <a16:creationId xmlns:a16="http://schemas.microsoft.com/office/drawing/2014/main" id="{E02FEA3F-585D-4FDB-8042-F4B427E1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38700"/>
            <a:ext cx="381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25 đề · 125 truyện · 125 lượt chấm mù</a:t>
            </a:r>
          </a:p>
          <a:p xmlns:a="http://schemas.openxmlformats.org/drawingml/2006/main">
            <a:pPr>
              <a:buNone/>
              <a:def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Cùng một seed và một giám khảo Gemma; chưa phải điểm tuyệt đối.</a:t>
            </a:r>
          </a:p>
        </p:txBody>
      </p:sp>
    </p:spTree>
    <p:extLst>
      <p:ext uri="{BB962C8B-B14F-4D97-AF65-F5344CB8AC3E}">
        <p14:creationId xmlns:p14="http://schemas.microsoft.com/office/powerpoint/2010/main" val="4962105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68A008FB-E7D4-4FC6-8439-9D492D03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74A384-7759-4B6B-85E8-23FE2C4E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1349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Counterfactual đo việc dùng điều kiện; before/after đo tác dụng của repair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5E22297-34DB-4D8A-828D-A2A2875D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ad9f75d1c4102"/>
          <a:stretch xmlns:a="http://schemas.openxmlformats.org/drawingml/2006/main"/>
        </p:blipFill>
        <p:spPr>
          <a:xfrm xmlns:a="http://schemas.openxmlformats.org/drawingml/2006/main">
            <a:off x="400050" y="2186705"/>
            <a:ext cx="5334000" cy="216074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ea4c0b4ec84229"/>
          <a:stretch xmlns:a="http://schemas.openxmlformats.org/drawingml/2006/main"/>
        </p:blipFill>
        <p:spPr>
          <a:xfrm xmlns:a="http://schemas.openxmlformats.org/drawingml/2006/main">
            <a:off x="6457950" y="2186705"/>
            <a:ext cx="5334000" cy="2160740"/>
          </a:xfrm>
          <a:prstGeom xmlns:a="http://schemas.openxmlformats.org/drawingml/2006/main" prst="rect">
            <a:avLst/>
          </a:prstGeom>
        </p:spPr>
      </p:pic>
      <p:sp>
        <p:nvSpPr>
          <p:cNvPr id="6" name="counterfactual-note">
            <a:extLst xmlns:a="http://schemas.openxmlformats.org/drawingml/2006/main">
              <a:ext uri="{FF2B5EF4-FFF2-40B4-BE49-F238E27FC236}">
                <a16:creationId xmlns:a16="http://schemas.microsoft.com/office/drawing/2014/main" id="{62BC1ADB-BDE7-4BA4-B9C9-7BC3C01B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E5: 10/10 cặp đổi đúng hướng; 9,40/10.</a:t>
            </a:r>
          </a:p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E1: 1/10; 1,70/10.</a:t>
            </a:r>
          </a:p>
        </p:txBody>
      </p:sp>
      <p:sp>
        <p:nvSpPr>
          <p:cNvPr id="7" name="repair-note">
            <a:extLst xmlns:a="http://schemas.openxmlformats.org/drawingml/2006/main">
              <a:ext uri="{FF2B5EF4-FFF2-40B4-BE49-F238E27FC236}">
                <a16:creationId xmlns:a16="http://schemas.microsoft.com/office/drawing/2014/main" id="{82147AEF-8484-4BFD-81EC-4807A220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04825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Repair: bài học đúng nguyên văn 20%→100%.</a:t>
            </a:r>
          </a:p>
          <a:p xmlns:a="http://schemas.openxmlformats.org/drawingml/2006/main">
            <a:pPr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Hai liên kết nhân quả giữ nguyên.</a:t>
            </a:r>
          </a:p>
        </p:txBody>
      </p:sp>
      <p:sp>
        <p:nvSpPr>
          <p:cNvPr id="8" name="ablation-conclusion">
            <a:extLst xmlns:a="http://schemas.openxmlformats.org/drawingml/2006/main">
              <a:ext uri="{FF2B5EF4-FFF2-40B4-BE49-F238E27FC236}">
                <a16:creationId xmlns:a16="http://schemas.microsoft.com/office/drawing/2014/main" id="{21827703-0601-40FF-A792-A910ECC6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007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E5 dùng điều kiện để thay đổi diễn biến; E4 repair chủ yếu bảo đảm đầu ra đúng định dạng khi nội dung gốc đã đúng.</a:t>
            </a:r>
          </a:p>
        </p:txBody>
      </p:sp>
    </p:spTree>
    <p:extLst>
      <p:ext uri="{BB962C8B-B14F-4D97-AF65-F5344CB8AC3E}">
        <p14:creationId xmlns:p14="http://schemas.microsoft.com/office/powerpoint/2010/main" val="6135999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yebrow">
            <a:extLst xmlns:a="http://schemas.openxmlformats.org/drawingml/2006/main">
              <a:ext uri="{FF2B5EF4-FFF2-40B4-BE49-F238E27FC236}">
                <a16:creationId xmlns:a16="http://schemas.microsoft.com/office/drawing/2014/main" id="{1C806CD0-46B6-48B3-8916-29922001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TINYSTORY-VN · NHÓM 16 · IT5410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C57004-3EE9-499A-A7EA-6B5DC928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14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 lớp bằng chứng không thể thay thế lẫn nhau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10D0DC0-F100-4B23-B5CE-90E00E7F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055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2327CA9E-1294-4BEB-B4AE-0B543651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524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bservation-title-1">
            <a:extLst xmlns:a="http://schemas.openxmlformats.org/drawingml/2006/main">
              <a:ext uri="{FF2B5EF4-FFF2-40B4-BE49-F238E27FC236}">
                <a16:creationId xmlns:a16="http://schemas.microsoft.com/office/drawing/2014/main" id="{8682F1C1-120A-4A76-996E-D12B57AE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431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rPr>
              <a:t>Độ giống với dữ liệu</a:t>
            </a:r>
          </a:p>
        </p:txBody>
      </p:sp>
      <p:sp>
        <p:nvSpPr>
          <p:cNvPr id="6" name="observation-quote-1">
            <a:extLst xmlns:a="http://schemas.openxmlformats.org/drawingml/2006/main">
              <a:ext uri="{FF2B5EF4-FFF2-40B4-BE49-F238E27FC236}">
                <a16:creationId xmlns:a16="http://schemas.microsoft.com/office/drawing/2014/main" id="{CAA87E43-B8E4-46E3-A181-63A3DDA9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47950"/>
            <a:ext cx="3524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Loss · PPL · fluency</a:t>
            </a:r>
          </a:p>
        </p:txBody>
      </p:sp>
      <p:sp>
        <p:nvSpPr>
          <p:cNvPr id="7" name="observation-body-1">
            <a:extLst xmlns:a="http://schemas.openxmlformats.org/drawingml/2006/main">
              <a:ext uri="{FF2B5EF4-FFF2-40B4-BE49-F238E27FC236}">
                <a16:creationId xmlns:a16="http://schemas.microsoft.com/office/drawing/2014/main" id="{22544995-3568-48C4-96A2-CD321BFD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3524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E1, E2 và E3 đều cải thiện nội bộ nhưng vẫn có thể không bám yêu cầu trên giao diện chung.</a:t>
            </a:r>
          </a:p>
        </p:txBody>
      </p:sp>
      <p:sp>
        <p:nvSpPr>
          <p:cNvPr id="8" name="rule">
            <a:extLst xmlns:a="http://schemas.openxmlformats.org/drawingml/2006/main">
              <a:ext uri="{FF2B5EF4-FFF2-40B4-BE49-F238E27FC236}">
                <a16:creationId xmlns:a16="http://schemas.microsoft.com/office/drawing/2014/main" id="{611EB050-B08E-455D-B952-3044DCFF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695450"/>
            <a:ext cx="3524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observation-title-2">
            <a:extLst xmlns:a="http://schemas.openxmlformats.org/drawingml/2006/main">
              <a:ext uri="{FF2B5EF4-FFF2-40B4-BE49-F238E27FC236}">
                <a16:creationId xmlns:a16="http://schemas.microsoft.com/office/drawing/2014/main" id="{4420711C-A7DB-444B-AD44-61876F89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9431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rPr>
              <a:t>Mức độ dùng điều kiện</a:t>
            </a:r>
          </a:p>
        </p:txBody>
      </p:sp>
      <p:sp>
        <p:nvSpPr>
          <p:cNvPr id="10" name="observation-quote-2">
            <a:extLst xmlns:a="http://schemas.openxmlformats.org/drawingml/2006/main">
              <a:ext uri="{FF2B5EF4-FFF2-40B4-BE49-F238E27FC236}">
                <a16:creationId xmlns:a16="http://schemas.microsoft.com/office/drawing/2014/main" id="{53485DEF-4C7B-4EDE-AD68-E34AB70A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647950"/>
            <a:ext cx="3524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Coverage · causal chain · counterfactual</a:t>
            </a:r>
          </a:p>
        </p:txBody>
      </p:sp>
      <p:sp>
        <p:nvSpPr>
          <p:cNvPr id="11" name="observation-body-2">
            <a:extLst xmlns:a="http://schemas.openxmlformats.org/drawingml/2006/main">
              <a:ext uri="{FF2B5EF4-FFF2-40B4-BE49-F238E27FC236}">
                <a16:creationId xmlns:a16="http://schemas.microsoft.com/office/drawing/2014/main" id="{9EE35929-3742-45C0-B909-AF5AAFBF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981450"/>
            <a:ext cx="3524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E5 đổi diễn biến đúng hướng; E2 nhận biết story–moral nhưng khi sinh vẫn chưa tự lập kế hoạch.</a:t>
            </a:r>
          </a:p>
        </p:txBody>
      </p:sp>
      <p:sp>
        <p:nvSpPr>
          <p:cNvPr id="12" name="rule">
            <a:extLst xmlns:a="http://schemas.openxmlformats.org/drawingml/2006/main">
              <a:ext uri="{FF2B5EF4-FFF2-40B4-BE49-F238E27FC236}">
                <a16:creationId xmlns:a16="http://schemas.microsoft.com/office/drawing/2014/main" id="{291E5829-53FA-4CB3-AC9F-B65482DB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95450"/>
            <a:ext cx="3524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observation-title-3">
            <a:extLst xmlns:a="http://schemas.openxmlformats.org/drawingml/2006/main">
              <a:ext uri="{FF2B5EF4-FFF2-40B4-BE49-F238E27FC236}">
                <a16:creationId xmlns:a16="http://schemas.microsoft.com/office/drawing/2014/main" id="{070EB6CB-E1AD-4463-A6B4-5708977C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524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8A5A00"/>
                </a:solidFill>
                <a:latin typeface="Helvetica Neue"/>
                <a:ea typeface="Helvetica Neue"/>
                <a:cs typeface="Helvetica Neue"/>
              </a:rPr>
              <a:t>Độ tin cậy của pipeline</a:t>
            </a:r>
          </a:p>
        </p:txBody>
      </p:sp>
      <p:sp>
        <p:nvSpPr>
          <p:cNvPr id="14" name="observation-quote-3">
            <a:extLst xmlns:a="http://schemas.openxmlformats.org/drawingml/2006/main">
              <a:ext uri="{FF2B5EF4-FFF2-40B4-BE49-F238E27FC236}">
                <a16:creationId xmlns:a16="http://schemas.microsoft.com/office/drawing/2014/main" id="{F0135E7E-1471-4BC9-A33E-FFEC5D25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35242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Validator · postprocess · repair</a:t>
            </a:r>
          </a:p>
        </p:txBody>
      </p:sp>
      <p:sp>
        <p:nvSpPr>
          <p:cNvPr id="15" name="observation-body-3">
            <a:extLst xmlns:a="http://schemas.openxmlformats.org/drawingml/2006/main">
              <a:ext uri="{FF2B5EF4-FFF2-40B4-BE49-F238E27FC236}">
                <a16:creationId xmlns:a16="http://schemas.microsoft.com/office/drawing/2014/main" id="{DA99B4A2-4D62-40C2-9B2C-53084106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81450"/>
            <a:ext cx="3524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E4 sửa định dạng và lỗi cục bộ; repair không tự tạo ra quan hệ nhân quả trong truyện.</a:t>
            </a:r>
          </a:p>
        </p:txBody>
      </p:sp>
      <p:sp>
        <p:nvSpPr>
          <p:cNvPr id="16" name="observation-note">
            <a:extLst xmlns:a="http://schemas.openxmlformats.org/drawingml/2006/main">
              <a:ext uri="{FF2B5EF4-FFF2-40B4-BE49-F238E27FC236}">
                <a16:creationId xmlns:a16="http://schemas.microsoft.com/office/drawing/2014/main" id="{1654491A-162A-4669-983B-8CA8942A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Điểm overall chỉ có ý nghĩa khi ba lớp được báo cáo và diễn giải riêng.</a:t>
            </a:r>
          </a:p>
        </p:txBody>
      </p:sp>
    </p:spTree>
    <p:extLst>
      <p:ext uri="{BB962C8B-B14F-4D97-AF65-F5344CB8AC3E}">
        <p14:creationId xmlns:p14="http://schemas.microsoft.com/office/powerpoint/2010/main" val="140394198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lose-supertitle">
            <a:extLst xmlns:a="http://schemas.openxmlformats.org/drawingml/2006/main">
              <a:ext uri="{FF2B5EF4-FFF2-40B4-BE49-F238E27FC236}">
                <a16:creationId xmlns:a16="http://schemas.microsoft.com/office/drawing/2014/main" id="{83BE7F4A-7534-4D38-A997-19C02866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KẾT LUẬN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F6970528-A3B5-48E4-8DB7-85DE5922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1028700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4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Điều kiện phải chi phối diễn biến;</a:t>
            </a:r>
          </a:p>
          <a:p xmlns:a="http://schemas.openxmlformats.org/drawingml/2006/main">
            <a:pPr>
              <a:buNone/>
              <a:defRPr sz="4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không chỉ xuất hiện trong truyện</a:t>
            </a:r>
          </a:p>
        </p:txBody>
      </p:sp>
      <p:sp>
        <p:nvSpPr>
          <p:cNvPr id="3" name="close-choice">
            <a:extLst xmlns:a="http://schemas.openxmlformats.org/drawingml/2006/main">
              <a:ext uri="{FF2B5EF4-FFF2-40B4-BE49-F238E27FC236}">
                <a16:creationId xmlns:a16="http://schemas.microsoft.com/office/drawing/2014/main" id="{F3176A8C-57EE-4143-B560-58B2D746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86300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E4: hệ thống đáng tin cậy nhất · E5: mô hình sinh trực tiếp mạnh nhất</a:t>
            </a:r>
          </a:p>
        </p:txBody>
      </p:sp>
      <p:sp>
        <p:nvSpPr>
          <p:cNvPr id="4" name="close-next">
            <a:extLst xmlns:a="http://schemas.openxmlformats.org/drawingml/2006/main">
              <a:ext uri="{FF2B5EF4-FFF2-40B4-BE49-F238E27FC236}">
                <a16:creationId xmlns:a16="http://schemas.microsoft.com/office/drawing/2014/main" id="{C09B2594-5219-4A78-A837-7B73E12C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14950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15761"/>
                </a:solidFill>
                <a:latin typeface="Helvetica Neue"/>
                <a:ea typeface="Helvetica Neue"/>
                <a:cs typeface="Helvetica Neue"/>
              </a:rPr>
              <a:t>Hạn chế: 25 đề, một seed và một giám khảo. Bước tiếp theo: chấm thủ công chung, nhiều seed, định dạng prompt thống nhất và thí nghiệm loại trừ base–checkpoint bắt cặp.</a:t>
            </a:r>
          </a:p>
        </p:txBody>
      </p:sp>
    </p:spTree>
    <p:extLst>
      <p:ext uri="{BB962C8B-B14F-4D97-AF65-F5344CB8AC3E}">
        <p14:creationId xmlns:p14="http://schemas.microsoft.com/office/powerpoint/2010/main" val="6332611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2026-08-02T15:00:12.8570000Z</dcterms:created>
  <dcterms:modified xsi:type="dcterms:W3CDTF">2026-08-02T15:00:12.8570000Z</dcterms:modified>
</coreProperties>
</file>